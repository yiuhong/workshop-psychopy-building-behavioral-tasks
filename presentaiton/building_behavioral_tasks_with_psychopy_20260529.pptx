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5"/>
  </p:notesMasterIdLst>
  <p:sldIdLst>
    <p:sldId id="256" r:id="rId5"/>
    <p:sldId id="257" r:id="rId6"/>
    <p:sldId id="258" r:id="rId7"/>
    <p:sldId id="259" r:id="rId8"/>
    <p:sldId id="301" r:id="rId9"/>
    <p:sldId id="300" r:id="rId10"/>
    <p:sldId id="262" r:id="rId11"/>
    <p:sldId id="260" r:id="rId12"/>
    <p:sldId id="263" r:id="rId13"/>
    <p:sldId id="264" r:id="rId14"/>
    <p:sldId id="265" r:id="rId15"/>
    <p:sldId id="266" r:id="rId16"/>
    <p:sldId id="261"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302" r:id="rId36"/>
    <p:sldId id="285" r:id="rId37"/>
    <p:sldId id="286" r:id="rId38"/>
    <p:sldId id="288" r:id="rId39"/>
    <p:sldId id="289" r:id="rId40"/>
    <p:sldId id="287" r:id="rId41"/>
    <p:sldId id="290" r:id="rId42"/>
    <p:sldId id="293" r:id="rId43"/>
    <p:sldId id="292" r:id="rId44"/>
    <p:sldId id="294" r:id="rId45"/>
    <p:sldId id="295" r:id="rId46"/>
    <p:sldId id="296" r:id="rId47"/>
    <p:sldId id="298" r:id="rId48"/>
    <p:sldId id="325"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03" r:id="rId69"/>
    <p:sldId id="304" r:id="rId70"/>
    <p:sldId id="326" r:id="rId71"/>
    <p:sldId id="297" r:id="rId72"/>
    <p:sldId id="299" r:id="rId73"/>
    <p:sldId id="291"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6A081E8-63F9-4A52-A398-78A6CF2AB88E}">
          <p14:sldIdLst>
            <p14:sldId id="256"/>
            <p14:sldId id="257"/>
            <p14:sldId id="258"/>
            <p14:sldId id="259"/>
            <p14:sldId id="301"/>
            <p14:sldId id="300"/>
            <p14:sldId id="262"/>
            <p14:sldId id="260"/>
            <p14:sldId id="263"/>
            <p14:sldId id="264"/>
            <p14:sldId id="265"/>
            <p14:sldId id="266"/>
            <p14:sldId id="261"/>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302"/>
            <p14:sldId id="285"/>
            <p14:sldId id="286"/>
            <p14:sldId id="288"/>
            <p14:sldId id="289"/>
            <p14:sldId id="287"/>
            <p14:sldId id="290"/>
            <p14:sldId id="293"/>
            <p14:sldId id="292"/>
            <p14:sldId id="294"/>
            <p14:sldId id="295"/>
            <p14:sldId id="296"/>
            <p14:sldId id="298"/>
          </p14:sldIdLst>
        </p14:section>
        <p14:section name="Practice" id="{D4C045E6-7BE6-4A3F-8766-1F0149D594FE}">
          <p14:sldIdLst>
            <p14:sldId id="325"/>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Lst>
        </p14:section>
        <p14:section name="Go/no-go task" id="{FD9D91F5-3355-4797-8247-94BEECF7E8F7}">
          <p14:sldIdLst>
            <p14:sldId id="303"/>
            <p14:sldId id="304"/>
            <p14:sldId id="326"/>
            <p14:sldId id="297"/>
            <p14:sldId id="299"/>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01"/>
  </p:normalViewPr>
  <p:slideViewPr>
    <p:cSldViewPr snapToGrid="0">
      <p:cViewPr varScale="1">
        <p:scale>
          <a:sx n="110" d="100"/>
          <a:sy n="110" d="100"/>
        </p:scale>
        <p:origin x="57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9B96E-5F0B-462D-9787-4F8760B40CB9}" type="datetimeFigureOut">
              <a:rPr lang="en-HK" smtClean="0"/>
              <a:t>25/6/2026</a:t>
            </a:fld>
            <a:endParaRPr lang="en-H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641595-14A2-44DE-B111-C4EA6A553FDE}" type="slidenum">
              <a:rPr lang="en-HK" smtClean="0"/>
              <a:t>‹#›</a:t>
            </a:fld>
            <a:endParaRPr lang="en-HK"/>
          </a:p>
        </p:txBody>
      </p:sp>
    </p:spTree>
    <p:extLst>
      <p:ext uri="{BB962C8B-B14F-4D97-AF65-F5344CB8AC3E}">
        <p14:creationId xmlns:p14="http://schemas.microsoft.com/office/powerpoint/2010/main" val="4279777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2C1E4-C92F-631F-2D10-6DFDA7353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D1710-C650-58E5-27AD-96FCEA42C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9DDD9A-8F00-2BF5-93CA-7599BA902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3B2C6-7DB0-EAED-79B7-2C52265B3222}"/>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162715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19E4-0344-E13D-0617-4A19AF9CA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38F33-263A-60CD-69DA-AD4AAD5A2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EBF8F-BA8B-4D40-71CC-352A8C4DA0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F98913-4BA1-A525-6D74-4FE0183D6331}"/>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394913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6B056-65F3-BCF9-DDDA-B4C87B4F8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15DAC-1072-E658-8C44-C0A5950FD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74221-F5D9-0267-723B-2B994104C2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5572E-856C-5E92-6F7A-313A098F4D20}"/>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2179506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E2857-6ABE-17F2-1E6A-E8E09AAA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1754C-D299-BC5E-4DD9-4996E1664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AF99E-AE3B-FFD6-8194-38416B486C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8B60CD-B435-7C56-9B5E-C27EFD013F71}"/>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4247496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9BD0-F155-4CF5-A404-7734910875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HK"/>
          </a:p>
        </p:txBody>
      </p:sp>
      <p:sp>
        <p:nvSpPr>
          <p:cNvPr id="3" name="Subtitle 2">
            <a:extLst>
              <a:ext uri="{FF2B5EF4-FFF2-40B4-BE49-F238E27FC236}">
                <a16:creationId xmlns:a16="http://schemas.microsoft.com/office/drawing/2014/main" id="{7AA1DE66-1172-4843-AC0F-F0BFF6F14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HK"/>
          </a:p>
        </p:txBody>
      </p:sp>
      <p:sp>
        <p:nvSpPr>
          <p:cNvPr id="4" name="Date Placeholder 3">
            <a:extLst>
              <a:ext uri="{FF2B5EF4-FFF2-40B4-BE49-F238E27FC236}">
                <a16:creationId xmlns:a16="http://schemas.microsoft.com/office/drawing/2014/main" id="{1DE0C434-DBC8-4AB0-9BFD-F670D26595BB}"/>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5" name="Footer Placeholder 4">
            <a:extLst>
              <a:ext uri="{FF2B5EF4-FFF2-40B4-BE49-F238E27FC236}">
                <a16:creationId xmlns:a16="http://schemas.microsoft.com/office/drawing/2014/main" id="{674EEDBA-E9A9-44CC-8782-459929619395}"/>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0CE02506-C575-45A1-BE87-1E81C281ECAE}"/>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3288157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395B-161D-4512-9BAA-0D466510E7F2}"/>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15B58A5F-4522-41F7-BA80-E972C12333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0FFDFCBB-EED5-4609-8E39-09FE9A0CFD78}"/>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5" name="Footer Placeholder 4">
            <a:extLst>
              <a:ext uri="{FF2B5EF4-FFF2-40B4-BE49-F238E27FC236}">
                <a16:creationId xmlns:a16="http://schemas.microsoft.com/office/drawing/2014/main" id="{A3B1A409-055C-48B5-B947-C96E73873027}"/>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2C464DEE-3133-470D-8433-4F2D72B7D23E}"/>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576979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75146-5715-4B94-B9A8-326C2CF832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HK"/>
          </a:p>
        </p:txBody>
      </p:sp>
      <p:sp>
        <p:nvSpPr>
          <p:cNvPr id="3" name="Text Placeholder 2">
            <a:extLst>
              <a:ext uri="{FF2B5EF4-FFF2-40B4-BE49-F238E27FC236}">
                <a16:creationId xmlns:a16="http://schemas.microsoft.com/office/drawing/2014/main" id="{FB621A47-39AC-442A-A3FB-D91DFEC27D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1B9115-7116-4316-9784-B036E7B488BF}"/>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5" name="Footer Placeholder 4">
            <a:extLst>
              <a:ext uri="{FF2B5EF4-FFF2-40B4-BE49-F238E27FC236}">
                <a16:creationId xmlns:a16="http://schemas.microsoft.com/office/drawing/2014/main" id="{E4441CFF-F1A3-4D50-9E0F-720E8BA89DFC}"/>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FB6681A5-80E2-4B6B-AC7B-B0F5C9D39DEC}"/>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365218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BEF82-C145-40EF-AAC8-0D29355C4BD0}"/>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1493FC08-5D29-4B65-A139-CAE250697F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DF87FCAC-05A0-45F9-8550-51365C7701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A991E67C-1F8F-4DE8-955F-9F3E5492AFF5}"/>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6" name="Footer Placeholder 5">
            <a:extLst>
              <a:ext uri="{FF2B5EF4-FFF2-40B4-BE49-F238E27FC236}">
                <a16:creationId xmlns:a16="http://schemas.microsoft.com/office/drawing/2014/main" id="{B69C676F-7FAA-4FC3-9B30-8B01AF7223A0}"/>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B956B6FD-D275-4EC9-8CE5-F8DC60A893CC}"/>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393514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66461-AB79-441D-BF1C-83E233C3D32F}"/>
              </a:ext>
            </a:extLst>
          </p:cNvPr>
          <p:cNvSpPr>
            <a:spLocks noGrp="1"/>
          </p:cNvSpPr>
          <p:nvPr>
            <p:ph type="title"/>
          </p:nvPr>
        </p:nvSpPr>
        <p:spPr>
          <a:xfrm>
            <a:off x="839788" y="365125"/>
            <a:ext cx="10515600" cy="1325563"/>
          </a:xfrm>
        </p:spPr>
        <p:txBody>
          <a:bodyPr/>
          <a:lstStyle/>
          <a:p>
            <a:r>
              <a:rPr lang="en-US"/>
              <a:t>Click to edit Master title style</a:t>
            </a:r>
            <a:endParaRPr lang="en-HK"/>
          </a:p>
        </p:txBody>
      </p:sp>
      <p:sp>
        <p:nvSpPr>
          <p:cNvPr id="3" name="Text Placeholder 2">
            <a:extLst>
              <a:ext uri="{FF2B5EF4-FFF2-40B4-BE49-F238E27FC236}">
                <a16:creationId xmlns:a16="http://schemas.microsoft.com/office/drawing/2014/main" id="{07D57955-A650-40FA-BA43-628ECBCD44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749A4D-08B7-43B1-A1B2-ABF7C53874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Text Placeholder 4">
            <a:extLst>
              <a:ext uri="{FF2B5EF4-FFF2-40B4-BE49-F238E27FC236}">
                <a16:creationId xmlns:a16="http://schemas.microsoft.com/office/drawing/2014/main" id="{6F699DE3-B13B-4C36-95CE-761E507536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16BA3-9026-4255-9BE3-EA074F8EE8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7" name="Date Placeholder 6">
            <a:extLst>
              <a:ext uri="{FF2B5EF4-FFF2-40B4-BE49-F238E27FC236}">
                <a16:creationId xmlns:a16="http://schemas.microsoft.com/office/drawing/2014/main" id="{F807A0FA-3F37-4BF7-BCF2-A3F1D8FAAFD9}"/>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8" name="Footer Placeholder 7">
            <a:extLst>
              <a:ext uri="{FF2B5EF4-FFF2-40B4-BE49-F238E27FC236}">
                <a16:creationId xmlns:a16="http://schemas.microsoft.com/office/drawing/2014/main" id="{06E81650-7648-48C3-928A-9CFEFEEA8A86}"/>
              </a:ext>
            </a:extLst>
          </p:cNvPr>
          <p:cNvSpPr>
            <a:spLocks noGrp="1"/>
          </p:cNvSpPr>
          <p:nvPr>
            <p:ph type="ftr" sz="quarter" idx="11"/>
          </p:nvPr>
        </p:nvSpPr>
        <p:spPr/>
        <p:txBody>
          <a:bodyPr/>
          <a:lstStyle/>
          <a:p>
            <a:endParaRPr lang="en-HK"/>
          </a:p>
        </p:txBody>
      </p:sp>
      <p:sp>
        <p:nvSpPr>
          <p:cNvPr id="9" name="Slide Number Placeholder 8">
            <a:extLst>
              <a:ext uri="{FF2B5EF4-FFF2-40B4-BE49-F238E27FC236}">
                <a16:creationId xmlns:a16="http://schemas.microsoft.com/office/drawing/2014/main" id="{9B1BB4B0-CDAA-4A3A-B1C8-683FEEECF2A9}"/>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15543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E4D1-C95A-4493-8506-961AFFEC3B51}"/>
              </a:ext>
            </a:extLst>
          </p:cNvPr>
          <p:cNvSpPr>
            <a:spLocks noGrp="1"/>
          </p:cNvSpPr>
          <p:nvPr>
            <p:ph type="title"/>
          </p:nvPr>
        </p:nvSpPr>
        <p:spPr/>
        <p:txBody>
          <a:bodyPr/>
          <a:lstStyle/>
          <a:p>
            <a:r>
              <a:rPr lang="en-US"/>
              <a:t>Click to edit Master title style</a:t>
            </a:r>
            <a:endParaRPr lang="en-HK"/>
          </a:p>
        </p:txBody>
      </p:sp>
      <p:sp>
        <p:nvSpPr>
          <p:cNvPr id="3" name="Date Placeholder 2">
            <a:extLst>
              <a:ext uri="{FF2B5EF4-FFF2-40B4-BE49-F238E27FC236}">
                <a16:creationId xmlns:a16="http://schemas.microsoft.com/office/drawing/2014/main" id="{21C29C81-7F11-45AE-A76D-8C12754B5622}"/>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4" name="Footer Placeholder 3">
            <a:extLst>
              <a:ext uri="{FF2B5EF4-FFF2-40B4-BE49-F238E27FC236}">
                <a16:creationId xmlns:a16="http://schemas.microsoft.com/office/drawing/2014/main" id="{7AFFBDD0-02E8-4F8A-BA4B-3258DCC5CA11}"/>
              </a:ext>
            </a:extLst>
          </p:cNvPr>
          <p:cNvSpPr>
            <a:spLocks noGrp="1"/>
          </p:cNvSpPr>
          <p:nvPr>
            <p:ph type="ftr" sz="quarter" idx="11"/>
          </p:nvPr>
        </p:nvSpPr>
        <p:spPr/>
        <p:txBody>
          <a:bodyPr/>
          <a:lstStyle/>
          <a:p>
            <a:endParaRPr lang="en-HK"/>
          </a:p>
        </p:txBody>
      </p:sp>
      <p:sp>
        <p:nvSpPr>
          <p:cNvPr id="5" name="Slide Number Placeholder 4">
            <a:extLst>
              <a:ext uri="{FF2B5EF4-FFF2-40B4-BE49-F238E27FC236}">
                <a16:creationId xmlns:a16="http://schemas.microsoft.com/office/drawing/2014/main" id="{7C285CCD-D10D-432B-B8A8-CFF5E38A65AE}"/>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2706213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43479E-0ED1-4F89-9A26-5258BCE93DFE}"/>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3" name="Footer Placeholder 2">
            <a:extLst>
              <a:ext uri="{FF2B5EF4-FFF2-40B4-BE49-F238E27FC236}">
                <a16:creationId xmlns:a16="http://schemas.microsoft.com/office/drawing/2014/main" id="{A909714B-5D64-4D7F-A985-12F87525C9DF}"/>
              </a:ext>
            </a:extLst>
          </p:cNvPr>
          <p:cNvSpPr>
            <a:spLocks noGrp="1"/>
          </p:cNvSpPr>
          <p:nvPr>
            <p:ph type="ftr" sz="quarter" idx="11"/>
          </p:nvPr>
        </p:nvSpPr>
        <p:spPr/>
        <p:txBody>
          <a:bodyPr/>
          <a:lstStyle/>
          <a:p>
            <a:endParaRPr lang="en-HK"/>
          </a:p>
        </p:txBody>
      </p:sp>
      <p:sp>
        <p:nvSpPr>
          <p:cNvPr id="4" name="Slide Number Placeholder 3">
            <a:extLst>
              <a:ext uri="{FF2B5EF4-FFF2-40B4-BE49-F238E27FC236}">
                <a16:creationId xmlns:a16="http://schemas.microsoft.com/office/drawing/2014/main" id="{6AE863C2-7834-47C3-ACC4-5183D13AF5AF}"/>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257000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471C-4B61-4D5C-9457-E2E5A06385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HK"/>
          </a:p>
        </p:txBody>
      </p:sp>
      <p:sp>
        <p:nvSpPr>
          <p:cNvPr id="3" name="Content Placeholder 2">
            <a:extLst>
              <a:ext uri="{FF2B5EF4-FFF2-40B4-BE49-F238E27FC236}">
                <a16:creationId xmlns:a16="http://schemas.microsoft.com/office/drawing/2014/main" id="{E740B134-82BE-4C4E-B138-F318B06845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Text Placeholder 3">
            <a:extLst>
              <a:ext uri="{FF2B5EF4-FFF2-40B4-BE49-F238E27FC236}">
                <a16:creationId xmlns:a16="http://schemas.microsoft.com/office/drawing/2014/main" id="{632DC0DA-B2AB-414A-A589-B17F674BDC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87D3B6-B956-4775-8A7F-1C952D7D6F06}"/>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6" name="Footer Placeholder 5">
            <a:extLst>
              <a:ext uri="{FF2B5EF4-FFF2-40B4-BE49-F238E27FC236}">
                <a16:creationId xmlns:a16="http://schemas.microsoft.com/office/drawing/2014/main" id="{3056C8BB-4314-4FBB-8E7C-F4EC2CFE4F9D}"/>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2A83AA53-D9C3-401D-983C-165645A342D8}"/>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2473083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A1582-0A62-4089-8692-814C5DADD9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HK"/>
          </a:p>
        </p:txBody>
      </p:sp>
      <p:sp>
        <p:nvSpPr>
          <p:cNvPr id="3" name="Picture Placeholder 2">
            <a:extLst>
              <a:ext uri="{FF2B5EF4-FFF2-40B4-BE49-F238E27FC236}">
                <a16:creationId xmlns:a16="http://schemas.microsoft.com/office/drawing/2014/main" id="{689834BA-9CED-41D3-96DF-11BB3002C8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HK"/>
          </a:p>
        </p:txBody>
      </p:sp>
      <p:sp>
        <p:nvSpPr>
          <p:cNvPr id="4" name="Text Placeholder 3">
            <a:extLst>
              <a:ext uri="{FF2B5EF4-FFF2-40B4-BE49-F238E27FC236}">
                <a16:creationId xmlns:a16="http://schemas.microsoft.com/office/drawing/2014/main" id="{1FA4EB6D-2745-492B-A1EB-6F96261C3D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8D5C2A-53F5-4E00-8B36-058050C06C26}"/>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6" name="Footer Placeholder 5">
            <a:extLst>
              <a:ext uri="{FF2B5EF4-FFF2-40B4-BE49-F238E27FC236}">
                <a16:creationId xmlns:a16="http://schemas.microsoft.com/office/drawing/2014/main" id="{E94B5EA2-A098-4063-B76A-F0A28A0A65DC}"/>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F4967783-6379-48AA-B666-D075D2E8A5D4}"/>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233130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00E34-244D-4519-9305-AA9E9452C560}"/>
              </a:ext>
            </a:extLst>
          </p:cNvPr>
          <p:cNvSpPr>
            <a:spLocks noGrp="1"/>
          </p:cNvSpPr>
          <p:nvPr>
            <p:ph type="title"/>
          </p:nvPr>
        </p:nvSpPr>
        <p:spPr/>
        <p:txBody>
          <a:bodyPr/>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9F283562-071B-4210-B34B-8616A7C354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982D87E3-8034-424D-AD46-E8BDE051C665}"/>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5" name="Footer Placeholder 4">
            <a:extLst>
              <a:ext uri="{FF2B5EF4-FFF2-40B4-BE49-F238E27FC236}">
                <a16:creationId xmlns:a16="http://schemas.microsoft.com/office/drawing/2014/main" id="{20A263D1-4C80-485D-8670-21E9A959D663}"/>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7A79B3C2-2314-4416-A609-97D39CAFA348}"/>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1045243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C61258-900A-43F2-85D0-CC9D6EC5C0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C5C99502-417F-4CAE-A8EA-2202A67F01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7CC946FA-FDA7-44AB-83EE-DBEBD848049F}"/>
              </a:ext>
            </a:extLst>
          </p:cNvPr>
          <p:cNvSpPr>
            <a:spLocks noGrp="1"/>
          </p:cNvSpPr>
          <p:nvPr>
            <p:ph type="dt" sz="half" idx="10"/>
          </p:nvPr>
        </p:nvSpPr>
        <p:spPr/>
        <p:txBody>
          <a:bodyPr/>
          <a:lstStyle/>
          <a:p>
            <a:fld id="{BDBD77B2-D62E-42B4-9488-90630501B3E1}" type="datetimeFigureOut">
              <a:rPr lang="en-HK" smtClean="0"/>
              <a:t>25/6/2026</a:t>
            </a:fld>
            <a:endParaRPr lang="en-HK"/>
          </a:p>
        </p:txBody>
      </p:sp>
      <p:sp>
        <p:nvSpPr>
          <p:cNvPr id="5" name="Footer Placeholder 4">
            <a:extLst>
              <a:ext uri="{FF2B5EF4-FFF2-40B4-BE49-F238E27FC236}">
                <a16:creationId xmlns:a16="http://schemas.microsoft.com/office/drawing/2014/main" id="{2D96E170-C24F-418F-BE0F-9A833567DF9E}"/>
              </a:ext>
            </a:extLst>
          </p:cNvPr>
          <p:cNvSpPr>
            <a:spLocks noGrp="1"/>
          </p:cNvSpPr>
          <p:nvPr>
            <p:ph type="ftr" sz="quarter" idx="11"/>
          </p:nvPr>
        </p:nvSpPr>
        <p:spPr/>
        <p:txBody>
          <a:bodyPr/>
          <a:lstStyle/>
          <a:p>
            <a:endParaRPr lang="en-HK"/>
          </a:p>
        </p:txBody>
      </p:sp>
      <p:sp>
        <p:nvSpPr>
          <p:cNvPr id="6" name="Slide Number Placeholder 5">
            <a:extLst>
              <a:ext uri="{FF2B5EF4-FFF2-40B4-BE49-F238E27FC236}">
                <a16:creationId xmlns:a16="http://schemas.microsoft.com/office/drawing/2014/main" id="{5F08DAA3-998B-4D9C-8737-CFF5A6956274}"/>
              </a:ext>
            </a:extLst>
          </p:cNvPr>
          <p:cNvSpPr>
            <a:spLocks noGrp="1"/>
          </p:cNvSpPr>
          <p:nvPr>
            <p:ph type="sldNum" sz="quarter" idx="12"/>
          </p:nvPr>
        </p:nvSpPr>
        <p:spPr/>
        <p:txBody>
          <a:bodyPr/>
          <a:lstStyle/>
          <a:p>
            <a:fld id="{A595352E-B7F4-41E2-ADD6-03CFBC5DAC41}" type="slidenum">
              <a:rPr lang="en-HK" smtClean="0"/>
              <a:t>‹#›</a:t>
            </a:fld>
            <a:endParaRPr lang="en-HK"/>
          </a:p>
        </p:txBody>
      </p:sp>
    </p:spTree>
    <p:extLst>
      <p:ext uri="{BB962C8B-B14F-4D97-AF65-F5344CB8AC3E}">
        <p14:creationId xmlns:p14="http://schemas.microsoft.com/office/powerpoint/2010/main" val="566656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266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5FF1F4-31F8-48AF-98B8-DEF71389D9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HK"/>
          </a:p>
        </p:txBody>
      </p:sp>
      <p:sp>
        <p:nvSpPr>
          <p:cNvPr id="3" name="Text Placeholder 2">
            <a:extLst>
              <a:ext uri="{FF2B5EF4-FFF2-40B4-BE49-F238E27FC236}">
                <a16:creationId xmlns:a16="http://schemas.microsoft.com/office/drawing/2014/main" id="{E447F5AF-F6E9-4FE3-80BA-E645B824E4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9A3B2116-E39E-4FA4-95B8-4C916A42A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BD77B2-D62E-42B4-9488-90630501B3E1}" type="datetimeFigureOut">
              <a:rPr lang="en-HK" smtClean="0"/>
              <a:t>25/6/2026</a:t>
            </a:fld>
            <a:endParaRPr lang="en-HK"/>
          </a:p>
        </p:txBody>
      </p:sp>
      <p:sp>
        <p:nvSpPr>
          <p:cNvPr id="5" name="Footer Placeholder 4">
            <a:extLst>
              <a:ext uri="{FF2B5EF4-FFF2-40B4-BE49-F238E27FC236}">
                <a16:creationId xmlns:a16="http://schemas.microsoft.com/office/drawing/2014/main" id="{58DA3170-2CAF-484C-B42A-6E6216E66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HK"/>
          </a:p>
        </p:txBody>
      </p:sp>
      <p:sp>
        <p:nvSpPr>
          <p:cNvPr id="6" name="Slide Number Placeholder 5">
            <a:extLst>
              <a:ext uri="{FF2B5EF4-FFF2-40B4-BE49-F238E27FC236}">
                <a16:creationId xmlns:a16="http://schemas.microsoft.com/office/drawing/2014/main" id="{97BEC21C-4AE6-4EB0-81C4-D8B0EE1DC6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95352E-B7F4-41E2-ADD6-03CFBC5DAC41}" type="slidenum">
              <a:rPr lang="en-HK" smtClean="0"/>
              <a:t>‹#›</a:t>
            </a:fld>
            <a:endParaRPr lang="en-HK"/>
          </a:p>
        </p:txBody>
      </p:sp>
    </p:spTree>
    <p:extLst>
      <p:ext uri="{BB962C8B-B14F-4D97-AF65-F5344CB8AC3E}">
        <p14:creationId xmlns:p14="http://schemas.microsoft.com/office/powerpoint/2010/main" val="2879862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yiuhong.github.io/demo-library/noematachograph.html" TargetMode="External"/><Relationship Id="rId5" Type="http://schemas.openxmlformats.org/officeDocument/2006/relationships/hyperlink" Target="https://www.youtube.com/watch?v=I5s7JBSE1LE"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neurobs.com/manager/content/docs/psychlab101_experiments/Choice%20Reaction%20Time/description.html" TargetMode="External"/><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doi.org/10.1111/ene.16533"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orkshops.psychopy.org/" TargetMode="Externa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journals.sagepub.com/doi/abs/10.1080/00335558008248231"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5.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hyperlink" Target="https://www.psychopy.org/general/units.html"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60.png"/><Relationship Id="rId4" Type="http://schemas.openxmlformats.org/officeDocument/2006/relationships/image" Target="../media/image59.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hyperlink" Target="https://www.psychopy.org/general/monitors.html"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71.png"/><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psychopy.org/index.html" TargetMode="External"/><Relationship Id="rId2" Type="http://schemas.openxmlformats.org/officeDocument/2006/relationships/image" Target="../media/image81.jpeg"/><Relationship Id="rId1" Type="http://schemas.openxmlformats.org/officeDocument/2006/relationships/slideLayout" Target="../slideLayouts/slideLayout2.xml"/><Relationship Id="rId4" Type="http://schemas.openxmlformats.org/officeDocument/2006/relationships/hyperlink" Target="https://psychopy.org/PsychoPyManual.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F402E-AC65-46AA-88A0-F66109EBF3AE}"/>
              </a:ext>
            </a:extLst>
          </p:cNvPr>
          <p:cNvSpPr>
            <a:spLocks noGrp="1"/>
          </p:cNvSpPr>
          <p:nvPr>
            <p:ph type="ctrTitle"/>
          </p:nvPr>
        </p:nvSpPr>
        <p:spPr/>
        <p:txBody>
          <a:bodyPr>
            <a:normAutofit/>
          </a:bodyPr>
          <a:lstStyle/>
          <a:p>
            <a:r>
              <a:rPr lang="en-US" dirty="0"/>
              <a:t>Building Behavioral Tasks with</a:t>
            </a:r>
            <a:endParaRPr lang="en-HK" dirty="0"/>
          </a:p>
        </p:txBody>
      </p:sp>
      <p:pic>
        <p:nvPicPr>
          <p:cNvPr id="4" name="Picture 3">
            <a:extLst>
              <a:ext uri="{FF2B5EF4-FFF2-40B4-BE49-F238E27FC236}">
                <a16:creationId xmlns:a16="http://schemas.microsoft.com/office/drawing/2014/main" id="{F10FC516-0212-4514-B6BF-3D7F2F1DACA0}"/>
              </a:ext>
            </a:extLst>
          </p:cNvPr>
          <p:cNvPicPr>
            <a:picLocks noChangeAspect="1"/>
          </p:cNvPicPr>
          <p:nvPr/>
        </p:nvPicPr>
        <p:blipFill>
          <a:blip r:embed="rId2"/>
          <a:stretch>
            <a:fillRect/>
          </a:stretch>
        </p:blipFill>
        <p:spPr>
          <a:xfrm>
            <a:off x="2881094" y="3574146"/>
            <a:ext cx="6429812" cy="2083735"/>
          </a:xfrm>
          <a:prstGeom prst="rect">
            <a:avLst/>
          </a:prstGeom>
        </p:spPr>
      </p:pic>
      <p:sp>
        <p:nvSpPr>
          <p:cNvPr id="3" name="TextBox 2">
            <a:extLst>
              <a:ext uri="{FF2B5EF4-FFF2-40B4-BE49-F238E27FC236}">
                <a16:creationId xmlns:a16="http://schemas.microsoft.com/office/drawing/2014/main" id="{1853409E-411F-43F2-9FAB-3BDA4E06A940}"/>
              </a:ext>
            </a:extLst>
          </p:cNvPr>
          <p:cNvSpPr txBox="1"/>
          <p:nvPr/>
        </p:nvSpPr>
        <p:spPr>
          <a:xfrm>
            <a:off x="9527232" y="6488668"/>
            <a:ext cx="2664768" cy="369332"/>
          </a:xfrm>
          <a:prstGeom prst="rect">
            <a:avLst/>
          </a:prstGeom>
          <a:noFill/>
        </p:spPr>
        <p:txBody>
          <a:bodyPr wrap="none" rtlCol="0">
            <a:spAutoFit/>
          </a:bodyPr>
          <a:lstStyle/>
          <a:p>
            <a:r>
              <a:rPr lang="en-HK" dirty="0"/>
              <a:t>28-29/5/2026 Yiu Hong Ko</a:t>
            </a:r>
          </a:p>
        </p:txBody>
      </p:sp>
    </p:spTree>
    <p:extLst>
      <p:ext uri="{BB962C8B-B14F-4D97-AF65-F5344CB8AC3E}">
        <p14:creationId xmlns:p14="http://schemas.microsoft.com/office/powerpoint/2010/main" val="12868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C850A1-AB17-40C6-9EE3-B3BC3154FBB4}"/>
              </a:ext>
            </a:extLst>
          </p:cNvPr>
          <p:cNvSpPr>
            <a:spLocks noGrp="1"/>
          </p:cNvSpPr>
          <p:nvPr>
            <p:ph type="title"/>
          </p:nvPr>
        </p:nvSpPr>
        <p:spPr/>
        <p:txBody>
          <a:bodyPr/>
          <a:lstStyle/>
          <a:p>
            <a:r>
              <a:rPr lang="en-US" dirty="0"/>
              <a:t>Why computer tasks?</a:t>
            </a:r>
            <a:endParaRPr lang="en-HK" dirty="0"/>
          </a:p>
        </p:txBody>
      </p:sp>
      <p:sp>
        <p:nvSpPr>
          <p:cNvPr id="5" name="Content Placeholder 4">
            <a:extLst>
              <a:ext uri="{FF2B5EF4-FFF2-40B4-BE49-F238E27FC236}">
                <a16:creationId xmlns:a16="http://schemas.microsoft.com/office/drawing/2014/main" id="{BBF99A5B-94E2-422F-AED1-878E6C793E49}"/>
              </a:ext>
            </a:extLst>
          </p:cNvPr>
          <p:cNvSpPr>
            <a:spLocks noGrp="1"/>
          </p:cNvSpPr>
          <p:nvPr>
            <p:ph idx="1"/>
          </p:nvPr>
        </p:nvSpPr>
        <p:spPr/>
        <p:txBody>
          <a:bodyPr/>
          <a:lstStyle/>
          <a:p>
            <a:r>
              <a:rPr lang="en-US" dirty="0"/>
              <a:t>Precision</a:t>
            </a:r>
          </a:p>
          <a:p>
            <a:pPr lvl="1"/>
            <a:r>
              <a:rPr lang="en-US" dirty="0"/>
              <a:t>presentation of stimuli</a:t>
            </a:r>
          </a:p>
          <a:p>
            <a:pPr lvl="1"/>
            <a:r>
              <a:rPr lang="en-US" dirty="0"/>
              <a:t>record of responses</a:t>
            </a:r>
          </a:p>
          <a:p>
            <a:r>
              <a:rPr lang="en-US" dirty="0"/>
              <a:t>Standardization</a:t>
            </a:r>
          </a:p>
          <a:p>
            <a:r>
              <a:rPr lang="en-US" dirty="0"/>
              <a:t>Replicability</a:t>
            </a:r>
          </a:p>
          <a:p>
            <a:r>
              <a:rPr lang="en-US" dirty="0"/>
              <a:t>Flexibility</a:t>
            </a:r>
            <a:endParaRPr lang="en-HK" dirty="0"/>
          </a:p>
        </p:txBody>
      </p:sp>
      <p:pic>
        <p:nvPicPr>
          <p:cNvPr id="7" name="Picture 6">
            <a:extLst>
              <a:ext uri="{FF2B5EF4-FFF2-40B4-BE49-F238E27FC236}">
                <a16:creationId xmlns:a16="http://schemas.microsoft.com/office/drawing/2014/main" id="{1DFA427D-8139-4E2E-8F34-AF740FD5B41B}"/>
              </a:ext>
            </a:extLst>
          </p:cNvPr>
          <p:cNvPicPr>
            <a:picLocks noChangeAspect="1"/>
          </p:cNvPicPr>
          <p:nvPr/>
        </p:nvPicPr>
        <p:blipFill>
          <a:blip r:embed="rId2"/>
          <a:stretch>
            <a:fillRect/>
          </a:stretch>
        </p:blipFill>
        <p:spPr>
          <a:xfrm>
            <a:off x="6983861" y="3612274"/>
            <a:ext cx="4834547" cy="3078747"/>
          </a:xfrm>
          <a:prstGeom prst="rect">
            <a:avLst/>
          </a:prstGeom>
        </p:spPr>
      </p:pic>
      <p:pic>
        <p:nvPicPr>
          <p:cNvPr id="2052" name="Picture 4" descr="Franciscus Cornelis Donders (1818-1889) portrait">
            <a:extLst>
              <a:ext uri="{FF2B5EF4-FFF2-40B4-BE49-F238E27FC236}">
                <a16:creationId xmlns:a16="http://schemas.microsoft.com/office/drawing/2014/main" id="{F1B94325-376D-4522-84CF-DB22786C698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162432" y="452863"/>
            <a:ext cx="1703285" cy="227104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38A865A-A427-4162-81C3-FD4A470AFDCD}"/>
              </a:ext>
            </a:extLst>
          </p:cNvPr>
          <p:cNvPicPr>
            <a:picLocks noChangeAspect="1"/>
          </p:cNvPicPr>
          <p:nvPr/>
        </p:nvPicPr>
        <p:blipFill>
          <a:blip r:embed="rId4"/>
          <a:stretch>
            <a:fillRect/>
          </a:stretch>
        </p:blipFill>
        <p:spPr>
          <a:xfrm>
            <a:off x="6923314" y="259229"/>
            <a:ext cx="2899883" cy="3218108"/>
          </a:xfrm>
          <a:prstGeom prst="rect">
            <a:avLst/>
          </a:prstGeom>
        </p:spPr>
      </p:pic>
      <p:sp>
        <p:nvSpPr>
          <p:cNvPr id="11" name="TextBox 10">
            <a:extLst>
              <a:ext uri="{FF2B5EF4-FFF2-40B4-BE49-F238E27FC236}">
                <a16:creationId xmlns:a16="http://schemas.microsoft.com/office/drawing/2014/main" id="{089B1131-D00A-43B3-A01E-6501611F8F67}"/>
              </a:ext>
            </a:extLst>
          </p:cNvPr>
          <p:cNvSpPr txBox="1"/>
          <p:nvPr/>
        </p:nvSpPr>
        <p:spPr>
          <a:xfrm>
            <a:off x="423253" y="5609485"/>
            <a:ext cx="6096000" cy="369332"/>
          </a:xfrm>
          <a:prstGeom prst="rect">
            <a:avLst/>
          </a:prstGeom>
          <a:noFill/>
        </p:spPr>
        <p:txBody>
          <a:bodyPr wrap="square">
            <a:spAutoFit/>
          </a:bodyPr>
          <a:lstStyle/>
          <a:p>
            <a:r>
              <a:rPr lang="en-HK" dirty="0">
                <a:hlinkClick r:id="rId5"/>
              </a:rPr>
              <a:t>Phonautograph</a:t>
            </a:r>
            <a:r>
              <a:rPr lang="en-HK" dirty="0"/>
              <a:t> (sound-self-graph)</a:t>
            </a:r>
          </a:p>
        </p:txBody>
      </p:sp>
      <p:sp>
        <p:nvSpPr>
          <p:cNvPr id="12" name="TextBox 11">
            <a:extLst>
              <a:ext uri="{FF2B5EF4-FFF2-40B4-BE49-F238E27FC236}">
                <a16:creationId xmlns:a16="http://schemas.microsoft.com/office/drawing/2014/main" id="{B70914EE-31C2-4B4D-9160-24E627EAB434}"/>
              </a:ext>
            </a:extLst>
          </p:cNvPr>
          <p:cNvSpPr txBox="1"/>
          <p:nvPr/>
        </p:nvSpPr>
        <p:spPr>
          <a:xfrm>
            <a:off x="423253" y="6123543"/>
            <a:ext cx="6096000" cy="369332"/>
          </a:xfrm>
          <a:prstGeom prst="rect">
            <a:avLst/>
          </a:prstGeom>
          <a:noFill/>
        </p:spPr>
        <p:txBody>
          <a:bodyPr wrap="square">
            <a:spAutoFit/>
          </a:bodyPr>
          <a:lstStyle/>
          <a:p>
            <a:r>
              <a:rPr lang="en-HK" dirty="0">
                <a:hlinkClick r:id="rId6"/>
              </a:rPr>
              <a:t>Noematachograph</a:t>
            </a:r>
            <a:r>
              <a:rPr lang="en-HK" dirty="0"/>
              <a:t> (thought-speed-graph)</a:t>
            </a:r>
          </a:p>
        </p:txBody>
      </p:sp>
    </p:spTree>
    <p:extLst>
      <p:ext uri="{BB962C8B-B14F-4D97-AF65-F5344CB8AC3E}">
        <p14:creationId xmlns:p14="http://schemas.microsoft.com/office/powerpoint/2010/main" val="74969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C850A1-AB17-40C6-9EE3-B3BC3154FBB4}"/>
              </a:ext>
            </a:extLst>
          </p:cNvPr>
          <p:cNvSpPr>
            <a:spLocks noGrp="1"/>
          </p:cNvSpPr>
          <p:nvPr>
            <p:ph type="title"/>
          </p:nvPr>
        </p:nvSpPr>
        <p:spPr/>
        <p:txBody>
          <a:bodyPr/>
          <a:lstStyle/>
          <a:p>
            <a:r>
              <a:rPr lang="en-US" dirty="0"/>
              <a:t>Why </a:t>
            </a:r>
            <a:r>
              <a:rPr lang="en-US" dirty="0" err="1"/>
              <a:t>PsychoPy</a:t>
            </a:r>
            <a:r>
              <a:rPr lang="en-US" dirty="0"/>
              <a:t>?</a:t>
            </a:r>
            <a:endParaRPr lang="en-HK" dirty="0"/>
          </a:p>
        </p:txBody>
      </p:sp>
      <p:sp>
        <p:nvSpPr>
          <p:cNvPr id="5" name="Content Placeholder 4">
            <a:extLst>
              <a:ext uri="{FF2B5EF4-FFF2-40B4-BE49-F238E27FC236}">
                <a16:creationId xmlns:a16="http://schemas.microsoft.com/office/drawing/2014/main" id="{BBF99A5B-94E2-422F-AED1-878E6C793E49}"/>
              </a:ext>
            </a:extLst>
          </p:cNvPr>
          <p:cNvSpPr>
            <a:spLocks noGrp="1"/>
          </p:cNvSpPr>
          <p:nvPr>
            <p:ph idx="1"/>
          </p:nvPr>
        </p:nvSpPr>
        <p:spPr/>
        <p:txBody>
          <a:bodyPr/>
          <a:lstStyle/>
          <a:p>
            <a:r>
              <a:rPr lang="en-US" dirty="0"/>
              <a:t>Commonly used programs are limited</a:t>
            </a:r>
          </a:p>
          <a:p>
            <a:r>
              <a:rPr lang="en-US" dirty="0"/>
              <a:t>Different computer programs are available</a:t>
            </a:r>
          </a:p>
          <a:p>
            <a:r>
              <a:rPr lang="en-US" dirty="0"/>
              <a:t>But </a:t>
            </a:r>
            <a:r>
              <a:rPr lang="en-US" dirty="0" err="1"/>
              <a:t>PsychoPy</a:t>
            </a:r>
            <a:r>
              <a:rPr lang="en-US" dirty="0"/>
              <a:t> is:</a:t>
            </a:r>
          </a:p>
          <a:p>
            <a:pPr lvl="1"/>
            <a:r>
              <a:rPr lang="en-US" dirty="0"/>
              <a:t>Free</a:t>
            </a:r>
          </a:p>
          <a:p>
            <a:pPr lvl="1"/>
            <a:r>
              <a:rPr lang="en-US" dirty="0"/>
              <a:t>Open-sourced, open access</a:t>
            </a:r>
          </a:p>
          <a:p>
            <a:pPr lvl="1"/>
            <a:r>
              <a:rPr lang="en-US" dirty="0"/>
              <a:t>Graphical user interface (GUI)</a:t>
            </a:r>
          </a:p>
          <a:p>
            <a:pPr lvl="1"/>
            <a:r>
              <a:rPr lang="en-US" dirty="0"/>
              <a:t>Python-based</a:t>
            </a:r>
          </a:p>
          <a:p>
            <a:endParaRPr lang="en-HK" dirty="0"/>
          </a:p>
        </p:txBody>
      </p:sp>
      <p:pic>
        <p:nvPicPr>
          <p:cNvPr id="1026" name="Picture 2" descr="Psychtoolbox | Open source solution">
            <a:extLst>
              <a:ext uri="{FF2B5EF4-FFF2-40B4-BE49-F238E27FC236}">
                <a16:creationId xmlns:a16="http://schemas.microsoft.com/office/drawing/2014/main" id="{6F401DE4-A5C8-41AC-985A-830F4FA757B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7784982" y="2522637"/>
            <a:ext cx="4253217" cy="14786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E6AE266-1E22-4DB0-8399-3CC0B32E316C}"/>
              </a:ext>
            </a:extLst>
          </p:cNvPr>
          <p:cNvPicPr>
            <a:picLocks noChangeAspect="1"/>
          </p:cNvPicPr>
          <p:nvPr/>
        </p:nvPicPr>
        <p:blipFill>
          <a:blip r:embed="rId3"/>
          <a:stretch>
            <a:fillRect/>
          </a:stretch>
        </p:blipFill>
        <p:spPr>
          <a:xfrm>
            <a:off x="8981724" y="436166"/>
            <a:ext cx="2543175" cy="1428750"/>
          </a:xfrm>
          <a:prstGeom prst="rect">
            <a:avLst/>
          </a:prstGeom>
        </p:spPr>
      </p:pic>
      <p:pic>
        <p:nvPicPr>
          <p:cNvPr id="3" name="Picture 2">
            <a:extLst>
              <a:ext uri="{FF2B5EF4-FFF2-40B4-BE49-F238E27FC236}">
                <a16:creationId xmlns:a16="http://schemas.microsoft.com/office/drawing/2014/main" id="{3774DCA2-2190-4915-9AFE-8F01F676BA28}"/>
              </a:ext>
            </a:extLst>
          </p:cNvPr>
          <p:cNvPicPr>
            <a:picLocks noChangeAspect="1"/>
          </p:cNvPicPr>
          <p:nvPr/>
        </p:nvPicPr>
        <p:blipFill>
          <a:blip r:embed="rId4"/>
          <a:stretch>
            <a:fillRect/>
          </a:stretch>
        </p:blipFill>
        <p:spPr>
          <a:xfrm>
            <a:off x="9552874" y="4349750"/>
            <a:ext cx="2143125" cy="2143125"/>
          </a:xfrm>
          <a:prstGeom prst="rect">
            <a:avLst/>
          </a:prstGeom>
        </p:spPr>
      </p:pic>
    </p:spTree>
    <p:extLst>
      <p:ext uri="{BB962C8B-B14F-4D97-AF65-F5344CB8AC3E}">
        <p14:creationId xmlns:p14="http://schemas.microsoft.com/office/powerpoint/2010/main" val="601154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Builder view">
            <a:extLst>
              <a:ext uri="{FF2B5EF4-FFF2-40B4-BE49-F238E27FC236}">
                <a16:creationId xmlns:a16="http://schemas.microsoft.com/office/drawing/2014/main" id="{F96C41B0-B129-4DE0-898B-49DEA585B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329" y="1126876"/>
            <a:ext cx="9520056" cy="563533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3">
            <a:extLst>
              <a:ext uri="{FF2B5EF4-FFF2-40B4-BE49-F238E27FC236}">
                <a16:creationId xmlns:a16="http://schemas.microsoft.com/office/drawing/2014/main" id="{737B246E-7466-4DB8-B37F-F464B3353394}"/>
              </a:ext>
            </a:extLst>
          </p:cNvPr>
          <p:cNvSpPr txBox="1">
            <a:spLocks/>
          </p:cNvSpPr>
          <p:nvPr/>
        </p:nvSpPr>
        <p:spPr>
          <a:xfrm>
            <a:off x="-152897" y="-198687"/>
            <a:ext cx="3176451"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Builder</a:t>
            </a:r>
            <a:endParaRPr lang="en-HK" sz="4400" dirty="0"/>
          </a:p>
        </p:txBody>
      </p:sp>
      <p:sp>
        <p:nvSpPr>
          <p:cNvPr id="4" name="Rectangle 3">
            <a:extLst>
              <a:ext uri="{FF2B5EF4-FFF2-40B4-BE49-F238E27FC236}">
                <a16:creationId xmlns:a16="http://schemas.microsoft.com/office/drawing/2014/main" id="{4A388535-9EE3-46F3-A3A2-A8B9714D6A2F}"/>
              </a:ext>
            </a:extLst>
          </p:cNvPr>
          <p:cNvSpPr/>
          <p:nvPr/>
        </p:nvSpPr>
        <p:spPr>
          <a:xfrm>
            <a:off x="1435330" y="1820091"/>
            <a:ext cx="7325494" cy="35618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FEACA668-61E6-4D56-A667-876D9DE81A32}"/>
              </a:ext>
            </a:extLst>
          </p:cNvPr>
          <p:cNvSpPr/>
          <p:nvPr/>
        </p:nvSpPr>
        <p:spPr>
          <a:xfrm>
            <a:off x="1435329" y="5464628"/>
            <a:ext cx="9607139" cy="12322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8" name="Rectangle 7">
            <a:extLst>
              <a:ext uri="{FF2B5EF4-FFF2-40B4-BE49-F238E27FC236}">
                <a16:creationId xmlns:a16="http://schemas.microsoft.com/office/drawing/2014/main" id="{99757A20-4B76-41E7-B846-E9DC28A48CBA}"/>
              </a:ext>
            </a:extLst>
          </p:cNvPr>
          <p:cNvSpPr/>
          <p:nvPr/>
        </p:nvSpPr>
        <p:spPr>
          <a:xfrm>
            <a:off x="8862357" y="1820092"/>
            <a:ext cx="2093028" cy="35618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9" name="TextBox 8">
            <a:extLst>
              <a:ext uri="{FF2B5EF4-FFF2-40B4-BE49-F238E27FC236}">
                <a16:creationId xmlns:a16="http://schemas.microsoft.com/office/drawing/2014/main" id="{67CAA095-1409-4895-82A2-6A4442ACE3FA}"/>
              </a:ext>
            </a:extLst>
          </p:cNvPr>
          <p:cNvSpPr txBox="1"/>
          <p:nvPr/>
        </p:nvSpPr>
        <p:spPr>
          <a:xfrm>
            <a:off x="231147" y="1950720"/>
            <a:ext cx="1005468" cy="369332"/>
          </a:xfrm>
          <a:prstGeom prst="rect">
            <a:avLst/>
          </a:prstGeom>
          <a:noFill/>
        </p:spPr>
        <p:txBody>
          <a:bodyPr wrap="none" rtlCol="0">
            <a:spAutoFit/>
          </a:bodyPr>
          <a:lstStyle/>
          <a:p>
            <a:r>
              <a:rPr lang="en-HK" dirty="0">
                <a:solidFill>
                  <a:srgbClr val="FF0000"/>
                </a:solidFill>
              </a:rPr>
              <a:t>Routines</a:t>
            </a:r>
          </a:p>
        </p:txBody>
      </p:sp>
      <p:sp>
        <p:nvSpPr>
          <p:cNvPr id="10" name="TextBox 9">
            <a:extLst>
              <a:ext uri="{FF2B5EF4-FFF2-40B4-BE49-F238E27FC236}">
                <a16:creationId xmlns:a16="http://schemas.microsoft.com/office/drawing/2014/main" id="{F0EAA54B-B029-48DD-A7F5-5AA77B531C1B}"/>
              </a:ext>
            </a:extLst>
          </p:cNvPr>
          <p:cNvSpPr txBox="1"/>
          <p:nvPr/>
        </p:nvSpPr>
        <p:spPr>
          <a:xfrm>
            <a:off x="520129" y="5711427"/>
            <a:ext cx="629403" cy="369332"/>
          </a:xfrm>
          <a:prstGeom prst="rect">
            <a:avLst/>
          </a:prstGeom>
          <a:noFill/>
        </p:spPr>
        <p:txBody>
          <a:bodyPr wrap="none" rtlCol="0">
            <a:spAutoFit/>
          </a:bodyPr>
          <a:lstStyle/>
          <a:p>
            <a:r>
              <a:rPr lang="en-HK" dirty="0">
                <a:solidFill>
                  <a:srgbClr val="FF0000"/>
                </a:solidFill>
              </a:rPr>
              <a:t>Flow</a:t>
            </a:r>
          </a:p>
        </p:txBody>
      </p:sp>
      <p:sp>
        <p:nvSpPr>
          <p:cNvPr id="11" name="TextBox 10">
            <a:extLst>
              <a:ext uri="{FF2B5EF4-FFF2-40B4-BE49-F238E27FC236}">
                <a16:creationId xmlns:a16="http://schemas.microsoft.com/office/drawing/2014/main" id="{D06D7F76-7018-4A7D-BB15-8B4333CC3377}"/>
              </a:ext>
            </a:extLst>
          </p:cNvPr>
          <p:cNvSpPr txBox="1"/>
          <p:nvPr/>
        </p:nvSpPr>
        <p:spPr>
          <a:xfrm>
            <a:off x="10810403" y="1450759"/>
            <a:ext cx="1381597" cy="369332"/>
          </a:xfrm>
          <a:prstGeom prst="rect">
            <a:avLst/>
          </a:prstGeom>
          <a:noFill/>
        </p:spPr>
        <p:txBody>
          <a:bodyPr wrap="none" rtlCol="0">
            <a:spAutoFit/>
          </a:bodyPr>
          <a:lstStyle/>
          <a:p>
            <a:r>
              <a:rPr lang="en-HK" dirty="0">
                <a:solidFill>
                  <a:srgbClr val="FF0000"/>
                </a:solidFill>
              </a:rPr>
              <a:t>Components</a:t>
            </a:r>
          </a:p>
        </p:txBody>
      </p:sp>
    </p:spTree>
    <p:extLst>
      <p:ext uri="{BB962C8B-B14F-4D97-AF65-F5344CB8AC3E}">
        <p14:creationId xmlns:p14="http://schemas.microsoft.com/office/powerpoint/2010/main" val="1194161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D5627A-598F-4637-9A75-0B334378AC1B}"/>
              </a:ext>
            </a:extLst>
          </p:cNvPr>
          <p:cNvPicPr>
            <a:picLocks noChangeAspect="1"/>
          </p:cNvPicPr>
          <p:nvPr/>
        </p:nvPicPr>
        <p:blipFill>
          <a:blip r:embed="rId2"/>
          <a:stretch>
            <a:fillRect/>
          </a:stretch>
        </p:blipFill>
        <p:spPr>
          <a:xfrm>
            <a:off x="3169851" y="476330"/>
            <a:ext cx="5852297" cy="5905339"/>
          </a:xfrm>
          <a:prstGeom prst="rect">
            <a:avLst/>
          </a:prstGeom>
        </p:spPr>
      </p:pic>
      <p:sp>
        <p:nvSpPr>
          <p:cNvPr id="6" name="TextBox 5">
            <a:extLst>
              <a:ext uri="{FF2B5EF4-FFF2-40B4-BE49-F238E27FC236}">
                <a16:creationId xmlns:a16="http://schemas.microsoft.com/office/drawing/2014/main" id="{C85FB2EF-9AFF-46FD-94D4-4250A8C34F86}"/>
              </a:ext>
            </a:extLst>
          </p:cNvPr>
          <p:cNvSpPr txBox="1"/>
          <p:nvPr/>
        </p:nvSpPr>
        <p:spPr>
          <a:xfrm>
            <a:off x="391886" y="476330"/>
            <a:ext cx="6096000" cy="769441"/>
          </a:xfrm>
          <a:prstGeom prst="rect">
            <a:avLst/>
          </a:prstGeom>
          <a:noFill/>
        </p:spPr>
        <p:txBody>
          <a:bodyPr wrap="square">
            <a:spAutoFit/>
          </a:bodyPr>
          <a:lstStyle/>
          <a:p>
            <a:r>
              <a:rPr lang="en-HK" sz="4400" dirty="0">
                <a:latin typeface="+mj-lt"/>
              </a:rPr>
              <a:t>Coder</a:t>
            </a:r>
          </a:p>
        </p:txBody>
      </p:sp>
      <p:sp>
        <p:nvSpPr>
          <p:cNvPr id="7" name="Rectangle 6">
            <a:extLst>
              <a:ext uri="{FF2B5EF4-FFF2-40B4-BE49-F238E27FC236}">
                <a16:creationId xmlns:a16="http://schemas.microsoft.com/office/drawing/2014/main" id="{ACC46760-70C6-4228-95A3-F65559A33E2A}"/>
              </a:ext>
            </a:extLst>
          </p:cNvPr>
          <p:cNvSpPr/>
          <p:nvPr/>
        </p:nvSpPr>
        <p:spPr>
          <a:xfrm>
            <a:off x="3081250" y="734142"/>
            <a:ext cx="1917470" cy="35156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8" name="Rectangle 7">
            <a:extLst>
              <a:ext uri="{FF2B5EF4-FFF2-40B4-BE49-F238E27FC236}">
                <a16:creationId xmlns:a16="http://schemas.microsoft.com/office/drawing/2014/main" id="{BB937127-6898-48D9-A5B1-E785B3F69EB1}"/>
              </a:ext>
            </a:extLst>
          </p:cNvPr>
          <p:cNvSpPr/>
          <p:nvPr/>
        </p:nvSpPr>
        <p:spPr>
          <a:xfrm>
            <a:off x="5082967" y="734142"/>
            <a:ext cx="4027782" cy="35156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9" name="Rectangle 8">
            <a:extLst>
              <a:ext uri="{FF2B5EF4-FFF2-40B4-BE49-F238E27FC236}">
                <a16:creationId xmlns:a16="http://schemas.microsoft.com/office/drawing/2014/main" id="{7488317F-44FB-450C-9D73-B2DE89B32711}"/>
              </a:ext>
            </a:extLst>
          </p:cNvPr>
          <p:cNvSpPr/>
          <p:nvPr/>
        </p:nvSpPr>
        <p:spPr>
          <a:xfrm>
            <a:off x="3081249" y="4337314"/>
            <a:ext cx="6029499" cy="21331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10" name="TextBox 9">
            <a:extLst>
              <a:ext uri="{FF2B5EF4-FFF2-40B4-BE49-F238E27FC236}">
                <a16:creationId xmlns:a16="http://schemas.microsoft.com/office/drawing/2014/main" id="{8D92595C-9D02-406F-87E1-C5E854C390CD}"/>
              </a:ext>
            </a:extLst>
          </p:cNvPr>
          <p:cNvSpPr txBox="1"/>
          <p:nvPr/>
        </p:nvSpPr>
        <p:spPr>
          <a:xfrm>
            <a:off x="314287" y="1402080"/>
            <a:ext cx="2750497" cy="369332"/>
          </a:xfrm>
          <a:prstGeom prst="rect">
            <a:avLst/>
          </a:prstGeom>
          <a:noFill/>
        </p:spPr>
        <p:txBody>
          <a:bodyPr wrap="none" rtlCol="0">
            <a:spAutoFit/>
          </a:bodyPr>
          <a:lstStyle/>
          <a:p>
            <a:r>
              <a:rPr lang="en-HK" dirty="0">
                <a:solidFill>
                  <a:srgbClr val="FF0000"/>
                </a:solidFill>
              </a:rPr>
              <a:t>Source assistant (Directory)</a:t>
            </a:r>
          </a:p>
        </p:txBody>
      </p:sp>
      <p:sp>
        <p:nvSpPr>
          <p:cNvPr id="11" name="TextBox 10">
            <a:extLst>
              <a:ext uri="{FF2B5EF4-FFF2-40B4-BE49-F238E27FC236}">
                <a16:creationId xmlns:a16="http://schemas.microsoft.com/office/drawing/2014/main" id="{DFE1084D-0629-4531-8028-D95A9376DFE1}"/>
              </a:ext>
            </a:extLst>
          </p:cNvPr>
          <p:cNvSpPr txBox="1"/>
          <p:nvPr/>
        </p:nvSpPr>
        <p:spPr>
          <a:xfrm>
            <a:off x="1359315" y="4337314"/>
            <a:ext cx="1592103" cy="369332"/>
          </a:xfrm>
          <a:prstGeom prst="rect">
            <a:avLst/>
          </a:prstGeom>
          <a:noFill/>
        </p:spPr>
        <p:txBody>
          <a:bodyPr wrap="none" rtlCol="0">
            <a:spAutoFit/>
          </a:bodyPr>
          <a:lstStyle/>
          <a:p>
            <a:r>
              <a:rPr lang="en-HK" dirty="0">
                <a:solidFill>
                  <a:srgbClr val="FF0000"/>
                </a:solidFill>
              </a:rPr>
              <a:t>Shelf (Console)</a:t>
            </a:r>
          </a:p>
        </p:txBody>
      </p:sp>
      <p:sp>
        <p:nvSpPr>
          <p:cNvPr id="12" name="TextBox 11">
            <a:extLst>
              <a:ext uri="{FF2B5EF4-FFF2-40B4-BE49-F238E27FC236}">
                <a16:creationId xmlns:a16="http://schemas.microsoft.com/office/drawing/2014/main" id="{4F551600-455B-4BF0-85FC-725974D6A6E7}"/>
              </a:ext>
            </a:extLst>
          </p:cNvPr>
          <p:cNvSpPr txBox="1"/>
          <p:nvPr/>
        </p:nvSpPr>
        <p:spPr>
          <a:xfrm>
            <a:off x="9194996" y="1402080"/>
            <a:ext cx="1473224" cy="369332"/>
          </a:xfrm>
          <a:prstGeom prst="rect">
            <a:avLst/>
          </a:prstGeom>
          <a:noFill/>
        </p:spPr>
        <p:txBody>
          <a:bodyPr wrap="none" rtlCol="0">
            <a:spAutoFit/>
          </a:bodyPr>
          <a:lstStyle/>
          <a:p>
            <a:r>
              <a:rPr lang="en-HK" dirty="0">
                <a:solidFill>
                  <a:srgbClr val="FF0000"/>
                </a:solidFill>
              </a:rPr>
              <a:t>Editor (Script)</a:t>
            </a:r>
          </a:p>
        </p:txBody>
      </p:sp>
    </p:spTree>
    <p:extLst>
      <p:ext uri="{BB962C8B-B14F-4D97-AF65-F5344CB8AC3E}">
        <p14:creationId xmlns:p14="http://schemas.microsoft.com/office/powerpoint/2010/main" val="338565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build a task!</a:t>
            </a:r>
          </a:p>
        </p:txBody>
      </p:sp>
    </p:spTree>
    <p:extLst>
      <p:ext uri="{BB962C8B-B14F-4D97-AF65-F5344CB8AC3E}">
        <p14:creationId xmlns:p14="http://schemas.microsoft.com/office/powerpoint/2010/main" val="1531743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21181" y="1711749"/>
            <a:ext cx="4542463" cy="3941167"/>
          </a:xfrm>
          <a:prstGeom prst="rect">
            <a:avLst/>
          </a:prstGeom>
        </p:spPr>
      </p:pic>
      <p:pic>
        <p:nvPicPr>
          <p:cNvPr id="5" name="Picture 4"/>
          <p:cNvPicPr>
            <a:picLocks noChangeAspect="1"/>
          </p:cNvPicPr>
          <p:nvPr/>
        </p:nvPicPr>
        <p:blipFill>
          <a:blip r:embed="rId3"/>
          <a:stretch>
            <a:fillRect/>
          </a:stretch>
        </p:blipFill>
        <p:spPr>
          <a:xfrm>
            <a:off x="275696" y="287933"/>
            <a:ext cx="10048875" cy="1352550"/>
          </a:xfrm>
          <a:prstGeom prst="rect">
            <a:avLst/>
          </a:prstGeom>
        </p:spPr>
      </p:pic>
      <p:sp>
        <p:nvSpPr>
          <p:cNvPr id="7" name="Rectangle 6"/>
          <p:cNvSpPr/>
          <p:nvPr/>
        </p:nvSpPr>
        <p:spPr>
          <a:xfrm>
            <a:off x="3727937" y="485402"/>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071444" y="3160746"/>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4"/>
          <a:stretch>
            <a:fillRect/>
          </a:stretch>
        </p:blipFill>
        <p:spPr>
          <a:xfrm>
            <a:off x="275696" y="5366986"/>
            <a:ext cx="10277475" cy="1352550"/>
          </a:xfrm>
          <a:prstGeom prst="rect">
            <a:avLst/>
          </a:prstGeom>
        </p:spPr>
      </p:pic>
      <p:sp>
        <p:nvSpPr>
          <p:cNvPr id="10" name="Rectangle 9"/>
          <p:cNvSpPr/>
          <p:nvPr/>
        </p:nvSpPr>
        <p:spPr>
          <a:xfrm>
            <a:off x="4605540" y="5652916"/>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132383" y="6433606"/>
            <a:ext cx="1840760" cy="369332"/>
          </a:xfrm>
          <a:prstGeom prst="rect">
            <a:avLst/>
          </a:prstGeom>
          <a:noFill/>
        </p:spPr>
        <p:txBody>
          <a:bodyPr wrap="none" rtlCol="0">
            <a:spAutoFit/>
          </a:bodyPr>
          <a:lstStyle/>
          <a:p>
            <a:r>
              <a:rPr lang="en-US" dirty="0">
                <a:solidFill>
                  <a:srgbClr val="FF0000"/>
                </a:solidFill>
              </a:rPr>
              <a:t>Enable full screen</a:t>
            </a:r>
          </a:p>
        </p:txBody>
      </p:sp>
    </p:spTree>
    <p:extLst>
      <p:ext uri="{BB962C8B-B14F-4D97-AF65-F5344CB8AC3E}">
        <p14:creationId xmlns:p14="http://schemas.microsoft.com/office/powerpoint/2010/main" val="3109876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SRT – part one</a:t>
            </a:r>
          </a:p>
        </p:txBody>
      </p:sp>
      <p:sp>
        <p:nvSpPr>
          <p:cNvPr id="3" name="Text Placeholder 2"/>
          <p:cNvSpPr>
            <a:spLocks noGrp="1"/>
          </p:cNvSpPr>
          <p:nvPr>
            <p:ph type="body" idx="1"/>
          </p:nvPr>
        </p:nvSpPr>
        <p:spPr/>
        <p:txBody>
          <a:bodyPr/>
          <a:lstStyle/>
          <a:p>
            <a:r>
              <a:rPr lang="en-US" dirty="0"/>
              <a:t>A dot and a keypress</a:t>
            </a:r>
          </a:p>
        </p:txBody>
      </p:sp>
      <p:pic>
        <p:nvPicPr>
          <p:cNvPr id="3074" name="Picture 2" descr="Simple Reaction Time">
            <a:extLst>
              <a:ext uri="{FF2B5EF4-FFF2-40B4-BE49-F238E27FC236}">
                <a16:creationId xmlns:a16="http://schemas.microsoft.com/office/drawing/2014/main" id="{5D45B137-9D77-491C-B7B6-4A3784C8F8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3902" y="309516"/>
            <a:ext cx="5837081" cy="391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892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448383" y="276224"/>
            <a:ext cx="7267575" cy="6305550"/>
          </a:xfrm>
          <a:prstGeom prst="rect">
            <a:avLst/>
          </a:prstGeom>
        </p:spPr>
      </p:pic>
      <p:pic>
        <p:nvPicPr>
          <p:cNvPr id="5" name="Picture 4"/>
          <p:cNvPicPr>
            <a:picLocks noChangeAspect="1"/>
          </p:cNvPicPr>
          <p:nvPr/>
        </p:nvPicPr>
        <p:blipFill>
          <a:blip r:embed="rId3"/>
          <a:stretch>
            <a:fillRect/>
          </a:stretch>
        </p:blipFill>
        <p:spPr>
          <a:xfrm>
            <a:off x="9006945" y="171449"/>
            <a:ext cx="2543175" cy="6515100"/>
          </a:xfrm>
          <a:prstGeom prst="rect">
            <a:avLst/>
          </a:prstGeom>
        </p:spPr>
      </p:pic>
      <p:sp>
        <p:nvSpPr>
          <p:cNvPr id="7" name="Rectangle 6"/>
          <p:cNvSpPr/>
          <p:nvPr/>
        </p:nvSpPr>
        <p:spPr>
          <a:xfrm>
            <a:off x="9874085" y="2753818"/>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769566" y="2568808"/>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202713" y="1973128"/>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011809" y="2386312"/>
            <a:ext cx="1733873" cy="369332"/>
          </a:xfrm>
          <a:prstGeom prst="rect">
            <a:avLst/>
          </a:prstGeom>
          <a:noFill/>
        </p:spPr>
        <p:txBody>
          <a:bodyPr wrap="none" rtlCol="0">
            <a:spAutoFit/>
          </a:bodyPr>
          <a:lstStyle/>
          <a:p>
            <a:r>
              <a:rPr lang="en-US" dirty="0">
                <a:solidFill>
                  <a:srgbClr val="FF0000"/>
                </a:solidFill>
              </a:rPr>
              <a:t>= unlimited time</a:t>
            </a:r>
          </a:p>
        </p:txBody>
      </p:sp>
      <p:sp>
        <p:nvSpPr>
          <p:cNvPr id="11" name="Rectangle 10"/>
          <p:cNvSpPr/>
          <p:nvPr/>
        </p:nvSpPr>
        <p:spPr>
          <a:xfrm>
            <a:off x="1769565" y="718759"/>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578458" y="937629"/>
            <a:ext cx="1855636" cy="369332"/>
          </a:xfrm>
          <a:prstGeom prst="rect">
            <a:avLst/>
          </a:prstGeom>
          <a:noFill/>
        </p:spPr>
        <p:txBody>
          <a:bodyPr wrap="none" rtlCol="0">
            <a:spAutoFit/>
          </a:bodyPr>
          <a:lstStyle/>
          <a:p>
            <a:r>
              <a:rPr lang="en-US" dirty="0">
                <a:solidFill>
                  <a:srgbClr val="FF0000"/>
                </a:solidFill>
              </a:rPr>
              <a:t>informative name</a:t>
            </a:r>
          </a:p>
        </p:txBody>
      </p:sp>
    </p:spTree>
    <p:extLst>
      <p:ext uri="{BB962C8B-B14F-4D97-AF65-F5344CB8AC3E}">
        <p14:creationId xmlns:p14="http://schemas.microsoft.com/office/powerpoint/2010/main" val="1066609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06945" y="171449"/>
            <a:ext cx="2543175" cy="6515100"/>
          </a:xfrm>
          <a:prstGeom prst="rect">
            <a:avLst/>
          </a:prstGeom>
        </p:spPr>
      </p:pic>
      <p:sp>
        <p:nvSpPr>
          <p:cNvPr id="7" name="Rectangle 6"/>
          <p:cNvSpPr/>
          <p:nvPr/>
        </p:nvSpPr>
        <p:spPr>
          <a:xfrm>
            <a:off x="9874085" y="2753818"/>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927589" y="171449"/>
            <a:ext cx="7277100" cy="6305550"/>
          </a:xfrm>
          <a:prstGeom prst="rect">
            <a:avLst/>
          </a:prstGeom>
        </p:spPr>
      </p:pic>
      <p:sp>
        <p:nvSpPr>
          <p:cNvPr id="11" name="Rectangle 10"/>
          <p:cNvSpPr/>
          <p:nvPr/>
        </p:nvSpPr>
        <p:spPr>
          <a:xfrm>
            <a:off x="2059713" y="654282"/>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105999" y="859961"/>
            <a:ext cx="2325958" cy="369332"/>
          </a:xfrm>
          <a:prstGeom prst="rect">
            <a:avLst/>
          </a:prstGeom>
          <a:noFill/>
        </p:spPr>
        <p:txBody>
          <a:bodyPr wrap="none" rtlCol="0">
            <a:spAutoFit/>
          </a:bodyPr>
          <a:lstStyle/>
          <a:p>
            <a:r>
              <a:rPr lang="en-US" dirty="0">
                <a:solidFill>
                  <a:srgbClr val="FF0000"/>
                </a:solidFill>
              </a:rPr>
              <a:t>= 0.01 of screen height</a:t>
            </a:r>
          </a:p>
        </p:txBody>
      </p:sp>
    </p:spTree>
    <p:extLst>
      <p:ext uri="{BB962C8B-B14F-4D97-AF65-F5344CB8AC3E}">
        <p14:creationId xmlns:p14="http://schemas.microsoft.com/office/powerpoint/2010/main" val="2600881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293926" y="171449"/>
            <a:ext cx="7277100" cy="6324600"/>
          </a:xfrm>
          <a:prstGeom prst="rect">
            <a:avLst/>
          </a:prstGeom>
        </p:spPr>
      </p:pic>
      <p:pic>
        <p:nvPicPr>
          <p:cNvPr id="4" name="Picture 3"/>
          <p:cNvPicPr>
            <a:picLocks noChangeAspect="1"/>
          </p:cNvPicPr>
          <p:nvPr/>
        </p:nvPicPr>
        <p:blipFill>
          <a:blip r:embed="rId3"/>
          <a:stretch>
            <a:fillRect/>
          </a:stretch>
        </p:blipFill>
        <p:spPr>
          <a:xfrm>
            <a:off x="9006945" y="171449"/>
            <a:ext cx="2543175" cy="6515100"/>
          </a:xfrm>
          <a:prstGeom prst="rect">
            <a:avLst/>
          </a:prstGeom>
        </p:spPr>
      </p:pic>
      <p:sp>
        <p:nvSpPr>
          <p:cNvPr id="6" name="Rectangle 5"/>
          <p:cNvSpPr/>
          <p:nvPr/>
        </p:nvSpPr>
        <p:spPr>
          <a:xfrm>
            <a:off x="9874085" y="977771"/>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945182" y="2008243"/>
            <a:ext cx="2385268" cy="369332"/>
          </a:xfrm>
          <a:prstGeom prst="rect">
            <a:avLst/>
          </a:prstGeom>
          <a:noFill/>
        </p:spPr>
        <p:txBody>
          <a:bodyPr wrap="none" rtlCol="0">
            <a:spAutoFit/>
          </a:bodyPr>
          <a:lstStyle/>
          <a:p>
            <a:r>
              <a:rPr lang="en-US" dirty="0">
                <a:solidFill>
                  <a:srgbClr val="FF0000"/>
                </a:solidFill>
              </a:rPr>
              <a:t>Empty = unlimited time</a:t>
            </a:r>
          </a:p>
        </p:txBody>
      </p:sp>
      <p:sp>
        <p:nvSpPr>
          <p:cNvPr id="8" name="Rectangle 7"/>
          <p:cNvSpPr/>
          <p:nvPr/>
        </p:nvSpPr>
        <p:spPr>
          <a:xfrm>
            <a:off x="3123583" y="1890487"/>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886799" y="3247434"/>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768406" y="4366907"/>
            <a:ext cx="1707712" cy="369332"/>
          </a:xfrm>
          <a:prstGeom prst="rect">
            <a:avLst/>
          </a:prstGeom>
          <a:noFill/>
        </p:spPr>
        <p:txBody>
          <a:bodyPr wrap="none" rtlCol="0">
            <a:spAutoFit/>
          </a:bodyPr>
          <a:lstStyle/>
          <a:p>
            <a:r>
              <a:rPr lang="en-US" dirty="0">
                <a:solidFill>
                  <a:srgbClr val="FF0000"/>
                </a:solidFill>
              </a:rPr>
              <a:t>Empty = any key</a:t>
            </a:r>
          </a:p>
        </p:txBody>
      </p:sp>
      <p:sp>
        <p:nvSpPr>
          <p:cNvPr id="11" name="TextBox 10"/>
          <p:cNvSpPr txBox="1"/>
          <p:nvPr/>
        </p:nvSpPr>
        <p:spPr>
          <a:xfrm>
            <a:off x="2671629" y="940836"/>
            <a:ext cx="3007426" cy="369332"/>
          </a:xfrm>
          <a:prstGeom prst="rect">
            <a:avLst/>
          </a:prstGeom>
          <a:noFill/>
        </p:spPr>
        <p:txBody>
          <a:bodyPr wrap="none" rtlCol="0">
            <a:spAutoFit/>
          </a:bodyPr>
          <a:lstStyle/>
          <a:p>
            <a:r>
              <a:rPr lang="en-US" dirty="0">
                <a:solidFill>
                  <a:srgbClr val="FF0000"/>
                </a:solidFill>
              </a:rPr>
              <a:t>Name that you can remember</a:t>
            </a:r>
          </a:p>
        </p:txBody>
      </p:sp>
      <p:sp>
        <p:nvSpPr>
          <p:cNvPr id="12" name="Rectangle 11"/>
          <p:cNvSpPr/>
          <p:nvPr/>
        </p:nvSpPr>
        <p:spPr>
          <a:xfrm>
            <a:off x="1768406" y="735157"/>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227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780798" y="3306178"/>
            <a:ext cx="10277475" cy="1352550"/>
          </a:xfrm>
          <a:prstGeom prst="rect">
            <a:avLst/>
          </a:prstGeom>
        </p:spPr>
      </p:pic>
      <p:sp>
        <p:nvSpPr>
          <p:cNvPr id="8" name="Rectangle 7"/>
          <p:cNvSpPr/>
          <p:nvPr/>
        </p:nvSpPr>
        <p:spPr>
          <a:xfrm>
            <a:off x="6610580" y="3592108"/>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133406" y="4372798"/>
            <a:ext cx="1763240" cy="369332"/>
          </a:xfrm>
          <a:prstGeom prst="rect">
            <a:avLst/>
          </a:prstGeom>
          <a:noFill/>
        </p:spPr>
        <p:txBody>
          <a:bodyPr wrap="none" rtlCol="0">
            <a:spAutoFit/>
          </a:bodyPr>
          <a:lstStyle/>
          <a:p>
            <a:r>
              <a:rPr lang="en-US" dirty="0">
                <a:solidFill>
                  <a:srgbClr val="FF0000"/>
                </a:solidFill>
              </a:rPr>
              <a:t>Start experiment</a:t>
            </a:r>
          </a:p>
        </p:txBody>
      </p:sp>
    </p:spTree>
    <p:extLst>
      <p:ext uri="{BB962C8B-B14F-4D97-AF65-F5344CB8AC3E}">
        <p14:creationId xmlns:p14="http://schemas.microsoft.com/office/powerpoint/2010/main" val="2046016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SRT – part two</a:t>
            </a:r>
          </a:p>
        </p:txBody>
      </p:sp>
      <p:sp>
        <p:nvSpPr>
          <p:cNvPr id="3" name="Text Placeholder 2"/>
          <p:cNvSpPr>
            <a:spLocks noGrp="1"/>
          </p:cNvSpPr>
          <p:nvPr>
            <p:ph type="body" idx="1"/>
          </p:nvPr>
        </p:nvSpPr>
        <p:spPr/>
        <p:txBody>
          <a:bodyPr/>
          <a:lstStyle/>
          <a:p>
            <a:r>
              <a:rPr lang="en-US" dirty="0"/>
              <a:t>Instructions, a dot and a keypress, end</a:t>
            </a:r>
          </a:p>
        </p:txBody>
      </p:sp>
      <p:pic>
        <p:nvPicPr>
          <p:cNvPr id="4" name="Picture 2" descr="Simple Reaction Time">
            <a:extLst>
              <a:ext uri="{FF2B5EF4-FFF2-40B4-BE49-F238E27FC236}">
                <a16:creationId xmlns:a16="http://schemas.microsoft.com/office/drawing/2014/main" id="{558BE074-BEB7-45EA-9383-08A9F2329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3902" y="309516"/>
            <a:ext cx="5837081" cy="391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790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153991" y="492002"/>
            <a:ext cx="4591050" cy="1724025"/>
          </a:xfrm>
          <a:prstGeom prst="rect">
            <a:avLst/>
          </a:prstGeom>
        </p:spPr>
      </p:pic>
      <p:sp>
        <p:nvSpPr>
          <p:cNvPr id="7" name="Rectangle 6"/>
          <p:cNvSpPr/>
          <p:nvPr/>
        </p:nvSpPr>
        <p:spPr>
          <a:xfrm>
            <a:off x="1429599" y="680080"/>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3"/>
          <a:stretch>
            <a:fillRect/>
          </a:stretch>
        </p:blipFill>
        <p:spPr>
          <a:xfrm>
            <a:off x="1182566" y="3800475"/>
            <a:ext cx="4562475" cy="1695450"/>
          </a:xfrm>
          <a:prstGeom prst="rect">
            <a:avLst/>
          </a:prstGeom>
        </p:spPr>
      </p:pic>
      <p:sp>
        <p:nvSpPr>
          <p:cNvPr id="9" name="Rectangle 8"/>
          <p:cNvSpPr/>
          <p:nvPr/>
        </p:nvSpPr>
        <p:spPr>
          <a:xfrm>
            <a:off x="3321489" y="4123578"/>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3565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931618" y="171449"/>
            <a:ext cx="7286625" cy="6353175"/>
          </a:xfrm>
          <a:prstGeom prst="rect">
            <a:avLst/>
          </a:prstGeom>
        </p:spPr>
      </p:pic>
      <p:pic>
        <p:nvPicPr>
          <p:cNvPr id="4" name="Picture 3"/>
          <p:cNvPicPr>
            <a:picLocks noChangeAspect="1"/>
          </p:cNvPicPr>
          <p:nvPr/>
        </p:nvPicPr>
        <p:blipFill>
          <a:blip r:embed="rId3"/>
          <a:stretch>
            <a:fillRect/>
          </a:stretch>
        </p:blipFill>
        <p:spPr>
          <a:xfrm>
            <a:off x="9006945" y="171449"/>
            <a:ext cx="2543175" cy="6515100"/>
          </a:xfrm>
          <a:prstGeom prst="rect">
            <a:avLst/>
          </a:prstGeom>
        </p:spPr>
      </p:pic>
      <p:sp>
        <p:nvSpPr>
          <p:cNvPr id="5" name="Rectangle 4"/>
          <p:cNvSpPr/>
          <p:nvPr/>
        </p:nvSpPr>
        <p:spPr>
          <a:xfrm>
            <a:off x="9177317" y="4875477"/>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234325" y="675685"/>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608856" y="1918331"/>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220751" y="3038654"/>
            <a:ext cx="3019464"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029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06945" y="171449"/>
            <a:ext cx="2543175" cy="6515100"/>
          </a:xfrm>
          <a:prstGeom prst="rect">
            <a:avLst/>
          </a:prstGeom>
        </p:spPr>
      </p:pic>
      <p:sp>
        <p:nvSpPr>
          <p:cNvPr id="5" name="Rectangle 4"/>
          <p:cNvSpPr/>
          <p:nvPr/>
        </p:nvSpPr>
        <p:spPr>
          <a:xfrm>
            <a:off x="9874085" y="977771"/>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1082329" y="276224"/>
            <a:ext cx="7267575" cy="6305550"/>
          </a:xfrm>
          <a:prstGeom prst="rect">
            <a:avLst/>
          </a:prstGeom>
        </p:spPr>
      </p:pic>
      <p:sp>
        <p:nvSpPr>
          <p:cNvPr id="7" name="Rectangle 6"/>
          <p:cNvSpPr/>
          <p:nvPr/>
        </p:nvSpPr>
        <p:spPr>
          <a:xfrm>
            <a:off x="2594809" y="684477"/>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594809" y="3242780"/>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0697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r="71667" b="68333"/>
          <a:stretch/>
        </p:blipFill>
        <p:spPr>
          <a:xfrm>
            <a:off x="578289" y="517266"/>
            <a:ext cx="5181600" cy="3257550"/>
          </a:xfrm>
          <a:prstGeom prst="rect">
            <a:avLst/>
          </a:prstGeom>
        </p:spPr>
      </p:pic>
      <p:sp>
        <p:nvSpPr>
          <p:cNvPr id="5" name="Rectangle 4"/>
          <p:cNvSpPr/>
          <p:nvPr/>
        </p:nvSpPr>
        <p:spPr>
          <a:xfrm>
            <a:off x="2216589" y="1107816"/>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3"/>
          <a:srcRect l="41458" t="40741" r="41459" b="45370"/>
          <a:stretch/>
        </p:blipFill>
        <p:spPr>
          <a:xfrm>
            <a:off x="1314450" y="4819650"/>
            <a:ext cx="3124200" cy="1428750"/>
          </a:xfrm>
          <a:prstGeom prst="rect">
            <a:avLst/>
          </a:prstGeom>
        </p:spPr>
      </p:pic>
      <p:sp>
        <p:nvSpPr>
          <p:cNvPr id="9" name="Rectangle 8"/>
          <p:cNvSpPr/>
          <p:nvPr/>
        </p:nvSpPr>
        <p:spPr>
          <a:xfrm>
            <a:off x="1314450" y="5143680"/>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rotWithShape="1">
          <a:blip r:embed="rId4"/>
          <a:srcRect r="77396" b="72963"/>
          <a:stretch/>
        </p:blipFill>
        <p:spPr>
          <a:xfrm>
            <a:off x="6743700" y="993516"/>
            <a:ext cx="4133850" cy="2781300"/>
          </a:xfrm>
          <a:prstGeom prst="rect">
            <a:avLst/>
          </a:prstGeom>
        </p:spPr>
      </p:pic>
      <p:sp>
        <p:nvSpPr>
          <p:cNvPr id="12" name="Rectangle 11"/>
          <p:cNvSpPr/>
          <p:nvPr/>
        </p:nvSpPr>
        <p:spPr>
          <a:xfrm>
            <a:off x="8406178" y="1755696"/>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rotWithShape="1">
          <a:blip r:embed="rId5"/>
          <a:srcRect t="72963" r="74792" b="7408"/>
          <a:stretch/>
        </p:blipFill>
        <p:spPr>
          <a:xfrm>
            <a:off x="6267450" y="4524375"/>
            <a:ext cx="4610100" cy="2019300"/>
          </a:xfrm>
          <a:prstGeom prst="rect">
            <a:avLst/>
          </a:prstGeom>
        </p:spPr>
      </p:pic>
      <p:sp>
        <p:nvSpPr>
          <p:cNvPr id="14" name="Rectangle 13"/>
          <p:cNvSpPr/>
          <p:nvPr/>
        </p:nvSpPr>
        <p:spPr>
          <a:xfrm>
            <a:off x="7181850" y="5467710"/>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3131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2843" y="914399"/>
            <a:ext cx="5154737" cy="4505322"/>
          </a:xfrm>
          <a:prstGeom prst="rect">
            <a:avLst/>
          </a:prstGeom>
        </p:spPr>
      </p:pic>
      <p:pic>
        <p:nvPicPr>
          <p:cNvPr id="5" name="Picture 4"/>
          <p:cNvPicPr>
            <a:picLocks noChangeAspect="1"/>
          </p:cNvPicPr>
          <p:nvPr/>
        </p:nvPicPr>
        <p:blipFill>
          <a:blip r:embed="rId3"/>
          <a:stretch>
            <a:fillRect/>
          </a:stretch>
        </p:blipFill>
        <p:spPr>
          <a:xfrm>
            <a:off x="6221361" y="914399"/>
            <a:ext cx="5189589" cy="4505322"/>
          </a:xfrm>
          <a:prstGeom prst="rect">
            <a:avLst/>
          </a:prstGeom>
        </p:spPr>
      </p:pic>
      <p:sp>
        <p:nvSpPr>
          <p:cNvPr id="6" name="Rectangle 5"/>
          <p:cNvSpPr/>
          <p:nvPr/>
        </p:nvSpPr>
        <p:spPr>
          <a:xfrm>
            <a:off x="1173773" y="1204727"/>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384789" y="2776715"/>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60590" y="1125595"/>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3654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SRT – part three</a:t>
            </a:r>
          </a:p>
        </p:txBody>
      </p:sp>
      <p:sp>
        <p:nvSpPr>
          <p:cNvPr id="3" name="Text Placeholder 2"/>
          <p:cNvSpPr>
            <a:spLocks noGrp="1"/>
          </p:cNvSpPr>
          <p:nvPr>
            <p:ph type="body" idx="1"/>
          </p:nvPr>
        </p:nvSpPr>
        <p:spPr/>
        <p:txBody>
          <a:bodyPr/>
          <a:lstStyle/>
          <a:p>
            <a:r>
              <a:rPr lang="en-US" dirty="0"/>
              <a:t>Instructions, </a:t>
            </a:r>
            <a:br>
              <a:rPr lang="en-US" dirty="0"/>
            </a:br>
            <a:r>
              <a:rPr lang="en-US" dirty="0"/>
              <a:t>[random ISI, a dot and a keypress] &lt;-repeat this, </a:t>
            </a:r>
            <a:br>
              <a:rPr lang="en-US" dirty="0"/>
            </a:br>
            <a:r>
              <a:rPr lang="en-US" dirty="0"/>
              <a:t>end</a:t>
            </a:r>
          </a:p>
        </p:txBody>
      </p:sp>
      <p:pic>
        <p:nvPicPr>
          <p:cNvPr id="4" name="Picture 2" descr="Simple Reaction Time">
            <a:extLst>
              <a:ext uri="{FF2B5EF4-FFF2-40B4-BE49-F238E27FC236}">
                <a16:creationId xmlns:a16="http://schemas.microsoft.com/office/drawing/2014/main" id="{AAAA683E-7DF5-4729-B106-C02097BA0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3902" y="309516"/>
            <a:ext cx="5837081" cy="391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292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srcRect l="32813" t="35185" r="47708" b="49444"/>
          <a:stretch/>
        </p:blipFill>
        <p:spPr>
          <a:xfrm>
            <a:off x="7658100" y="1962150"/>
            <a:ext cx="3562350" cy="1581150"/>
          </a:xfrm>
          <a:prstGeom prst="rect">
            <a:avLst/>
          </a:prstGeom>
        </p:spPr>
      </p:pic>
      <p:pic>
        <p:nvPicPr>
          <p:cNvPr id="14" name="Picture 13"/>
          <p:cNvPicPr>
            <a:picLocks noChangeAspect="1"/>
          </p:cNvPicPr>
          <p:nvPr/>
        </p:nvPicPr>
        <p:blipFill rotWithShape="1">
          <a:blip r:embed="rId3"/>
          <a:srcRect t="74444" r="69687"/>
          <a:stretch/>
        </p:blipFill>
        <p:spPr>
          <a:xfrm>
            <a:off x="971550" y="914400"/>
            <a:ext cx="5543550" cy="2628900"/>
          </a:xfrm>
          <a:prstGeom prst="rect">
            <a:avLst/>
          </a:prstGeom>
        </p:spPr>
      </p:pic>
    </p:spTree>
    <p:extLst>
      <p:ext uri="{BB962C8B-B14F-4D97-AF65-F5344CB8AC3E}">
        <p14:creationId xmlns:p14="http://schemas.microsoft.com/office/powerpoint/2010/main" val="2444979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82087" y="261937"/>
            <a:ext cx="2447925" cy="6219825"/>
          </a:xfrm>
          <a:prstGeom prst="rect">
            <a:avLst/>
          </a:prstGeom>
        </p:spPr>
      </p:pic>
      <p:sp>
        <p:nvSpPr>
          <p:cNvPr id="5" name="Rectangle 4"/>
          <p:cNvSpPr/>
          <p:nvPr/>
        </p:nvSpPr>
        <p:spPr>
          <a:xfrm>
            <a:off x="10721119" y="4802245"/>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3"/>
          <a:srcRect l="10000" t="1852" r="50520" b="36667"/>
          <a:stretch/>
        </p:blipFill>
        <p:spPr>
          <a:xfrm>
            <a:off x="714375" y="261937"/>
            <a:ext cx="7219950" cy="6324600"/>
          </a:xfrm>
          <a:prstGeom prst="rect">
            <a:avLst/>
          </a:prstGeom>
        </p:spPr>
      </p:pic>
      <p:sp>
        <p:nvSpPr>
          <p:cNvPr id="7" name="Rectangle 6"/>
          <p:cNvSpPr/>
          <p:nvPr/>
        </p:nvSpPr>
        <p:spPr>
          <a:xfrm>
            <a:off x="2062894" y="763645"/>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367819" y="1849495"/>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A4007CC-0345-45EF-90B1-F6E7114CC642}"/>
              </a:ext>
            </a:extLst>
          </p:cNvPr>
          <p:cNvSpPr txBox="1"/>
          <p:nvPr/>
        </p:nvSpPr>
        <p:spPr>
          <a:xfrm>
            <a:off x="3014438" y="2847703"/>
            <a:ext cx="2323841" cy="369332"/>
          </a:xfrm>
          <a:prstGeom prst="rect">
            <a:avLst/>
          </a:prstGeom>
          <a:noFill/>
        </p:spPr>
        <p:txBody>
          <a:bodyPr wrap="none" rtlCol="0">
            <a:spAutoFit/>
          </a:bodyPr>
          <a:lstStyle/>
          <a:p>
            <a:r>
              <a:rPr lang="en-HK" dirty="0">
                <a:solidFill>
                  <a:srgbClr val="FF0000"/>
                </a:solidFill>
              </a:rPr>
              <a:t>$: read as Python code</a:t>
            </a:r>
          </a:p>
        </p:txBody>
      </p:sp>
    </p:spTree>
    <p:extLst>
      <p:ext uri="{BB962C8B-B14F-4D97-AF65-F5344CB8AC3E}">
        <p14:creationId xmlns:p14="http://schemas.microsoft.com/office/powerpoint/2010/main" val="367408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t="73704" r="66354" b="5741"/>
          <a:stretch/>
        </p:blipFill>
        <p:spPr>
          <a:xfrm>
            <a:off x="1047750" y="1028700"/>
            <a:ext cx="6153150" cy="2114550"/>
          </a:xfrm>
          <a:prstGeom prst="rect">
            <a:avLst/>
          </a:prstGeom>
        </p:spPr>
      </p:pic>
      <p:sp>
        <p:nvSpPr>
          <p:cNvPr id="5" name="Rectangle 4"/>
          <p:cNvSpPr/>
          <p:nvPr/>
        </p:nvSpPr>
        <p:spPr>
          <a:xfrm>
            <a:off x="1345548" y="1909757"/>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8022614" y="1876786"/>
            <a:ext cx="2828925" cy="3848100"/>
          </a:xfrm>
          <a:prstGeom prst="rect">
            <a:avLst/>
          </a:prstGeom>
        </p:spPr>
      </p:pic>
      <p:sp>
        <p:nvSpPr>
          <p:cNvPr id="7" name="Rectangle 6"/>
          <p:cNvSpPr/>
          <p:nvPr/>
        </p:nvSpPr>
        <p:spPr>
          <a:xfrm>
            <a:off x="8769186" y="3313776"/>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4"/>
          <a:stretch>
            <a:fillRect/>
          </a:stretch>
        </p:blipFill>
        <p:spPr>
          <a:xfrm>
            <a:off x="1047750" y="4191181"/>
            <a:ext cx="6438900" cy="1905000"/>
          </a:xfrm>
          <a:prstGeom prst="rect">
            <a:avLst/>
          </a:prstGeom>
        </p:spPr>
      </p:pic>
    </p:spTree>
    <p:extLst>
      <p:ext uri="{BB962C8B-B14F-4D97-AF65-F5344CB8AC3E}">
        <p14:creationId xmlns:p14="http://schemas.microsoft.com/office/powerpoint/2010/main" val="3524492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76500" y="328612"/>
            <a:ext cx="7239000" cy="6200775"/>
          </a:xfrm>
          <a:prstGeom prst="rect">
            <a:avLst/>
          </a:prstGeom>
        </p:spPr>
      </p:pic>
      <p:sp>
        <p:nvSpPr>
          <p:cNvPr id="5" name="Rectangle 4"/>
          <p:cNvSpPr/>
          <p:nvPr/>
        </p:nvSpPr>
        <p:spPr>
          <a:xfrm>
            <a:off x="5095996" y="1893456"/>
            <a:ext cx="1000004"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9392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95550" y="309562"/>
            <a:ext cx="7200900" cy="6238875"/>
          </a:xfrm>
          <a:prstGeom prst="rect">
            <a:avLst/>
          </a:prstGeom>
        </p:spPr>
      </p:pic>
      <p:sp>
        <p:nvSpPr>
          <p:cNvPr id="5" name="Rectangle 4"/>
          <p:cNvSpPr/>
          <p:nvPr/>
        </p:nvSpPr>
        <p:spPr>
          <a:xfrm>
            <a:off x="3614004" y="2878194"/>
            <a:ext cx="808893"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072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#1</a:t>
            </a:r>
          </a:p>
        </p:txBody>
      </p:sp>
      <p:sp>
        <p:nvSpPr>
          <p:cNvPr id="3" name="Content Placeholder 2"/>
          <p:cNvSpPr>
            <a:spLocks noGrp="1"/>
          </p:cNvSpPr>
          <p:nvPr>
            <p:ph idx="1"/>
          </p:nvPr>
        </p:nvSpPr>
        <p:spPr/>
        <p:txBody>
          <a:bodyPr/>
          <a:lstStyle/>
          <a:p>
            <a:r>
              <a:rPr lang="en-US" dirty="0"/>
              <a:t>Present something on screen somewhere, for some period of time, and require some responses</a:t>
            </a:r>
          </a:p>
          <a:p>
            <a:pPr lvl="1"/>
            <a:r>
              <a:rPr lang="en-US" dirty="0"/>
              <a:t>Stimulus:</a:t>
            </a:r>
          </a:p>
          <a:p>
            <a:pPr lvl="2"/>
            <a:r>
              <a:rPr lang="en-US" dirty="0"/>
              <a:t>Text</a:t>
            </a:r>
          </a:p>
          <a:p>
            <a:pPr lvl="2"/>
            <a:r>
              <a:rPr lang="en-US" dirty="0"/>
              <a:t>Image</a:t>
            </a:r>
          </a:p>
          <a:p>
            <a:pPr lvl="2"/>
            <a:r>
              <a:rPr lang="en-US" dirty="0"/>
              <a:t>Video</a:t>
            </a:r>
          </a:p>
          <a:p>
            <a:pPr lvl="1"/>
            <a:r>
              <a:rPr lang="en-US" dirty="0"/>
              <a:t>Response:</a:t>
            </a:r>
          </a:p>
          <a:p>
            <a:pPr lvl="2"/>
            <a:r>
              <a:rPr lang="en-US" dirty="0"/>
              <a:t>Keypress</a:t>
            </a:r>
          </a:p>
          <a:p>
            <a:pPr lvl="2"/>
            <a:r>
              <a:rPr lang="en-US" dirty="0"/>
              <a:t>Mouse click</a:t>
            </a:r>
          </a:p>
          <a:p>
            <a:pPr lvl="2"/>
            <a:r>
              <a:rPr lang="en-US" dirty="0"/>
              <a:t>Slider</a:t>
            </a:r>
          </a:p>
        </p:txBody>
      </p:sp>
    </p:spTree>
    <p:extLst>
      <p:ext uri="{BB962C8B-B14F-4D97-AF65-F5344CB8AC3E}">
        <p14:creationId xmlns:p14="http://schemas.microsoft.com/office/powerpoint/2010/main" val="2883949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CRT</a:t>
            </a:r>
          </a:p>
        </p:txBody>
      </p:sp>
      <p:sp>
        <p:nvSpPr>
          <p:cNvPr id="3" name="Text Placeholder 2"/>
          <p:cNvSpPr>
            <a:spLocks noGrp="1"/>
          </p:cNvSpPr>
          <p:nvPr>
            <p:ph type="body" idx="1"/>
          </p:nvPr>
        </p:nvSpPr>
        <p:spPr/>
        <p:txBody>
          <a:bodyPr/>
          <a:lstStyle/>
          <a:p>
            <a:r>
              <a:rPr lang="en-US" dirty="0"/>
              <a:t>Instructions, </a:t>
            </a:r>
            <a:br>
              <a:rPr lang="en-US" dirty="0"/>
            </a:br>
            <a:r>
              <a:rPr lang="en-US" dirty="0"/>
              <a:t>[random ISI, either stimulus A or B, and a keypress] &lt;-repeat this, </a:t>
            </a:r>
            <a:br>
              <a:rPr lang="en-US" dirty="0"/>
            </a:br>
            <a:r>
              <a:rPr lang="en-US" dirty="0"/>
              <a:t>end</a:t>
            </a:r>
          </a:p>
        </p:txBody>
      </p:sp>
      <p:pic>
        <p:nvPicPr>
          <p:cNvPr id="1026" name="Picture 2">
            <a:extLst>
              <a:ext uri="{FF2B5EF4-FFF2-40B4-BE49-F238E27FC236}">
                <a16:creationId xmlns:a16="http://schemas.microsoft.com/office/drawing/2014/main" id="{63F9793A-364A-42D9-847D-BDFC6CC8B8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4391" y="304719"/>
            <a:ext cx="5803803" cy="39624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ECA11C9-3907-439A-8C90-4D9DC2E28FED}"/>
              </a:ext>
            </a:extLst>
          </p:cNvPr>
          <p:cNvSpPr txBox="1"/>
          <p:nvPr/>
        </p:nvSpPr>
        <p:spPr>
          <a:xfrm>
            <a:off x="5991496" y="6116638"/>
            <a:ext cx="6096000" cy="923330"/>
          </a:xfrm>
          <a:prstGeom prst="rect">
            <a:avLst/>
          </a:prstGeom>
          <a:noFill/>
        </p:spPr>
        <p:txBody>
          <a:bodyPr wrap="square">
            <a:spAutoFit/>
          </a:bodyPr>
          <a:lstStyle/>
          <a:p>
            <a:r>
              <a:rPr lang="en-HK" dirty="0">
                <a:hlinkClick r:id="rId3"/>
              </a:rPr>
              <a:t>https://www.neurobs.com/manager/content/docs/psychlab101_experiments/Choice%20Reaction%20Time/description.html</a:t>
            </a:r>
            <a:endParaRPr lang="en-HK" dirty="0"/>
          </a:p>
          <a:p>
            <a:endParaRPr lang="en-HK" dirty="0"/>
          </a:p>
        </p:txBody>
      </p:sp>
    </p:spTree>
    <p:extLst>
      <p:ext uri="{BB962C8B-B14F-4D97-AF65-F5344CB8AC3E}">
        <p14:creationId xmlns:p14="http://schemas.microsoft.com/office/powerpoint/2010/main" val="3790439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48060" y="380755"/>
            <a:ext cx="7181850" cy="6229350"/>
          </a:xfrm>
          <a:prstGeom prst="rect">
            <a:avLst/>
          </a:prstGeom>
        </p:spPr>
      </p:pic>
      <p:sp>
        <p:nvSpPr>
          <p:cNvPr id="5" name="Rectangle 4"/>
          <p:cNvSpPr/>
          <p:nvPr/>
        </p:nvSpPr>
        <p:spPr>
          <a:xfrm>
            <a:off x="4045804" y="3335394"/>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1390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90878" y="563074"/>
            <a:ext cx="4171950" cy="3305175"/>
          </a:xfrm>
          <a:prstGeom prst="rect">
            <a:avLst/>
          </a:prstGeom>
        </p:spPr>
      </p:pic>
      <p:sp>
        <p:nvSpPr>
          <p:cNvPr id="11" name="Rectangle 10"/>
          <p:cNvSpPr/>
          <p:nvPr/>
        </p:nvSpPr>
        <p:spPr>
          <a:xfrm>
            <a:off x="40480" y="2437049"/>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222291" y="4008838"/>
            <a:ext cx="1508170" cy="369332"/>
          </a:xfrm>
          <a:prstGeom prst="rect">
            <a:avLst/>
          </a:prstGeom>
          <a:noFill/>
        </p:spPr>
        <p:txBody>
          <a:bodyPr wrap="none" rtlCol="0">
            <a:spAutoFit/>
          </a:bodyPr>
          <a:lstStyle/>
          <a:p>
            <a:r>
              <a:rPr lang="en-US" dirty="0">
                <a:solidFill>
                  <a:srgbClr val="FF0000"/>
                </a:solidFill>
              </a:rPr>
              <a:t>conditions.csv</a:t>
            </a:r>
          </a:p>
        </p:txBody>
      </p:sp>
      <p:pic>
        <p:nvPicPr>
          <p:cNvPr id="15" name="Picture 14"/>
          <p:cNvPicPr>
            <a:picLocks noChangeAspect="1"/>
          </p:cNvPicPr>
          <p:nvPr/>
        </p:nvPicPr>
        <p:blipFill rotWithShape="1">
          <a:blip r:embed="rId3"/>
          <a:srcRect l="36875" t="740" r="43542" b="60247"/>
          <a:stretch/>
        </p:blipFill>
        <p:spPr>
          <a:xfrm>
            <a:off x="5829300" y="609168"/>
            <a:ext cx="3581400" cy="4013200"/>
          </a:xfrm>
          <a:prstGeom prst="rect">
            <a:avLst/>
          </a:prstGeom>
        </p:spPr>
      </p:pic>
    </p:spTree>
    <p:extLst>
      <p:ext uri="{BB962C8B-B14F-4D97-AF65-F5344CB8AC3E}">
        <p14:creationId xmlns:p14="http://schemas.microsoft.com/office/powerpoint/2010/main" val="1915351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36389" t="865" r="21667" b="34444"/>
          <a:stretch/>
        </p:blipFill>
        <p:spPr>
          <a:xfrm>
            <a:off x="3187700" y="510860"/>
            <a:ext cx="6350000" cy="5508940"/>
          </a:xfrm>
          <a:prstGeom prst="rect">
            <a:avLst/>
          </a:prstGeom>
        </p:spPr>
      </p:pic>
      <p:sp>
        <p:nvSpPr>
          <p:cNvPr id="5" name="Rectangle 4"/>
          <p:cNvSpPr/>
          <p:nvPr/>
        </p:nvSpPr>
        <p:spPr>
          <a:xfrm>
            <a:off x="4155280" y="2703749"/>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787480" y="3897549"/>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437980" y="1814749"/>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0844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Simon task</a:t>
            </a:r>
          </a:p>
        </p:txBody>
      </p:sp>
      <p:sp>
        <p:nvSpPr>
          <p:cNvPr id="3" name="Text Placeholder 2"/>
          <p:cNvSpPr>
            <a:spLocks noGrp="1"/>
          </p:cNvSpPr>
          <p:nvPr>
            <p:ph type="body" idx="1"/>
          </p:nvPr>
        </p:nvSpPr>
        <p:spPr/>
        <p:txBody>
          <a:bodyPr/>
          <a:lstStyle/>
          <a:p>
            <a:r>
              <a:rPr lang="en-US" dirty="0"/>
              <a:t>Instructions, </a:t>
            </a:r>
            <a:br>
              <a:rPr lang="en-US" dirty="0"/>
            </a:br>
            <a:r>
              <a:rPr lang="en-US" dirty="0"/>
              <a:t>[random ISI, either stimulus “left” or “right” on either left or right, and a keypress] &lt;-repeat, </a:t>
            </a:r>
            <a:br>
              <a:rPr lang="en-US" dirty="0"/>
            </a:br>
            <a:r>
              <a:rPr lang="en-US" dirty="0"/>
              <a:t>end</a:t>
            </a:r>
          </a:p>
        </p:txBody>
      </p:sp>
      <p:sp>
        <p:nvSpPr>
          <p:cNvPr id="10" name="TextBox 9">
            <a:extLst>
              <a:ext uri="{FF2B5EF4-FFF2-40B4-BE49-F238E27FC236}">
                <a16:creationId xmlns:a16="http://schemas.microsoft.com/office/drawing/2014/main" id="{8099A00C-599E-4409-8DBB-5E79014B0733}"/>
              </a:ext>
            </a:extLst>
          </p:cNvPr>
          <p:cNvSpPr txBox="1"/>
          <p:nvPr/>
        </p:nvSpPr>
        <p:spPr>
          <a:xfrm>
            <a:off x="3117669" y="6211669"/>
            <a:ext cx="9144000" cy="646331"/>
          </a:xfrm>
          <a:prstGeom prst="rect">
            <a:avLst/>
          </a:prstGeom>
          <a:noFill/>
        </p:spPr>
        <p:txBody>
          <a:bodyPr wrap="square">
            <a:spAutoFit/>
          </a:bodyPr>
          <a:lstStyle/>
          <a:p>
            <a:r>
              <a:rPr lang="en-HK" sz="1200" dirty="0">
                <a:effectLst/>
              </a:rPr>
              <a:t>Jokinen, H., </a:t>
            </a:r>
            <a:r>
              <a:rPr lang="en-HK" sz="1200" dirty="0" err="1">
                <a:effectLst/>
              </a:rPr>
              <a:t>Laakso</a:t>
            </a:r>
            <a:r>
              <a:rPr lang="en-HK" sz="1200" dirty="0">
                <a:effectLst/>
              </a:rPr>
              <a:t>, H. M., </a:t>
            </a:r>
            <a:r>
              <a:rPr lang="en-HK" sz="1200" dirty="0" err="1">
                <a:effectLst/>
              </a:rPr>
              <a:t>Arola</a:t>
            </a:r>
            <a:r>
              <a:rPr lang="en-HK" sz="1200" dirty="0">
                <a:effectLst/>
              </a:rPr>
              <a:t>, A., </a:t>
            </a:r>
            <a:r>
              <a:rPr lang="en-HK" sz="1200" dirty="0" err="1">
                <a:effectLst/>
              </a:rPr>
              <a:t>Paajanen</a:t>
            </a:r>
            <a:r>
              <a:rPr lang="en-HK" sz="1200" dirty="0">
                <a:effectLst/>
              </a:rPr>
              <a:t>, T. I., </a:t>
            </a:r>
            <a:r>
              <a:rPr lang="en-HK" sz="1200" dirty="0" err="1">
                <a:effectLst/>
              </a:rPr>
              <a:t>Virkkala</a:t>
            </a:r>
            <a:r>
              <a:rPr lang="en-HK" sz="1200" dirty="0">
                <a:effectLst/>
              </a:rPr>
              <a:t>, J., </a:t>
            </a:r>
            <a:r>
              <a:rPr lang="en-HK" sz="1200" dirty="0" err="1">
                <a:effectLst/>
              </a:rPr>
              <a:t>Särkämö</a:t>
            </a:r>
            <a:r>
              <a:rPr lang="en-HK" sz="1200" dirty="0">
                <a:effectLst/>
              </a:rPr>
              <a:t>, T., </a:t>
            </a:r>
            <a:r>
              <a:rPr lang="en-HK" sz="1200" dirty="0" err="1">
                <a:effectLst/>
              </a:rPr>
              <a:t>Makkonen</a:t>
            </a:r>
            <a:r>
              <a:rPr lang="en-HK" sz="1200" dirty="0">
                <a:effectLst/>
              </a:rPr>
              <a:t>, T., </a:t>
            </a:r>
            <a:r>
              <a:rPr lang="en-HK" sz="1200" dirty="0" err="1">
                <a:effectLst/>
              </a:rPr>
              <a:t>Kyläheiko</a:t>
            </a:r>
            <a:r>
              <a:rPr lang="en-HK" sz="1200" dirty="0">
                <a:effectLst/>
              </a:rPr>
              <a:t>, I., </a:t>
            </a:r>
            <a:r>
              <a:rPr lang="en-HK" sz="1200" dirty="0" err="1">
                <a:effectLst/>
              </a:rPr>
              <a:t>Heinonen</a:t>
            </a:r>
            <a:r>
              <a:rPr lang="en-HK" sz="1200" dirty="0">
                <a:effectLst/>
              </a:rPr>
              <a:t>, H., </a:t>
            </a:r>
            <a:r>
              <a:rPr lang="en-HK" sz="1200" dirty="0" err="1">
                <a:effectLst/>
              </a:rPr>
              <a:t>Pitkänen</a:t>
            </a:r>
            <a:r>
              <a:rPr lang="en-HK" sz="1200" dirty="0">
                <a:effectLst/>
              </a:rPr>
              <a:t>, J., </a:t>
            </a:r>
            <a:r>
              <a:rPr lang="en-HK" sz="1200" dirty="0" err="1">
                <a:effectLst/>
              </a:rPr>
              <a:t>Korvenoja</a:t>
            </a:r>
            <a:r>
              <a:rPr lang="en-HK" sz="1200" dirty="0">
                <a:effectLst/>
              </a:rPr>
              <a:t>, A., &amp; </a:t>
            </a:r>
            <a:r>
              <a:rPr lang="en-HK" sz="1200" dirty="0" err="1">
                <a:effectLst/>
              </a:rPr>
              <a:t>Melkas</a:t>
            </a:r>
            <a:r>
              <a:rPr lang="en-HK" sz="1200" dirty="0">
                <a:effectLst/>
              </a:rPr>
              <a:t>, S. (2025). Executive functions and processing speed in covert cerebral small vessel disease. </a:t>
            </a:r>
            <a:r>
              <a:rPr lang="en-HK" sz="1200" i="1" dirty="0">
                <a:effectLst/>
              </a:rPr>
              <a:t>European Journal of Neurology</a:t>
            </a:r>
            <a:r>
              <a:rPr lang="en-HK" sz="1200" dirty="0">
                <a:effectLst/>
              </a:rPr>
              <a:t>, </a:t>
            </a:r>
            <a:r>
              <a:rPr lang="en-HK" sz="1200" i="1" dirty="0">
                <a:effectLst/>
              </a:rPr>
              <a:t>32</a:t>
            </a:r>
            <a:r>
              <a:rPr lang="en-HK" sz="1200" dirty="0">
                <a:effectLst/>
              </a:rPr>
              <a:t>(1), e16533. </a:t>
            </a:r>
            <a:r>
              <a:rPr lang="en-HK" sz="1200" dirty="0">
                <a:effectLst/>
                <a:hlinkClick r:id="rId2"/>
              </a:rPr>
              <a:t>https://doi.org/10.1111/ene.16533</a:t>
            </a:r>
            <a:endParaRPr lang="en-HK" sz="1200" dirty="0">
              <a:effectLst/>
            </a:endParaRPr>
          </a:p>
        </p:txBody>
      </p:sp>
      <p:pic>
        <p:nvPicPr>
          <p:cNvPr id="2050" name="Picture 2" descr="The Simon task is a computer‐based measure of response inhibition and interference conflict resolution. A blue or red square is presented either on the left or the right side of the screen. The subjects are asked to respond by pressing the right button to a red square and the left button to a blue square. In congruent trials the square is on the same side as the expected response and in incongruent trials it is on the opposite side.">
            <a:extLst>
              <a:ext uri="{FF2B5EF4-FFF2-40B4-BE49-F238E27FC236}">
                <a16:creationId xmlns:a16="http://schemas.microsoft.com/office/drawing/2014/main" id="{85F4167D-1BBC-44D1-B5DF-9A7DA939C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6926" y="476275"/>
            <a:ext cx="4548069" cy="3782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643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0E29FE4-A328-4A2F-91D0-205759B9BB05}"/>
              </a:ext>
            </a:extLst>
          </p:cNvPr>
          <p:cNvGraphicFramePr>
            <a:graphicFrameLocks noGrp="1"/>
          </p:cNvGraphicFramePr>
          <p:nvPr>
            <p:extLst>
              <p:ext uri="{D42A27DB-BD31-4B8C-83A1-F6EECF244321}">
                <p14:modId xmlns:p14="http://schemas.microsoft.com/office/powerpoint/2010/main" val="1756208230"/>
              </p:ext>
            </p:extLst>
          </p:nvPr>
        </p:nvGraphicFramePr>
        <p:xfrm>
          <a:off x="464458" y="4276447"/>
          <a:ext cx="3959496" cy="1850814"/>
        </p:xfrm>
        <a:graphic>
          <a:graphicData uri="http://schemas.openxmlformats.org/drawingml/2006/table">
            <a:tbl>
              <a:tblPr firstRow="1" bandRow="1">
                <a:tableStyleId>{5940675A-B579-460E-94D1-54222C63F5DA}</a:tableStyleId>
              </a:tblPr>
              <a:tblGrid>
                <a:gridCol w="1319832">
                  <a:extLst>
                    <a:ext uri="{9D8B030D-6E8A-4147-A177-3AD203B41FA5}">
                      <a16:colId xmlns:a16="http://schemas.microsoft.com/office/drawing/2014/main" val="2326244868"/>
                    </a:ext>
                  </a:extLst>
                </a:gridCol>
                <a:gridCol w="1319832">
                  <a:extLst>
                    <a:ext uri="{9D8B030D-6E8A-4147-A177-3AD203B41FA5}">
                      <a16:colId xmlns:a16="http://schemas.microsoft.com/office/drawing/2014/main" val="1423674038"/>
                    </a:ext>
                  </a:extLst>
                </a:gridCol>
                <a:gridCol w="1319832">
                  <a:extLst>
                    <a:ext uri="{9D8B030D-6E8A-4147-A177-3AD203B41FA5}">
                      <a16:colId xmlns:a16="http://schemas.microsoft.com/office/drawing/2014/main" val="1266557706"/>
                    </a:ext>
                  </a:extLst>
                </a:gridCol>
              </a:tblGrid>
              <a:tr h="370840">
                <a:tc>
                  <a:txBody>
                    <a:bodyPr/>
                    <a:lstStyle/>
                    <a:p>
                      <a:endParaRPr lang="en-US" dirty="0"/>
                    </a:p>
                  </a:txBody>
                  <a:tcPr/>
                </a:tc>
                <a:tc>
                  <a:txBody>
                    <a:bodyPr/>
                    <a:lstStyle/>
                    <a:p>
                      <a:r>
                        <a:rPr lang="en-US" dirty="0"/>
                        <a:t>Text</a:t>
                      </a:r>
                    </a:p>
                  </a:txBody>
                  <a:tcPr/>
                </a:tc>
                <a:tc>
                  <a:txBody>
                    <a:bodyPr/>
                    <a:lstStyle/>
                    <a:p>
                      <a:r>
                        <a:rPr lang="en-US" dirty="0"/>
                        <a:t>Position</a:t>
                      </a:r>
                    </a:p>
                  </a:txBody>
                  <a:tcPr/>
                </a:tc>
                <a:extLst>
                  <a:ext uri="{0D108BD9-81ED-4DB2-BD59-A6C34878D82A}">
                    <a16:rowId xmlns:a16="http://schemas.microsoft.com/office/drawing/2014/main" val="803760463"/>
                  </a:ext>
                </a:extLst>
              </a:tr>
              <a:tr h="370840">
                <a:tc>
                  <a:txBody>
                    <a:bodyPr/>
                    <a:lstStyle/>
                    <a:p>
                      <a:r>
                        <a:rPr lang="en-US" dirty="0"/>
                        <a:t>Condition</a:t>
                      </a:r>
                      <a:r>
                        <a:rPr lang="en-US" baseline="0" dirty="0"/>
                        <a:t> 1</a:t>
                      </a:r>
                      <a:endParaRPr lang="en-US" dirty="0"/>
                    </a:p>
                  </a:txBody>
                  <a:tcPr/>
                </a:tc>
                <a:tc>
                  <a:txBody>
                    <a:bodyPr/>
                    <a:lstStyle/>
                    <a:p>
                      <a:r>
                        <a:rPr lang="en-US" dirty="0"/>
                        <a:t>Left</a:t>
                      </a:r>
                    </a:p>
                  </a:txBody>
                  <a:tcPr/>
                </a:tc>
                <a:tc>
                  <a:txBody>
                    <a:bodyPr/>
                    <a:lstStyle/>
                    <a:p>
                      <a:r>
                        <a:rPr lang="en-US" dirty="0"/>
                        <a:t>Left</a:t>
                      </a:r>
                    </a:p>
                  </a:txBody>
                  <a:tcPr/>
                </a:tc>
                <a:extLst>
                  <a:ext uri="{0D108BD9-81ED-4DB2-BD59-A6C34878D82A}">
                    <a16:rowId xmlns:a16="http://schemas.microsoft.com/office/drawing/2014/main" val="1130707782"/>
                  </a:ext>
                </a:extLst>
              </a:tr>
              <a:tr h="367454">
                <a:tc>
                  <a:txBody>
                    <a:bodyPr/>
                    <a:lstStyle/>
                    <a:p>
                      <a:r>
                        <a:rPr lang="en-US" dirty="0"/>
                        <a:t>Condition</a:t>
                      </a:r>
                      <a:r>
                        <a:rPr lang="en-US" baseline="0" dirty="0"/>
                        <a:t> 2</a:t>
                      </a:r>
                      <a:endParaRPr lang="en-US" dirty="0"/>
                    </a:p>
                  </a:txBody>
                  <a:tcPr/>
                </a:tc>
                <a:tc>
                  <a:txBody>
                    <a:bodyPr/>
                    <a:lstStyle/>
                    <a:p>
                      <a:r>
                        <a:rPr lang="en-US" dirty="0"/>
                        <a:t>Right</a:t>
                      </a:r>
                    </a:p>
                  </a:txBody>
                  <a:tcPr/>
                </a:tc>
                <a:tc>
                  <a:txBody>
                    <a:bodyPr/>
                    <a:lstStyle/>
                    <a:p>
                      <a:r>
                        <a:rPr lang="en-US" dirty="0"/>
                        <a:t>Left</a:t>
                      </a:r>
                    </a:p>
                  </a:txBody>
                  <a:tcPr/>
                </a:tc>
                <a:extLst>
                  <a:ext uri="{0D108BD9-81ED-4DB2-BD59-A6C34878D82A}">
                    <a16:rowId xmlns:a16="http://schemas.microsoft.com/office/drawing/2014/main" val="132989182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Condition</a:t>
                      </a:r>
                      <a:r>
                        <a:rPr lang="en-US" baseline="0" dirty="0"/>
                        <a:t> 3</a:t>
                      </a:r>
                      <a:endParaRPr lang="en-US" dirty="0"/>
                    </a:p>
                  </a:txBody>
                  <a:tcPr/>
                </a:tc>
                <a:tc>
                  <a:txBody>
                    <a:bodyPr/>
                    <a:lstStyle/>
                    <a:p>
                      <a:r>
                        <a:rPr lang="en-US" dirty="0"/>
                        <a:t>Left</a:t>
                      </a:r>
                    </a:p>
                  </a:txBody>
                  <a:tcPr/>
                </a:tc>
                <a:tc>
                  <a:txBody>
                    <a:bodyPr/>
                    <a:lstStyle/>
                    <a:p>
                      <a:r>
                        <a:rPr lang="en-US" dirty="0"/>
                        <a:t>Right</a:t>
                      </a:r>
                    </a:p>
                  </a:txBody>
                  <a:tcPr/>
                </a:tc>
                <a:extLst>
                  <a:ext uri="{0D108BD9-81ED-4DB2-BD59-A6C34878D82A}">
                    <a16:rowId xmlns:a16="http://schemas.microsoft.com/office/drawing/2014/main" val="379243783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Condition</a:t>
                      </a:r>
                      <a:r>
                        <a:rPr lang="en-US" baseline="0" dirty="0"/>
                        <a:t> 4</a:t>
                      </a:r>
                      <a:endParaRPr lang="en-US" dirty="0"/>
                    </a:p>
                  </a:txBody>
                  <a:tcPr/>
                </a:tc>
                <a:tc>
                  <a:txBody>
                    <a:bodyPr/>
                    <a:lstStyle/>
                    <a:p>
                      <a:r>
                        <a:rPr lang="en-US" dirty="0"/>
                        <a:t>Right</a:t>
                      </a:r>
                    </a:p>
                  </a:txBody>
                  <a:tcPr/>
                </a:tc>
                <a:tc>
                  <a:txBody>
                    <a:bodyPr/>
                    <a:lstStyle/>
                    <a:p>
                      <a:r>
                        <a:rPr lang="en-US" dirty="0"/>
                        <a:t>Right</a:t>
                      </a:r>
                    </a:p>
                  </a:txBody>
                  <a:tcPr/>
                </a:tc>
                <a:extLst>
                  <a:ext uri="{0D108BD9-81ED-4DB2-BD59-A6C34878D82A}">
                    <a16:rowId xmlns:a16="http://schemas.microsoft.com/office/drawing/2014/main" val="2878969780"/>
                  </a:ext>
                </a:extLst>
              </a:tr>
            </a:tbl>
          </a:graphicData>
        </a:graphic>
      </p:graphicFrame>
      <p:pic>
        <p:nvPicPr>
          <p:cNvPr id="9" name="Picture 8">
            <a:extLst>
              <a:ext uri="{FF2B5EF4-FFF2-40B4-BE49-F238E27FC236}">
                <a16:creationId xmlns:a16="http://schemas.microsoft.com/office/drawing/2014/main" id="{E0842EAE-2F4C-C38D-842A-BD2CB1BC5080}"/>
              </a:ext>
            </a:extLst>
          </p:cNvPr>
          <p:cNvPicPr>
            <a:picLocks noChangeAspect="1"/>
          </p:cNvPicPr>
          <p:nvPr/>
        </p:nvPicPr>
        <p:blipFill>
          <a:blip r:embed="rId2"/>
          <a:stretch>
            <a:fillRect/>
          </a:stretch>
        </p:blipFill>
        <p:spPr>
          <a:xfrm>
            <a:off x="5431764" y="354009"/>
            <a:ext cx="6147216" cy="4683326"/>
          </a:xfrm>
          <a:prstGeom prst="rect">
            <a:avLst/>
          </a:prstGeom>
        </p:spPr>
      </p:pic>
      <p:sp>
        <p:nvSpPr>
          <p:cNvPr id="11" name="TextBox 10">
            <a:extLst>
              <a:ext uri="{FF2B5EF4-FFF2-40B4-BE49-F238E27FC236}">
                <a16:creationId xmlns:a16="http://schemas.microsoft.com/office/drawing/2014/main" id="{13934001-DF76-4509-9578-9E911EA27849}"/>
              </a:ext>
            </a:extLst>
          </p:cNvPr>
          <p:cNvSpPr txBox="1"/>
          <p:nvPr/>
        </p:nvSpPr>
        <p:spPr>
          <a:xfrm>
            <a:off x="5962468" y="6127261"/>
            <a:ext cx="6096000" cy="646331"/>
          </a:xfrm>
          <a:prstGeom prst="rect">
            <a:avLst/>
          </a:prstGeom>
          <a:noFill/>
        </p:spPr>
        <p:txBody>
          <a:bodyPr wrap="square">
            <a:spAutoFit/>
          </a:bodyPr>
          <a:lstStyle/>
          <a:p>
            <a:r>
              <a:rPr lang="en-US" dirty="0"/>
              <a:t>Peirce, J., Hirst, R., &amp; MacAskill, M. (2022). </a:t>
            </a:r>
            <a:r>
              <a:rPr lang="en-US" i="1" dirty="0"/>
              <a:t>Building experiments in </a:t>
            </a:r>
            <a:r>
              <a:rPr lang="en-US" i="1" dirty="0" err="1"/>
              <a:t>PsychoPy</a:t>
            </a:r>
            <a:r>
              <a:rPr lang="en-US" dirty="0"/>
              <a:t> (2nd ed.). Sage Publications.</a:t>
            </a:r>
            <a:endParaRPr lang="en-US" dirty="0">
              <a:effectLst/>
            </a:endParaRPr>
          </a:p>
        </p:txBody>
      </p:sp>
      <p:pic>
        <p:nvPicPr>
          <p:cNvPr id="2" name="Picture 1"/>
          <p:cNvPicPr>
            <a:picLocks noChangeAspect="1"/>
          </p:cNvPicPr>
          <p:nvPr/>
        </p:nvPicPr>
        <p:blipFill>
          <a:blip r:embed="rId3"/>
          <a:stretch>
            <a:fillRect/>
          </a:stretch>
        </p:blipFill>
        <p:spPr>
          <a:xfrm>
            <a:off x="1108845" y="901065"/>
            <a:ext cx="2759595" cy="2416900"/>
          </a:xfrm>
          <a:prstGeom prst="rect">
            <a:avLst/>
          </a:prstGeom>
        </p:spPr>
      </p:pic>
    </p:spTree>
    <p:extLst>
      <p:ext uri="{BB962C8B-B14F-4D97-AF65-F5344CB8AC3E}">
        <p14:creationId xmlns:p14="http://schemas.microsoft.com/office/powerpoint/2010/main" val="4018956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C36BE8-F025-4001-B0F6-365331505D74}"/>
              </a:ext>
            </a:extLst>
          </p:cNvPr>
          <p:cNvPicPr>
            <a:picLocks noChangeAspect="1"/>
          </p:cNvPicPr>
          <p:nvPr/>
        </p:nvPicPr>
        <p:blipFill rotWithShape="1">
          <a:blip r:embed="rId2"/>
          <a:srcRect l="36458" t="1728" r="22569" b="34568"/>
          <a:stretch/>
        </p:blipFill>
        <p:spPr>
          <a:xfrm>
            <a:off x="3067050" y="852659"/>
            <a:ext cx="6057900" cy="5298096"/>
          </a:xfrm>
          <a:prstGeom prst="rect">
            <a:avLst/>
          </a:prstGeom>
        </p:spPr>
      </p:pic>
      <p:sp>
        <p:nvSpPr>
          <p:cNvPr id="5" name="Rectangle 4">
            <a:extLst>
              <a:ext uri="{FF2B5EF4-FFF2-40B4-BE49-F238E27FC236}">
                <a16:creationId xmlns:a16="http://schemas.microsoft.com/office/drawing/2014/main" id="{962BB1A9-9A5E-4B24-8EED-A3FB9C203EC8}"/>
              </a:ext>
            </a:extLst>
          </p:cNvPr>
          <p:cNvSpPr/>
          <p:nvPr/>
        </p:nvSpPr>
        <p:spPr>
          <a:xfrm>
            <a:off x="7398361" y="1424314"/>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D939407-22C2-4831-ABC8-9A4CA097D531}"/>
              </a:ext>
            </a:extLst>
          </p:cNvPr>
          <p:cNvSpPr/>
          <p:nvPr/>
        </p:nvSpPr>
        <p:spPr>
          <a:xfrm>
            <a:off x="3923641" y="1424314"/>
            <a:ext cx="860131" cy="2738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5356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16387" y="2151062"/>
            <a:ext cx="3781425" cy="2581275"/>
          </a:xfrm>
          <a:prstGeom prst="rect">
            <a:avLst/>
          </a:prstGeom>
        </p:spPr>
      </p:pic>
    </p:spTree>
    <p:extLst>
      <p:ext uri="{BB962C8B-B14F-4D97-AF65-F5344CB8AC3E}">
        <p14:creationId xmlns:p14="http://schemas.microsoft.com/office/powerpoint/2010/main" val="12218123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#2</a:t>
            </a:r>
          </a:p>
        </p:txBody>
      </p:sp>
      <p:sp>
        <p:nvSpPr>
          <p:cNvPr id="3" name="Content Placeholder 2"/>
          <p:cNvSpPr>
            <a:spLocks noGrp="1"/>
          </p:cNvSpPr>
          <p:nvPr>
            <p:ph idx="1"/>
          </p:nvPr>
        </p:nvSpPr>
        <p:spPr/>
        <p:txBody>
          <a:bodyPr/>
          <a:lstStyle/>
          <a:p>
            <a:r>
              <a:rPr lang="en-US" dirty="0"/>
              <a:t>Present something on screen somewhere, for some period of time, and require some responses, with different conditions</a:t>
            </a:r>
          </a:p>
          <a:p>
            <a:pPr lvl="1"/>
            <a:r>
              <a:rPr lang="en-US" dirty="0"/>
              <a:t>Oddball task</a:t>
            </a:r>
          </a:p>
          <a:p>
            <a:pPr lvl="1"/>
            <a:r>
              <a:rPr lang="en-US" dirty="0"/>
              <a:t>Go/No-Go Task</a:t>
            </a:r>
          </a:p>
          <a:p>
            <a:pPr lvl="1"/>
            <a:r>
              <a:rPr lang="en-US" dirty="0"/>
              <a:t>Flanker task?</a:t>
            </a:r>
          </a:p>
          <a:p>
            <a:pPr lvl="1"/>
            <a:r>
              <a:rPr lang="en-US" dirty="0"/>
              <a:t>Stroop task?</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1089705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a:t>
            </a:r>
          </a:p>
        </p:txBody>
      </p:sp>
    </p:spTree>
    <p:extLst>
      <p:ext uri="{BB962C8B-B14F-4D97-AF65-F5344CB8AC3E}">
        <p14:creationId xmlns:p14="http://schemas.microsoft.com/office/powerpoint/2010/main" val="3889069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728787" y="1290637"/>
            <a:ext cx="8734425" cy="4276725"/>
          </a:xfrm>
          <a:prstGeom prst="rect">
            <a:avLst/>
          </a:prstGeom>
        </p:spPr>
      </p:pic>
      <p:sp>
        <p:nvSpPr>
          <p:cNvPr id="6" name="TextBox 5"/>
          <p:cNvSpPr txBox="1"/>
          <p:nvPr/>
        </p:nvSpPr>
        <p:spPr>
          <a:xfrm>
            <a:off x="4972698" y="420605"/>
            <a:ext cx="2207207" cy="369332"/>
          </a:xfrm>
          <a:prstGeom prst="rect">
            <a:avLst/>
          </a:prstGeom>
          <a:noFill/>
        </p:spPr>
        <p:txBody>
          <a:bodyPr wrap="none" rtlCol="0">
            <a:spAutoFit/>
          </a:bodyPr>
          <a:lstStyle/>
          <a:p>
            <a:r>
              <a:rPr lang="en-US" dirty="0">
                <a:solidFill>
                  <a:srgbClr val="FF0000"/>
                </a:solidFill>
              </a:rPr>
              <a:t>Response parameters</a:t>
            </a:r>
          </a:p>
        </p:txBody>
      </p:sp>
      <p:sp>
        <p:nvSpPr>
          <p:cNvPr id="7" name="Right Brace 6"/>
          <p:cNvSpPr/>
          <p:nvPr/>
        </p:nvSpPr>
        <p:spPr>
          <a:xfrm rot="16200000">
            <a:off x="3238500" y="-506968"/>
            <a:ext cx="368300" cy="30607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8" name="TextBox 7"/>
          <p:cNvSpPr txBox="1"/>
          <p:nvPr/>
        </p:nvSpPr>
        <p:spPr>
          <a:xfrm>
            <a:off x="2364314" y="407628"/>
            <a:ext cx="2116670" cy="369332"/>
          </a:xfrm>
          <a:prstGeom prst="rect">
            <a:avLst/>
          </a:prstGeom>
          <a:noFill/>
        </p:spPr>
        <p:txBody>
          <a:bodyPr wrap="none" rtlCol="0">
            <a:spAutoFit/>
          </a:bodyPr>
          <a:lstStyle/>
          <a:p>
            <a:r>
              <a:rPr lang="en-US" dirty="0">
                <a:solidFill>
                  <a:srgbClr val="FF0000"/>
                </a:solidFill>
              </a:rPr>
              <a:t>Stimulus parameters</a:t>
            </a:r>
          </a:p>
        </p:txBody>
      </p:sp>
      <p:sp>
        <p:nvSpPr>
          <p:cNvPr id="9" name="Right Brace 8"/>
          <p:cNvSpPr/>
          <p:nvPr/>
        </p:nvSpPr>
        <p:spPr>
          <a:xfrm rot="16200000">
            <a:off x="5789546" y="182467"/>
            <a:ext cx="368300" cy="173778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10" name="TextBox 9"/>
          <p:cNvSpPr txBox="1"/>
          <p:nvPr/>
        </p:nvSpPr>
        <p:spPr>
          <a:xfrm>
            <a:off x="7422267" y="428347"/>
            <a:ext cx="2041393" cy="369332"/>
          </a:xfrm>
          <a:prstGeom prst="rect">
            <a:avLst/>
          </a:prstGeom>
          <a:noFill/>
        </p:spPr>
        <p:txBody>
          <a:bodyPr wrap="none" rtlCol="0">
            <a:spAutoFit/>
          </a:bodyPr>
          <a:lstStyle/>
          <a:p>
            <a:r>
              <a:rPr lang="en-US" dirty="0">
                <a:solidFill>
                  <a:srgbClr val="FF0000"/>
                </a:solidFill>
              </a:rPr>
              <a:t>Routine parameters</a:t>
            </a:r>
          </a:p>
        </p:txBody>
      </p:sp>
      <p:sp>
        <p:nvSpPr>
          <p:cNvPr id="11" name="Right Brace 10"/>
          <p:cNvSpPr/>
          <p:nvPr/>
        </p:nvSpPr>
        <p:spPr>
          <a:xfrm rot="16200000">
            <a:off x="8258814" y="-465054"/>
            <a:ext cx="368300" cy="297687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13" name="Title 3">
            <a:extLst>
              <a:ext uri="{FF2B5EF4-FFF2-40B4-BE49-F238E27FC236}">
                <a16:creationId xmlns:a16="http://schemas.microsoft.com/office/drawing/2014/main" id="{68C499E0-9D5E-49D3-B339-57D590FC2DB0}"/>
              </a:ext>
            </a:extLst>
          </p:cNvPr>
          <p:cNvSpPr txBox="1">
            <a:spLocks/>
          </p:cNvSpPr>
          <p:nvPr/>
        </p:nvSpPr>
        <p:spPr>
          <a:xfrm>
            <a:off x="-685912" y="331694"/>
            <a:ext cx="3176451" cy="71014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Data</a:t>
            </a:r>
            <a:endParaRPr lang="en-HK" sz="4400" dirty="0"/>
          </a:p>
        </p:txBody>
      </p:sp>
    </p:spTree>
    <p:extLst>
      <p:ext uri="{BB962C8B-B14F-4D97-AF65-F5344CB8AC3E}">
        <p14:creationId xmlns:p14="http://schemas.microsoft.com/office/powerpoint/2010/main" val="4270144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67075" y="1390650"/>
            <a:ext cx="5657850" cy="4076700"/>
          </a:xfrm>
          <a:prstGeom prst="rect">
            <a:avLst/>
          </a:prstGeom>
        </p:spPr>
      </p:pic>
      <p:sp>
        <p:nvSpPr>
          <p:cNvPr id="5" name="Right Brace 4"/>
          <p:cNvSpPr/>
          <p:nvPr/>
        </p:nvSpPr>
        <p:spPr>
          <a:xfrm rot="16200000">
            <a:off x="6190951" y="-1361939"/>
            <a:ext cx="368300" cy="4724997"/>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0000"/>
              </a:solidFill>
            </a:endParaRPr>
          </a:p>
        </p:txBody>
      </p:sp>
      <p:sp>
        <p:nvSpPr>
          <p:cNvPr id="6" name="TextBox 5"/>
          <p:cNvSpPr txBox="1"/>
          <p:nvPr/>
        </p:nvSpPr>
        <p:spPr>
          <a:xfrm>
            <a:off x="5353988" y="344107"/>
            <a:ext cx="2042226" cy="369332"/>
          </a:xfrm>
          <a:prstGeom prst="rect">
            <a:avLst/>
          </a:prstGeom>
          <a:noFill/>
        </p:spPr>
        <p:txBody>
          <a:bodyPr wrap="none" rtlCol="0">
            <a:spAutoFit/>
          </a:bodyPr>
          <a:lstStyle/>
          <a:p>
            <a:r>
              <a:rPr lang="en-US" dirty="0">
                <a:solidFill>
                  <a:srgbClr val="FF0000"/>
                </a:solidFill>
              </a:rPr>
              <a:t>Session information</a:t>
            </a:r>
          </a:p>
        </p:txBody>
      </p:sp>
    </p:spTree>
    <p:extLst>
      <p:ext uri="{BB962C8B-B14F-4D97-AF65-F5344CB8AC3E}">
        <p14:creationId xmlns:p14="http://schemas.microsoft.com/office/powerpoint/2010/main" val="1125013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8611" y="1350990"/>
            <a:ext cx="11853652" cy="5507010"/>
          </a:xfrm>
          <a:prstGeom prst="rect">
            <a:avLst/>
          </a:prstGeom>
        </p:spPr>
      </p:pic>
      <p:sp>
        <p:nvSpPr>
          <p:cNvPr id="3" name="Title 3">
            <a:extLst>
              <a:ext uri="{FF2B5EF4-FFF2-40B4-BE49-F238E27FC236}">
                <a16:creationId xmlns:a16="http://schemas.microsoft.com/office/drawing/2014/main" id="{1999BA0D-A287-4C05-B4CF-443B720968E0}"/>
              </a:ext>
            </a:extLst>
          </p:cNvPr>
          <p:cNvSpPr txBox="1">
            <a:spLocks/>
          </p:cNvSpPr>
          <p:nvPr/>
        </p:nvSpPr>
        <p:spPr>
          <a:xfrm>
            <a:off x="-685912" y="331694"/>
            <a:ext cx="3176451" cy="71014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Log</a:t>
            </a:r>
            <a:endParaRPr lang="en-HK" sz="4400" dirty="0"/>
          </a:p>
        </p:txBody>
      </p:sp>
    </p:spTree>
    <p:extLst>
      <p:ext uri="{BB962C8B-B14F-4D97-AF65-F5344CB8AC3E}">
        <p14:creationId xmlns:p14="http://schemas.microsoft.com/office/powerpoint/2010/main" val="3515467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Feedback</a:t>
            </a:r>
          </a:p>
        </p:txBody>
      </p:sp>
      <p:sp>
        <p:nvSpPr>
          <p:cNvPr id="3" name="Text Placeholder 2"/>
          <p:cNvSpPr>
            <a:spLocks noGrp="1"/>
          </p:cNvSpPr>
          <p:nvPr>
            <p:ph type="body" idx="1"/>
          </p:nvPr>
        </p:nvSpPr>
        <p:spPr/>
        <p:txBody>
          <a:bodyPr/>
          <a:lstStyle/>
          <a:p>
            <a:r>
              <a:rPr lang="en-US" dirty="0"/>
              <a:t>Instructions, </a:t>
            </a:r>
            <a:br>
              <a:rPr lang="en-US" dirty="0"/>
            </a:br>
            <a:r>
              <a:rPr lang="en-US" dirty="0"/>
              <a:t>[random ISI, either stimulus “left” or “right” on either left or right, </a:t>
            </a:r>
            <a:br>
              <a:rPr lang="en-US" dirty="0"/>
            </a:br>
            <a:r>
              <a:rPr lang="en-US" dirty="0"/>
              <a:t>and a keypress, followed by feedback “correct” “incorrect”] </a:t>
            </a:r>
            <a:r>
              <a:rPr lang="en-US"/>
              <a:t>&lt;-repeat, </a:t>
            </a:r>
            <a:br>
              <a:rPr lang="en-US" dirty="0"/>
            </a:br>
            <a:r>
              <a:rPr lang="en-US" dirty="0"/>
              <a:t>end</a:t>
            </a:r>
          </a:p>
        </p:txBody>
      </p:sp>
    </p:spTree>
    <p:extLst>
      <p:ext uri="{BB962C8B-B14F-4D97-AF65-F5344CB8AC3E}">
        <p14:creationId xmlns:p14="http://schemas.microsoft.com/office/powerpoint/2010/main" val="2044427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495550" y="300037"/>
            <a:ext cx="7200900" cy="6257925"/>
          </a:xfrm>
          <a:prstGeom prst="rect">
            <a:avLst/>
          </a:prstGeom>
        </p:spPr>
      </p:pic>
      <p:sp>
        <p:nvSpPr>
          <p:cNvPr id="6" name="Rectangle 5"/>
          <p:cNvSpPr/>
          <p:nvPr/>
        </p:nvSpPr>
        <p:spPr>
          <a:xfrm>
            <a:off x="3837780" y="3038654"/>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603684" y="697149"/>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320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76805" t="17778" r="9098" b="41482"/>
          <a:stretch/>
        </p:blipFill>
        <p:spPr>
          <a:xfrm>
            <a:off x="4394200" y="713953"/>
            <a:ext cx="3263900" cy="5305847"/>
          </a:xfrm>
          <a:prstGeom prst="rect">
            <a:avLst/>
          </a:prstGeom>
        </p:spPr>
      </p:pic>
      <p:sp>
        <p:nvSpPr>
          <p:cNvPr id="5" name="Rectangle 4"/>
          <p:cNvSpPr/>
          <p:nvPr/>
        </p:nvSpPr>
        <p:spPr>
          <a:xfrm>
            <a:off x="4394200" y="2586186"/>
            <a:ext cx="1478696" cy="7806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43425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457200" y="89157"/>
            <a:ext cx="11277600" cy="6768843"/>
          </a:xfrm>
          <a:prstGeom prst="rect">
            <a:avLst/>
          </a:prstGeom>
        </p:spPr>
      </p:pic>
    </p:spTree>
    <p:extLst>
      <p:ext uri="{BB962C8B-B14F-4D97-AF65-F5344CB8AC3E}">
        <p14:creationId xmlns:p14="http://schemas.microsoft.com/office/powerpoint/2010/main" val="125818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77862" y="1403932"/>
            <a:ext cx="10965409" cy="3925887"/>
          </a:xfrm>
          <a:prstGeom prst="rect">
            <a:avLst/>
          </a:prstGeom>
        </p:spPr>
      </p:pic>
      <p:sp>
        <p:nvSpPr>
          <p:cNvPr id="5" name="Rectangle 4"/>
          <p:cNvSpPr/>
          <p:nvPr/>
        </p:nvSpPr>
        <p:spPr>
          <a:xfrm>
            <a:off x="6489700" y="2078185"/>
            <a:ext cx="1320800" cy="325163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895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#3</a:t>
            </a:r>
          </a:p>
        </p:txBody>
      </p:sp>
      <p:sp>
        <p:nvSpPr>
          <p:cNvPr id="3" name="Content Placeholder 2"/>
          <p:cNvSpPr>
            <a:spLocks noGrp="1"/>
          </p:cNvSpPr>
          <p:nvPr>
            <p:ph idx="1"/>
          </p:nvPr>
        </p:nvSpPr>
        <p:spPr/>
        <p:txBody>
          <a:bodyPr/>
          <a:lstStyle/>
          <a:p>
            <a:r>
              <a:rPr lang="en-US" dirty="0"/>
              <a:t>Use AI to change the code block so that:</a:t>
            </a:r>
          </a:p>
          <a:p>
            <a:pPr lvl="1"/>
            <a:r>
              <a:rPr lang="en-US" dirty="0"/>
              <a:t> “Correct!” is green</a:t>
            </a:r>
          </a:p>
          <a:p>
            <a:pPr lvl="1"/>
            <a:r>
              <a:rPr lang="en-US" dirty="0"/>
              <a:t> “Incorrect!” is red</a:t>
            </a:r>
          </a:p>
          <a:p>
            <a:r>
              <a:rPr lang="en-US" dirty="0"/>
              <a:t>Use AI to add code block so that:</a:t>
            </a:r>
          </a:p>
          <a:p>
            <a:pPr lvl="1"/>
            <a:r>
              <a:rPr lang="en-US" dirty="0"/>
              <a:t>A smiley face is presented as correct feedback</a:t>
            </a:r>
          </a:p>
          <a:p>
            <a:pPr lvl="1"/>
            <a:r>
              <a:rPr lang="en-US" dirty="0"/>
              <a:t>A frowny face is presented as incorrect feedback</a:t>
            </a:r>
          </a:p>
          <a:p>
            <a:pPr lvl="1"/>
            <a:endParaRPr lang="en-US" dirty="0"/>
          </a:p>
          <a:p>
            <a:pPr lvl="1"/>
            <a:endParaRPr lang="en-US" dirty="0"/>
          </a:p>
        </p:txBody>
      </p:sp>
    </p:spTree>
    <p:extLst>
      <p:ext uri="{BB962C8B-B14F-4D97-AF65-F5344CB8AC3E}">
        <p14:creationId xmlns:p14="http://schemas.microsoft.com/office/powerpoint/2010/main" val="964704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415BE-B508-49F0-8219-67794B1399D7}"/>
              </a:ext>
            </a:extLst>
          </p:cNvPr>
          <p:cNvSpPr>
            <a:spLocks noGrp="1"/>
          </p:cNvSpPr>
          <p:nvPr>
            <p:ph type="title"/>
          </p:nvPr>
        </p:nvSpPr>
        <p:spPr/>
        <p:txBody>
          <a:bodyPr/>
          <a:lstStyle/>
          <a:p>
            <a:r>
              <a:rPr lang="en-US" dirty="0"/>
              <a:t>Practice</a:t>
            </a:r>
            <a:endParaRPr lang="en-HK" dirty="0"/>
          </a:p>
        </p:txBody>
      </p:sp>
      <p:sp>
        <p:nvSpPr>
          <p:cNvPr id="3" name="Text Placeholder 2">
            <a:extLst>
              <a:ext uri="{FF2B5EF4-FFF2-40B4-BE49-F238E27FC236}">
                <a16:creationId xmlns:a16="http://schemas.microsoft.com/office/drawing/2014/main" id="{2C80A899-8664-4A66-9A5A-F09E9B1B2363}"/>
              </a:ext>
            </a:extLst>
          </p:cNvPr>
          <p:cNvSpPr>
            <a:spLocks noGrp="1"/>
          </p:cNvSpPr>
          <p:nvPr>
            <p:ph type="body" idx="1"/>
          </p:nvPr>
        </p:nvSpPr>
        <p:spPr/>
        <p:txBody>
          <a:bodyPr/>
          <a:lstStyle/>
          <a:p>
            <a:r>
              <a:rPr lang="en-US" b="1" kern="0" spc="-157" dirty="0">
                <a:solidFill>
                  <a:srgbClr val="000000"/>
                </a:solidFill>
                <a:latin typeface="Arial" panose="020B0604020202020204" pitchFamily="34" charset="0"/>
                <a:ea typeface="Raleway" pitchFamily="34" charset="-122"/>
                <a:cs typeface="Arial" panose="020B0604020202020204" pitchFamily="34" charset="0"/>
              </a:rPr>
              <a:t>Extracted from the workshop “</a:t>
            </a:r>
            <a:r>
              <a:rPr lang="en-US" sz="2400" b="1" kern="0" spc="-157" dirty="0">
                <a:solidFill>
                  <a:srgbClr val="000000"/>
                </a:solidFill>
                <a:latin typeface="Arial" panose="020B0604020202020204" pitchFamily="34" charset="0"/>
                <a:ea typeface="Raleway" pitchFamily="34" charset="-122"/>
                <a:cs typeface="Arial" panose="020B0604020202020204" pitchFamily="34" charset="0"/>
              </a:rPr>
              <a:t>Creating an Experiment in </a:t>
            </a:r>
            <a:r>
              <a:rPr lang="en-US" sz="2400" b="1" kern="0" spc="-157" dirty="0" err="1">
                <a:solidFill>
                  <a:srgbClr val="000000"/>
                </a:solidFill>
                <a:latin typeface="Arial" panose="020B0604020202020204" pitchFamily="34" charset="0"/>
                <a:ea typeface="Raleway" pitchFamily="34" charset="-122"/>
                <a:cs typeface="Arial" panose="020B0604020202020204" pitchFamily="34" charset="0"/>
              </a:rPr>
              <a:t>PsychoPy</a:t>
            </a:r>
            <a:r>
              <a:rPr lang="en-US" sz="2400" b="1" kern="0" spc="-157" dirty="0">
                <a:solidFill>
                  <a:srgbClr val="000000"/>
                </a:solidFill>
                <a:latin typeface="Arial" panose="020B0604020202020204" pitchFamily="34" charset="0"/>
                <a:ea typeface="Raleway" pitchFamily="34" charset="-122"/>
                <a:cs typeface="Arial" panose="020B0604020202020204" pitchFamily="34" charset="0"/>
              </a:rPr>
              <a:t>” (</a:t>
            </a:r>
            <a:r>
              <a:rPr lang="en-US" sz="2400" b="1" kern="0" spc="-157" dirty="0">
                <a:solidFill>
                  <a:srgbClr val="000000"/>
                </a:solidFill>
                <a:latin typeface="Arial" panose="020B0604020202020204" pitchFamily="34" charset="0"/>
                <a:ea typeface="Raleway" pitchFamily="34" charset="-122"/>
                <a:cs typeface="Arial" panose="020B0604020202020204" pitchFamily="34" charset="0"/>
                <a:hlinkClick r:id="rId2"/>
              </a:rPr>
              <a:t>https://workshops.psychopy.org/</a:t>
            </a:r>
            <a:r>
              <a:rPr lang="en-US" sz="2400" b="1" kern="0" spc="-157" dirty="0">
                <a:solidFill>
                  <a:srgbClr val="000000"/>
                </a:solidFill>
                <a:latin typeface="Arial" panose="020B0604020202020204" pitchFamily="34" charset="0"/>
                <a:ea typeface="Raleway" pitchFamily="34" charset="-122"/>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4144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793750" y="507504"/>
            <a:ext cx="3728542" cy="515144"/>
          </a:xfrm>
          <a:prstGeom prst="rect">
            <a:avLst/>
          </a:prstGeom>
          <a:noFill/>
          <a:ln/>
        </p:spPr>
        <p:txBody>
          <a:bodyPr wrap="none" rtlCol="0" anchor="t"/>
          <a:lstStyle/>
          <a:p>
            <a:pPr>
              <a:lnSpc>
                <a:spcPts val="4057"/>
              </a:lnSpc>
            </a:pPr>
            <a:r>
              <a:rPr lang="en-US" sz="3245" b="1" kern="0" spc="-97" dirty="0">
                <a:solidFill>
                  <a:srgbClr val="000000"/>
                </a:solidFill>
                <a:latin typeface="Arial" panose="020B0604020202020204" pitchFamily="34" charset="0"/>
                <a:ea typeface="Raleway" pitchFamily="34" charset="-122"/>
                <a:cs typeface="Arial" panose="020B0604020202020204" pitchFamily="34" charset="0"/>
              </a:rPr>
              <a:t>Setting up your trial </a:t>
            </a:r>
            <a:endParaRPr lang="en-US" sz="3245" dirty="0">
              <a:latin typeface="Arial" panose="020B0604020202020204" pitchFamily="34" charset="0"/>
              <a:cs typeface="Arial" panose="020B0604020202020204" pitchFamily="34" charset="0"/>
            </a:endParaRPr>
          </a:p>
        </p:txBody>
      </p:sp>
      <p:sp>
        <p:nvSpPr>
          <p:cNvPr id="5" name="Text 2"/>
          <p:cNvSpPr/>
          <p:nvPr/>
        </p:nvSpPr>
        <p:spPr>
          <a:xfrm>
            <a:off x="793751" y="1933377"/>
            <a:ext cx="4607124" cy="1055291"/>
          </a:xfrm>
          <a:prstGeom prst="rect">
            <a:avLst/>
          </a:prstGeom>
          <a:noFill/>
          <a:ln/>
        </p:spPr>
        <p:txBody>
          <a:bodyPr wrap="square" rtlCol="0" anchor="t"/>
          <a:lstStyle/>
          <a:p>
            <a:pPr>
              <a:lnSpc>
                <a:spcPts val="2077"/>
              </a:lnSpc>
            </a:pPr>
            <a:r>
              <a:rPr lang="en-US" sz="1667" b="1" kern="0" spc="-26" dirty="0">
                <a:solidFill>
                  <a:srgbClr val="272525"/>
                </a:solidFill>
                <a:latin typeface="Arial" panose="020B0604020202020204" pitchFamily="34" charset="0"/>
                <a:ea typeface="Raleway" pitchFamily="34" charset="-122"/>
                <a:cs typeface="Arial" panose="020B0604020202020204" pitchFamily="34" charset="0"/>
              </a:rPr>
              <a:t>Example:</a:t>
            </a:r>
            <a:r>
              <a:rPr lang="en-US" sz="1667" kern="0" spc="-26" dirty="0">
                <a:solidFill>
                  <a:srgbClr val="272525"/>
                </a:solidFill>
                <a:latin typeface="Arial" panose="020B0604020202020204" pitchFamily="34" charset="0"/>
                <a:ea typeface="Raleway" pitchFamily="34" charset="-122"/>
                <a:cs typeface="Arial" panose="020B0604020202020204" pitchFamily="34" charset="0"/>
              </a:rPr>
              <a:t> A</a:t>
            </a:r>
            <a:r>
              <a:rPr lang="en-US" sz="1667" u="sng" kern="0" spc="-26" dirty="0">
                <a:solidFill>
                  <a:srgbClr val="15A1B7"/>
                </a:solidFill>
                <a:latin typeface="Arial" panose="020B0604020202020204" pitchFamily="34" charset="0"/>
                <a:ea typeface="Raleway" pitchFamily="34" charset="-122"/>
                <a:cs typeface="Arial" panose="020B0604020202020204" pitchFamily="34" charset="0"/>
                <a:hlinkClick r:id="rId3">
                  <a:extLst>
                    <a:ext uri="{A12FA001-AC4F-418D-AE19-62706E023703}">
                      <ahyp:hlinkClr xmlns:ahyp="http://schemas.microsoft.com/office/drawing/2018/hyperlinkcolor" val="tx"/>
                    </a:ext>
                  </a:extLst>
                </a:hlinkClick>
              </a:rPr>
              <a:t> Posner cueing task</a:t>
            </a:r>
            <a:r>
              <a:rPr lang="en-US" sz="1667" kern="0" spc="-26" dirty="0">
                <a:solidFill>
                  <a:srgbClr val="272525"/>
                </a:solidFill>
                <a:latin typeface="Arial" panose="020B0604020202020204" pitchFamily="34" charset="0"/>
                <a:ea typeface="Raleway" pitchFamily="34" charset="-122"/>
                <a:cs typeface="Arial" panose="020B0604020202020204" pitchFamily="34" charset="0"/>
              </a:rPr>
              <a:t>. An arrow cues the location of a target. The participant must respond using the left and right arrow keys. </a:t>
            </a:r>
            <a:endParaRPr lang="en-US" sz="1667" dirty="0">
              <a:latin typeface="Arial" panose="020B0604020202020204" pitchFamily="34" charset="0"/>
              <a:cs typeface="Arial" panose="020B0604020202020204" pitchFamily="34" charset="0"/>
            </a:endParaRPr>
          </a:p>
        </p:txBody>
      </p:sp>
      <p:sp>
        <p:nvSpPr>
          <p:cNvPr id="6" name="Text 3"/>
          <p:cNvSpPr/>
          <p:nvPr/>
        </p:nvSpPr>
        <p:spPr>
          <a:xfrm>
            <a:off x="793751" y="3136999"/>
            <a:ext cx="4607124" cy="263823"/>
          </a:xfrm>
          <a:prstGeom prst="rect">
            <a:avLst/>
          </a:prstGeom>
          <a:noFill/>
          <a:ln/>
        </p:spPr>
        <p:txBody>
          <a:bodyPr wrap="none" rtlCol="0" anchor="t"/>
          <a:lstStyle/>
          <a:p>
            <a:pPr>
              <a:lnSpc>
                <a:spcPts val="2077"/>
              </a:lnSpc>
            </a:pPr>
            <a:r>
              <a:rPr lang="en-US" sz="1667" b="1" kern="0" spc="-26" dirty="0">
                <a:solidFill>
                  <a:srgbClr val="272525"/>
                </a:solidFill>
                <a:latin typeface="Arial" panose="020B0604020202020204" pitchFamily="34" charset="0"/>
                <a:ea typeface="Raleway" pitchFamily="34" charset="-122"/>
                <a:cs typeface="Arial" panose="020B0604020202020204" pitchFamily="34" charset="0"/>
              </a:rPr>
              <a:t>What component make up this routine?</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1170900" y="3586262"/>
            <a:ext cx="4229974" cy="296763"/>
          </a:xfrm>
          <a:prstGeom prst="rect">
            <a:avLst/>
          </a:prstGeom>
          <a:noFill/>
          <a:ln/>
        </p:spPr>
        <p:txBody>
          <a:bodyPr wrap="none" rtlCol="0" anchor="t"/>
          <a:lstStyle/>
          <a:p>
            <a:pPr marL="285739" indent="-285739">
              <a:lnSpc>
                <a:spcPts val="2337"/>
              </a:lnSpc>
              <a:buSzPct val="100000"/>
              <a:buChar char="•"/>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An arrow/cue </a:t>
            </a:r>
            <a:endParaRPr lang="en-US" sz="1667" dirty="0">
              <a:latin typeface="Arial" panose="020B0604020202020204" pitchFamily="34" charset="0"/>
              <a:cs typeface="Arial" panose="020B0604020202020204" pitchFamily="34" charset="0"/>
            </a:endParaRPr>
          </a:p>
        </p:txBody>
      </p:sp>
      <p:sp>
        <p:nvSpPr>
          <p:cNvPr id="8" name="Text 5"/>
          <p:cNvSpPr/>
          <p:nvPr/>
        </p:nvSpPr>
        <p:spPr>
          <a:xfrm>
            <a:off x="1170900" y="3948907"/>
            <a:ext cx="4229974" cy="296763"/>
          </a:xfrm>
          <a:prstGeom prst="rect">
            <a:avLst/>
          </a:prstGeom>
          <a:noFill/>
          <a:ln/>
        </p:spPr>
        <p:txBody>
          <a:bodyPr wrap="none" rtlCol="0" anchor="t"/>
          <a:lstStyle/>
          <a:p>
            <a:pPr marL="285739" indent="-285739">
              <a:lnSpc>
                <a:spcPts val="2337"/>
              </a:lnSpc>
              <a:buSzPct val="100000"/>
              <a:buChar char="•"/>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A target</a:t>
            </a:r>
            <a:endParaRPr lang="en-US" sz="1667" dirty="0">
              <a:latin typeface="Arial" panose="020B0604020202020204" pitchFamily="34" charset="0"/>
              <a:cs typeface="Arial" panose="020B0604020202020204" pitchFamily="34" charset="0"/>
            </a:endParaRPr>
          </a:p>
        </p:txBody>
      </p:sp>
      <p:sp>
        <p:nvSpPr>
          <p:cNvPr id="9" name="Text 6"/>
          <p:cNvSpPr/>
          <p:nvPr/>
        </p:nvSpPr>
        <p:spPr>
          <a:xfrm>
            <a:off x="1170900" y="4311551"/>
            <a:ext cx="4229974" cy="890290"/>
          </a:xfrm>
          <a:prstGeom prst="rect">
            <a:avLst/>
          </a:prstGeom>
          <a:noFill/>
          <a:ln/>
        </p:spPr>
        <p:txBody>
          <a:bodyPr wrap="square" rtlCol="0" anchor="t"/>
          <a:lstStyle/>
          <a:p>
            <a:pPr marL="285739" indent="-285739">
              <a:lnSpc>
                <a:spcPts val="2337"/>
              </a:lnSpc>
              <a:buSzPct val="100000"/>
              <a:buChar char="•"/>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A keyboard response (left/right keypress - respond to the location of the target)</a:t>
            </a:r>
            <a:endParaRPr lang="en-US" sz="1667" dirty="0">
              <a:latin typeface="Arial" panose="020B0604020202020204" pitchFamily="34" charset="0"/>
              <a:cs typeface="Arial" panose="020B0604020202020204" pitchFamily="34" charset="0"/>
            </a:endParaRPr>
          </a:p>
        </p:txBody>
      </p:sp>
      <p:sp>
        <p:nvSpPr>
          <p:cNvPr id="11" name="Text 8"/>
          <p:cNvSpPr/>
          <p:nvPr/>
        </p:nvSpPr>
        <p:spPr>
          <a:xfrm>
            <a:off x="5809457" y="1364059"/>
            <a:ext cx="4208264" cy="263823"/>
          </a:xfrm>
          <a:prstGeom prst="rect">
            <a:avLst/>
          </a:prstGeom>
          <a:noFill/>
          <a:ln/>
        </p:spPr>
        <p:txBody>
          <a:bodyPr wrap="none" rtlCol="0" anchor="t"/>
          <a:lstStyle/>
          <a:p>
            <a:pPr>
              <a:lnSpc>
                <a:spcPts val="2077"/>
              </a:lnSpc>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Example trials valid (top) Invalid trial (bottom)</a:t>
            </a:r>
            <a:endParaRPr lang="en-US" sz="1667" dirty="0">
              <a:latin typeface="Arial" panose="020B0604020202020204" pitchFamily="34" charset="0"/>
              <a:cs typeface="Arial" panose="020B0604020202020204" pitchFamily="34" charset="0"/>
            </a:endParaRPr>
          </a:p>
        </p:txBody>
      </p:sp>
      <p:pic>
        <p:nvPicPr>
          <p:cNvPr id="12" name="Image 1" descr="preencoded.png"/>
          <p:cNvPicPr>
            <a:picLocks noChangeAspect="1"/>
          </p:cNvPicPr>
          <p:nvPr/>
        </p:nvPicPr>
        <p:blipFill>
          <a:blip r:embed="rId4"/>
          <a:stretch>
            <a:fillRect/>
          </a:stretch>
        </p:blipFill>
        <p:spPr>
          <a:xfrm>
            <a:off x="6176268" y="1933377"/>
            <a:ext cx="3474542" cy="1978323"/>
          </a:xfrm>
          <a:prstGeom prst="rect">
            <a:avLst/>
          </a:prstGeom>
        </p:spPr>
      </p:pic>
      <p:pic>
        <p:nvPicPr>
          <p:cNvPr id="13" name="Image 2" descr="preencoded.png"/>
          <p:cNvPicPr>
            <a:picLocks noChangeAspect="1"/>
          </p:cNvPicPr>
          <p:nvPr/>
        </p:nvPicPr>
        <p:blipFill>
          <a:blip r:embed="rId5"/>
          <a:stretch>
            <a:fillRect/>
          </a:stretch>
        </p:blipFill>
        <p:spPr>
          <a:xfrm>
            <a:off x="5815807" y="4043561"/>
            <a:ext cx="3474542" cy="197832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131094" y="503139"/>
            <a:ext cx="2938165" cy="440333"/>
          </a:xfrm>
          <a:prstGeom prst="rect">
            <a:avLst/>
          </a:prstGeom>
          <a:noFill/>
          <a:ln/>
        </p:spPr>
        <p:txBody>
          <a:bodyPr wrap="none" rtlCol="0" anchor="t"/>
          <a:lstStyle/>
          <a:p>
            <a:pPr>
              <a:lnSpc>
                <a:spcPts val="3467"/>
              </a:lnSpc>
            </a:pPr>
            <a:r>
              <a:rPr lang="en-US" sz="3333" b="1" kern="0" spc="-83" dirty="0">
                <a:solidFill>
                  <a:srgbClr val="000000"/>
                </a:solidFill>
                <a:latin typeface="Arial" panose="020B0604020202020204" pitchFamily="34" charset="0"/>
                <a:ea typeface="Raleway" pitchFamily="34" charset="-122"/>
                <a:cs typeface="Arial" panose="020B0604020202020204" pitchFamily="34" charset="0"/>
              </a:rPr>
              <a:t>Presenting Shapes: Add a “Cue”</a:t>
            </a:r>
            <a:endParaRPr lang="en-US" sz="3333" dirty="0">
              <a:latin typeface="Arial" panose="020B0604020202020204" pitchFamily="34" charset="0"/>
              <a:cs typeface="Arial" panose="020B0604020202020204" pitchFamily="34" charset="0"/>
            </a:endParaRPr>
          </a:p>
        </p:txBody>
      </p:sp>
      <p:sp>
        <p:nvSpPr>
          <p:cNvPr id="5" name="Text 2"/>
          <p:cNvSpPr/>
          <p:nvPr/>
        </p:nvSpPr>
        <p:spPr>
          <a:xfrm>
            <a:off x="1131094" y="2091531"/>
            <a:ext cx="4719695" cy="450850"/>
          </a:xfrm>
          <a:prstGeom prst="rect">
            <a:avLst/>
          </a:prstGeom>
          <a:noFill/>
          <a:ln/>
        </p:spPr>
        <p:txBody>
          <a:bodyPr wrap="square" rtlCol="0" anchor="t"/>
          <a:lstStyle/>
          <a:p>
            <a:pPr>
              <a:lnSpc>
                <a:spcPts val="1776"/>
              </a:lnSpc>
            </a:pPr>
            <a:r>
              <a:rPr lang="en-US" sz="1667" b="1" kern="0" spc="-22" dirty="0">
                <a:solidFill>
                  <a:srgbClr val="F36B32"/>
                </a:solidFill>
                <a:latin typeface="Arial" panose="020B0604020202020204" pitchFamily="34" charset="0"/>
                <a:ea typeface="Raleway" pitchFamily="34" charset="-122"/>
                <a:cs typeface="Arial" panose="020B0604020202020204" pitchFamily="34" charset="0"/>
              </a:rPr>
              <a:t>Let's add our cue to the "trial" routine. </a:t>
            </a:r>
            <a:endParaRPr lang="en-US" sz="1667" dirty="0">
              <a:latin typeface="Arial" panose="020B0604020202020204" pitchFamily="34" charset="0"/>
              <a:cs typeface="Arial" panose="020B0604020202020204" pitchFamily="34" charset="0"/>
            </a:endParaRPr>
          </a:p>
        </p:txBody>
      </p:sp>
      <p:sp>
        <p:nvSpPr>
          <p:cNvPr id="6" name="Text 3"/>
          <p:cNvSpPr/>
          <p:nvPr/>
        </p:nvSpPr>
        <p:spPr>
          <a:xfrm>
            <a:off x="1131095" y="3021409"/>
            <a:ext cx="4988181" cy="676275"/>
          </a:xfrm>
          <a:prstGeom prst="rect">
            <a:avLst/>
          </a:prstGeom>
          <a:noFill/>
          <a:ln/>
        </p:spPr>
        <p:txBody>
          <a:bodyPr wrap="square" rtlCol="0" anchor="t"/>
          <a:lstStyle/>
          <a:p>
            <a:pPr>
              <a:lnSpc>
                <a:spcPts val="1776"/>
              </a:lnSpc>
            </a:pP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Cue stimulus: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Add a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polygon</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 and leave the shape as "triangle". The cue starts at 0 seconds and lasts 1 second. in the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layout</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 tab set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orientation</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 to 90.</a:t>
            </a:r>
          </a:p>
          <a:p>
            <a:pPr>
              <a:lnSpc>
                <a:spcPts val="1776"/>
              </a:lnSpc>
            </a:pPr>
            <a:endParaRPr lang="en-US" sz="1667" kern="0" spc="-22" dirty="0">
              <a:solidFill>
                <a:srgbClr val="272525"/>
              </a:solidFill>
              <a:latin typeface="Arial" panose="020B0604020202020204" pitchFamily="34" charset="0"/>
              <a:cs typeface="Arial" panose="020B0604020202020204" pitchFamily="34" charset="0"/>
            </a:endParaRPr>
          </a:p>
          <a:p>
            <a:pPr>
              <a:lnSpc>
                <a:spcPts val="1776"/>
              </a:lnSpc>
            </a:pPr>
            <a:r>
              <a:rPr lang="en-US" sz="1667" kern="0" spc="-22" dirty="0">
                <a:solidFill>
                  <a:srgbClr val="272525"/>
                </a:solidFill>
                <a:latin typeface="Arial" panose="020B0604020202020204" pitchFamily="34" charset="0"/>
                <a:cs typeface="Arial" panose="020B0604020202020204" pitchFamily="34" charset="0"/>
              </a:rPr>
              <a:t>In the layout tab make the cue slightly smaller by setting size to (0.1, 0.1)</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1399580" y="2542381"/>
            <a:ext cx="4719695" cy="225425"/>
          </a:xfrm>
          <a:prstGeom prst="rect">
            <a:avLst/>
          </a:prstGeom>
          <a:noFill/>
          <a:ln/>
        </p:spPr>
        <p:txBody>
          <a:bodyPr wrap="none" rtlCol="0" anchor="t"/>
          <a:lstStyle/>
          <a:p>
            <a:pPr>
              <a:lnSpc>
                <a:spcPts val="1776"/>
              </a:lnSpc>
            </a:pPr>
            <a:endParaRPr lang="en-US" sz="1667" dirty="0">
              <a:latin typeface="Arial" panose="020B0604020202020204" pitchFamily="34" charset="0"/>
              <a:cs typeface="Arial" panose="020B0604020202020204" pitchFamily="34" charset="0"/>
            </a:endParaRPr>
          </a:p>
        </p:txBody>
      </p:sp>
      <p:pic>
        <p:nvPicPr>
          <p:cNvPr id="12" name="Image 2" descr="preencoded.png"/>
          <p:cNvPicPr>
            <a:picLocks noChangeAspect="1"/>
          </p:cNvPicPr>
          <p:nvPr/>
        </p:nvPicPr>
        <p:blipFill>
          <a:blip r:embed="rId3"/>
          <a:stretch>
            <a:fillRect/>
          </a:stretch>
        </p:blipFill>
        <p:spPr>
          <a:xfrm>
            <a:off x="6341213" y="1413570"/>
            <a:ext cx="5679696" cy="352935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3F67E-0116-686A-3D94-879EF64D5D46}"/>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AE87364D-F3F7-99A2-F1C9-A0CE7B455553}"/>
              </a:ext>
            </a:extLst>
          </p:cNvPr>
          <p:cNvSpPr/>
          <p:nvPr/>
        </p:nvSpPr>
        <p:spPr>
          <a:xfrm>
            <a:off x="1399580" y="1161653"/>
            <a:ext cx="4719695" cy="450850"/>
          </a:xfrm>
          <a:prstGeom prst="rect">
            <a:avLst/>
          </a:prstGeom>
          <a:noFill/>
          <a:ln/>
        </p:spPr>
        <p:txBody>
          <a:bodyPr wrap="square" rtlCol="0" anchor="t"/>
          <a:lstStyle/>
          <a:p>
            <a:pPr>
              <a:lnSpc>
                <a:spcPts val="1776"/>
              </a:lnSpc>
            </a:pPr>
            <a:r>
              <a:rPr lang="en-US" sz="1667" b="1" kern="0" spc="-22" dirty="0">
                <a:solidFill>
                  <a:srgbClr val="F36B32"/>
                </a:solidFill>
                <a:latin typeface="Arial" panose="020B0604020202020204" pitchFamily="34" charset="0"/>
                <a:ea typeface="Raleway" pitchFamily="34" charset="-122"/>
                <a:cs typeface="Arial" panose="020B0604020202020204" pitchFamily="34" charset="0"/>
              </a:rPr>
              <a:t>Let's add our target to the "trial" routine. </a:t>
            </a:r>
            <a:endParaRPr lang="en-US" sz="1667" dirty="0">
              <a:latin typeface="Arial" panose="020B0604020202020204" pitchFamily="34" charset="0"/>
              <a:cs typeface="Arial" panose="020B0604020202020204" pitchFamily="34" charset="0"/>
            </a:endParaRPr>
          </a:p>
        </p:txBody>
      </p:sp>
      <p:sp>
        <p:nvSpPr>
          <p:cNvPr id="7" name="Text 4">
            <a:extLst>
              <a:ext uri="{FF2B5EF4-FFF2-40B4-BE49-F238E27FC236}">
                <a16:creationId xmlns:a16="http://schemas.microsoft.com/office/drawing/2014/main" id="{E56A5DF3-D066-48C6-5332-E73A21D7D5A5}"/>
              </a:ext>
            </a:extLst>
          </p:cNvPr>
          <p:cNvSpPr/>
          <p:nvPr/>
        </p:nvSpPr>
        <p:spPr>
          <a:xfrm>
            <a:off x="1399580" y="2542381"/>
            <a:ext cx="4719695" cy="225425"/>
          </a:xfrm>
          <a:prstGeom prst="rect">
            <a:avLst/>
          </a:prstGeom>
          <a:noFill/>
          <a:ln/>
        </p:spPr>
        <p:txBody>
          <a:bodyPr wrap="none" rtlCol="0" anchor="t"/>
          <a:lstStyle/>
          <a:p>
            <a:pPr>
              <a:lnSpc>
                <a:spcPts val="1776"/>
              </a:lnSpc>
            </a:pPr>
            <a:endParaRPr lang="en-US" sz="1667" dirty="0">
              <a:latin typeface="Arial" panose="020B0604020202020204" pitchFamily="34" charset="0"/>
              <a:cs typeface="Arial" panose="020B0604020202020204" pitchFamily="34" charset="0"/>
            </a:endParaRPr>
          </a:p>
        </p:txBody>
      </p:sp>
      <p:sp>
        <p:nvSpPr>
          <p:cNvPr id="8" name="Text 5">
            <a:extLst>
              <a:ext uri="{FF2B5EF4-FFF2-40B4-BE49-F238E27FC236}">
                <a16:creationId xmlns:a16="http://schemas.microsoft.com/office/drawing/2014/main" id="{BACFE601-E75A-2BD5-FC95-5D63B51D5155}"/>
              </a:ext>
            </a:extLst>
          </p:cNvPr>
          <p:cNvSpPr/>
          <p:nvPr/>
        </p:nvSpPr>
        <p:spPr>
          <a:xfrm>
            <a:off x="1285875" y="1946274"/>
            <a:ext cx="4833400" cy="1352550"/>
          </a:xfrm>
          <a:prstGeom prst="rect">
            <a:avLst/>
          </a:prstGeom>
          <a:noFill/>
          <a:ln/>
        </p:spPr>
        <p:txBody>
          <a:bodyPr wrap="square" rtlCol="0" anchor="t"/>
          <a:lstStyle/>
          <a:p>
            <a:r>
              <a:rPr lang="en-US" sz="1667" b="1" kern="0" spc="-22" dirty="0">
                <a:solidFill>
                  <a:srgbClr val="272525"/>
                </a:solidFill>
                <a:latin typeface="Arial" panose="020B0604020202020204" pitchFamily="34" charset="0"/>
                <a:ea typeface="Raleway" pitchFamily="34" charset="-122"/>
                <a:cs typeface="Arial" panose="020B0604020202020204" pitchFamily="34" charset="0"/>
              </a:rPr>
              <a:t>Target stimulus: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Add another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polygon</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 set shape to be "circle". The target starts at 1 second and stays onscreen until a response is made. </a:t>
            </a:r>
          </a:p>
          <a:p>
            <a:endParaRPr lang="en-US" sz="1667" b="1" kern="0" spc="-22" dirty="0">
              <a:solidFill>
                <a:srgbClr val="272525"/>
              </a:solidFill>
              <a:latin typeface="Arial" panose="020B0604020202020204" pitchFamily="34" charset="0"/>
              <a:ea typeface="Raleway" pitchFamily="34" charset="-122"/>
              <a:cs typeface="Arial" panose="020B0604020202020204" pitchFamily="34" charset="0"/>
            </a:endParaRPr>
          </a:p>
          <a:p>
            <a:r>
              <a:rPr lang="en-US" sz="1667" b="1" kern="0" spc="-22" dirty="0">
                <a:solidFill>
                  <a:srgbClr val="272525"/>
                </a:solidFill>
                <a:latin typeface="Arial" panose="020B0604020202020204" pitchFamily="34" charset="0"/>
                <a:ea typeface="Raleway" pitchFamily="34" charset="-122"/>
                <a:cs typeface="Arial" panose="020B0604020202020204" pitchFamily="34" charset="0"/>
              </a:rPr>
              <a:t>To make a stimulus stay on screen until a response is made, leave the duration as blank.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In the</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 layout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tab set the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position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to (0.5, 0)</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a:t>
            </a:r>
          </a:p>
          <a:p>
            <a:endParaRPr lang="en-US" sz="1667" b="1" kern="0" spc="-22" dirty="0">
              <a:solidFill>
                <a:srgbClr val="272525"/>
              </a:solidFill>
              <a:latin typeface="Arial" panose="020B0604020202020204" pitchFamily="34" charset="0"/>
              <a:cs typeface="Arial" panose="020B0604020202020204" pitchFamily="34" charset="0"/>
            </a:endParaRPr>
          </a:p>
          <a:p>
            <a:r>
              <a:rPr lang="en-US" sz="1667" kern="0" spc="-22" dirty="0">
                <a:solidFill>
                  <a:srgbClr val="272525"/>
                </a:solidFill>
                <a:latin typeface="Arial" panose="020B0604020202020204" pitchFamily="34" charset="0"/>
                <a:cs typeface="Arial" panose="020B0604020202020204" pitchFamily="34" charset="0"/>
              </a:rPr>
              <a:t>Make the target slightly smaller by setting size to (0.1, 0.1)</a:t>
            </a:r>
            <a:endParaRPr lang="en-US" sz="1667" dirty="0">
              <a:latin typeface="Arial" panose="020B0604020202020204" pitchFamily="34" charset="0"/>
              <a:cs typeface="Arial" panose="020B0604020202020204" pitchFamily="34" charset="0"/>
            </a:endParaRPr>
          </a:p>
          <a:p>
            <a:endParaRPr lang="en-US" sz="1667" dirty="0">
              <a:latin typeface="Arial" panose="020B0604020202020204" pitchFamily="34" charset="0"/>
              <a:cs typeface="Arial" panose="020B0604020202020204" pitchFamily="34" charset="0"/>
            </a:endParaRPr>
          </a:p>
        </p:txBody>
      </p:sp>
      <p:sp>
        <p:nvSpPr>
          <p:cNvPr id="9" name="Shape 6">
            <a:extLst>
              <a:ext uri="{FF2B5EF4-FFF2-40B4-BE49-F238E27FC236}">
                <a16:creationId xmlns:a16="http://schemas.microsoft.com/office/drawing/2014/main" id="{F2738CAB-0C9E-0E6B-F9B5-A98E210D19EE}"/>
              </a:ext>
            </a:extLst>
          </p:cNvPr>
          <p:cNvSpPr/>
          <p:nvPr/>
        </p:nvSpPr>
        <p:spPr>
          <a:xfrm>
            <a:off x="1285875" y="4663927"/>
            <a:ext cx="4833400" cy="2064842"/>
          </a:xfrm>
          <a:prstGeom prst="roundRect">
            <a:avLst>
              <a:gd name="adj" fmla="val 3705"/>
            </a:avLst>
          </a:prstGeom>
          <a:solidFill>
            <a:srgbClr val="B6D6FC"/>
          </a:solidFill>
          <a:ln/>
        </p:spPr>
        <p:txBody>
          <a:bodyPr/>
          <a:lstStyle/>
          <a:p>
            <a:endParaRPr lang="en-US" sz="1667">
              <a:latin typeface="Arial" panose="020B0604020202020204" pitchFamily="34" charset="0"/>
              <a:cs typeface="Arial" panose="020B0604020202020204" pitchFamily="34" charset="0"/>
            </a:endParaRPr>
          </a:p>
        </p:txBody>
      </p:sp>
      <p:pic>
        <p:nvPicPr>
          <p:cNvPr id="10" name="Image 1" descr="preencoded.png">
            <a:extLst>
              <a:ext uri="{FF2B5EF4-FFF2-40B4-BE49-F238E27FC236}">
                <a16:creationId xmlns:a16="http://schemas.microsoft.com/office/drawing/2014/main" id="{02D500C8-6BA2-7F07-2A72-E74AF9322735}"/>
              </a:ext>
            </a:extLst>
          </p:cNvPr>
          <p:cNvPicPr>
            <a:picLocks noChangeAspect="1"/>
          </p:cNvPicPr>
          <p:nvPr/>
        </p:nvPicPr>
        <p:blipFill>
          <a:blip r:embed="rId3"/>
          <a:stretch>
            <a:fillRect/>
          </a:stretch>
        </p:blipFill>
        <p:spPr>
          <a:xfrm>
            <a:off x="1426766" y="4875461"/>
            <a:ext cx="176113" cy="140891"/>
          </a:xfrm>
          <a:prstGeom prst="rect">
            <a:avLst/>
          </a:prstGeom>
        </p:spPr>
      </p:pic>
      <p:sp>
        <p:nvSpPr>
          <p:cNvPr id="11" name="Text 7">
            <a:extLst>
              <a:ext uri="{FF2B5EF4-FFF2-40B4-BE49-F238E27FC236}">
                <a16:creationId xmlns:a16="http://schemas.microsoft.com/office/drawing/2014/main" id="{C5AC20B3-512F-0705-6C30-22ED7293836C}"/>
              </a:ext>
            </a:extLst>
          </p:cNvPr>
          <p:cNvSpPr/>
          <p:nvPr/>
        </p:nvSpPr>
        <p:spPr>
          <a:xfrm>
            <a:off x="1743770" y="4825951"/>
            <a:ext cx="4131371" cy="1352550"/>
          </a:xfrm>
          <a:prstGeom prst="rect">
            <a:avLst/>
          </a:prstGeom>
          <a:noFill/>
          <a:ln/>
        </p:spPr>
        <p:txBody>
          <a:bodyPr wrap="square" rtlCol="0" anchor="t"/>
          <a:lstStyle/>
          <a:p>
            <a:r>
              <a:rPr lang="en-US" sz="1667" kern="0" spc="-22" dirty="0">
                <a:solidFill>
                  <a:srgbClr val="000000"/>
                </a:solidFill>
                <a:latin typeface="Arial" panose="020B0604020202020204" pitchFamily="34" charset="0"/>
                <a:ea typeface="Raleway" pitchFamily="34" charset="-122"/>
                <a:cs typeface="Arial" panose="020B0604020202020204" pitchFamily="34" charset="0"/>
              </a:rPr>
              <a:t>The x, y coordinate for the centre of your screen is 0, 0. Positive x values are right and negative left. Positive y values are up and negative down. Therefore a position of (0.5, 0) will position your target on the right of the screen.</a:t>
            </a:r>
            <a:endParaRPr lang="en-US" sz="1667" dirty="0">
              <a:latin typeface="Arial" panose="020B0604020202020204" pitchFamily="34" charset="0"/>
              <a:cs typeface="Arial" panose="020B0604020202020204" pitchFamily="34" charset="0"/>
            </a:endParaRPr>
          </a:p>
        </p:txBody>
      </p:sp>
      <p:pic>
        <p:nvPicPr>
          <p:cNvPr id="13" name="Image 3" descr="preencoded.png">
            <a:extLst>
              <a:ext uri="{FF2B5EF4-FFF2-40B4-BE49-F238E27FC236}">
                <a16:creationId xmlns:a16="http://schemas.microsoft.com/office/drawing/2014/main" id="{710378FD-4424-3D25-449E-607CB61C2E2E}"/>
              </a:ext>
            </a:extLst>
          </p:cNvPr>
          <p:cNvPicPr>
            <a:picLocks noChangeAspect="1"/>
          </p:cNvPicPr>
          <p:nvPr/>
        </p:nvPicPr>
        <p:blipFill>
          <a:blip r:embed="rId4"/>
          <a:stretch>
            <a:fillRect/>
          </a:stretch>
        </p:blipFill>
        <p:spPr>
          <a:xfrm>
            <a:off x="6840339" y="1840014"/>
            <a:ext cx="4719695" cy="2917621"/>
          </a:xfrm>
          <a:prstGeom prst="rect">
            <a:avLst/>
          </a:prstGeom>
        </p:spPr>
      </p:pic>
      <p:sp>
        <p:nvSpPr>
          <p:cNvPr id="2" name="Text 1">
            <a:extLst>
              <a:ext uri="{FF2B5EF4-FFF2-40B4-BE49-F238E27FC236}">
                <a16:creationId xmlns:a16="http://schemas.microsoft.com/office/drawing/2014/main" id="{EBDCAD82-B258-EC7D-1D4A-F3BE50C19B34}"/>
              </a:ext>
            </a:extLst>
          </p:cNvPr>
          <p:cNvSpPr/>
          <p:nvPr/>
        </p:nvSpPr>
        <p:spPr>
          <a:xfrm>
            <a:off x="1131094" y="503139"/>
            <a:ext cx="2938165" cy="440333"/>
          </a:xfrm>
          <a:prstGeom prst="rect">
            <a:avLst/>
          </a:prstGeom>
          <a:noFill/>
          <a:ln/>
        </p:spPr>
        <p:txBody>
          <a:bodyPr wrap="none" rtlCol="0" anchor="t"/>
          <a:lstStyle/>
          <a:p>
            <a:pPr>
              <a:lnSpc>
                <a:spcPts val="3467"/>
              </a:lnSpc>
            </a:pPr>
            <a:r>
              <a:rPr lang="en-US" sz="3333" b="1" kern="0" spc="-83" dirty="0">
                <a:solidFill>
                  <a:srgbClr val="000000"/>
                </a:solidFill>
                <a:latin typeface="Arial" panose="020B0604020202020204" pitchFamily="34" charset="0"/>
                <a:ea typeface="Raleway" pitchFamily="34" charset="-122"/>
                <a:cs typeface="Arial" panose="020B0604020202020204" pitchFamily="34" charset="0"/>
              </a:rPr>
              <a:t>Presenting Shapes: Add a “Target”</a:t>
            </a:r>
            <a:endParaRPr lang="en-US" sz="3333"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820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608657" y="488206"/>
            <a:ext cx="5585619" cy="504329"/>
          </a:xfrm>
          <a:prstGeom prst="rect">
            <a:avLst/>
          </a:prstGeom>
          <a:noFill/>
          <a:ln/>
        </p:spPr>
        <p:txBody>
          <a:bodyPr wrap="none" rtlCol="0" anchor="t"/>
          <a:lstStyle/>
          <a:p>
            <a:pPr>
              <a:lnSpc>
                <a:spcPts val="3972"/>
              </a:lnSpc>
            </a:pPr>
            <a:r>
              <a:rPr lang="en-US" sz="3177" b="1" kern="0" spc="-95" dirty="0">
                <a:solidFill>
                  <a:srgbClr val="000000"/>
                </a:solidFill>
                <a:latin typeface="Arial" panose="020B0604020202020204" pitchFamily="34" charset="0"/>
                <a:ea typeface="Raleway" pitchFamily="34" charset="-122"/>
                <a:cs typeface="Arial" panose="020B0604020202020204" pitchFamily="34" charset="0"/>
              </a:rPr>
              <a:t>Understanding PsychoPy units</a:t>
            </a:r>
            <a:endParaRPr lang="en-US" sz="3177" dirty="0">
              <a:latin typeface="Arial" panose="020B0604020202020204" pitchFamily="34" charset="0"/>
              <a:cs typeface="Arial" panose="020B0604020202020204" pitchFamily="34" charset="0"/>
            </a:endParaRPr>
          </a:p>
        </p:txBody>
      </p:sp>
      <p:sp>
        <p:nvSpPr>
          <p:cNvPr id="5" name="Text 2"/>
          <p:cNvSpPr/>
          <p:nvPr/>
        </p:nvSpPr>
        <p:spPr>
          <a:xfrm>
            <a:off x="608657" y="1335484"/>
            <a:ext cx="5290493" cy="1291332"/>
          </a:xfrm>
          <a:prstGeom prst="rect">
            <a:avLst/>
          </a:prstGeom>
          <a:noFill/>
          <a:ln/>
        </p:spPr>
        <p:txBody>
          <a:bodyPr wrap="square" rtlCol="0" anchor="t"/>
          <a:lstStyle/>
          <a:p>
            <a:pPr>
              <a:lnSpc>
                <a:spcPts val="2033"/>
              </a:lnSpc>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When controlling the size and position of your stimuli, you want to know what unit stimuli are presented in. You can see what unit your stimuli are using in the</a:t>
            </a:r>
            <a:r>
              <a:rPr lang="en-US" sz="1667" b="1" kern="0" spc="-26" dirty="0">
                <a:solidFill>
                  <a:srgbClr val="272525"/>
                </a:solidFill>
                <a:latin typeface="Arial" panose="020B0604020202020204" pitchFamily="34" charset="0"/>
                <a:ea typeface="Raleway" pitchFamily="34" charset="-122"/>
                <a:cs typeface="Arial" panose="020B0604020202020204" pitchFamily="34" charset="0"/>
              </a:rPr>
              <a:t> layout </a:t>
            </a:r>
            <a:r>
              <a:rPr lang="en-US" sz="1667" kern="0" spc="-26" dirty="0">
                <a:solidFill>
                  <a:srgbClr val="272525"/>
                </a:solidFill>
                <a:latin typeface="Arial" panose="020B0604020202020204" pitchFamily="34" charset="0"/>
                <a:ea typeface="Raleway" pitchFamily="34" charset="-122"/>
                <a:cs typeface="Arial" panose="020B0604020202020204" pitchFamily="34" charset="0"/>
              </a:rPr>
              <a:t>tab. You can see more about PsychoPy units </a:t>
            </a:r>
            <a:r>
              <a:rPr lang="en-US" sz="1667" u="sng" kern="0" spc="-26" dirty="0">
                <a:solidFill>
                  <a:srgbClr val="15A1B7"/>
                </a:solidFill>
                <a:latin typeface="Arial" panose="020B0604020202020204" pitchFamily="34" charset="0"/>
                <a:ea typeface="Raleway" pitchFamily="34" charset="-122"/>
                <a:cs typeface="Arial" panose="020B0604020202020204" pitchFamily="34" charset="0"/>
                <a:hlinkClick r:id="rId3">
                  <a:extLst>
                    <a:ext uri="{A12FA001-AC4F-418D-AE19-62706E023703}">
                      <ahyp:hlinkClr xmlns:ahyp="http://schemas.microsoft.com/office/drawing/2018/hyperlinkcolor" val="tx"/>
                    </a:ext>
                  </a:extLst>
                </a:hlinkClick>
              </a:rPr>
              <a:t>here</a:t>
            </a:r>
            <a:r>
              <a:rPr lang="en-US" sz="1667" kern="0" spc="-26" dirty="0">
                <a:solidFill>
                  <a:srgbClr val="272525"/>
                </a:solidFill>
                <a:latin typeface="Arial" panose="020B0604020202020204" pitchFamily="34" charset="0"/>
                <a:ea typeface="Raleway" pitchFamily="34" charset="-122"/>
                <a:cs typeface="Arial" panose="020B0604020202020204" pitchFamily="34" charset="0"/>
              </a:rPr>
              <a:t>.</a:t>
            </a:r>
            <a:endParaRPr lang="en-US" sz="1667" dirty="0">
              <a:latin typeface="Arial" panose="020B0604020202020204" pitchFamily="34" charset="0"/>
              <a:cs typeface="Arial" panose="020B0604020202020204" pitchFamily="34" charset="0"/>
            </a:endParaRPr>
          </a:p>
        </p:txBody>
      </p:sp>
      <p:sp>
        <p:nvSpPr>
          <p:cNvPr id="6" name="Text 3"/>
          <p:cNvSpPr/>
          <p:nvPr/>
        </p:nvSpPr>
        <p:spPr>
          <a:xfrm>
            <a:off x="608657" y="2808387"/>
            <a:ext cx="5290494" cy="1743075"/>
          </a:xfrm>
          <a:prstGeom prst="rect">
            <a:avLst/>
          </a:prstGeom>
          <a:noFill/>
          <a:ln/>
        </p:spPr>
        <p:txBody>
          <a:bodyPr wrap="square" rtlCol="0" anchor="t"/>
          <a:lstStyle/>
          <a:p>
            <a:pPr marL="285739" indent="-285739">
              <a:lnSpc>
                <a:spcPts val="2287"/>
              </a:lnSpc>
              <a:buSzPct val="100000"/>
              <a:buChar char="•"/>
            </a:pPr>
            <a:r>
              <a:rPr lang="en-US" sz="1667" b="1" kern="0" spc="-26" dirty="0">
                <a:solidFill>
                  <a:srgbClr val="272525"/>
                </a:solidFill>
                <a:latin typeface="Arial" panose="020B0604020202020204" pitchFamily="34" charset="0"/>
                <a:ea typeface="Raleway" pitchFamily="34" charset="-122"/>
                <a:cs typeface="Arial" panose="020B0604020202020204" pitchFamily="34" charset="0"/>
              </a:rPr>
              <a:t>from exp settings:</a:t>
            </a:r>
            <a:r>
              <a:rPr lang="en-US" sz="1667" kern="0" spc="-26" dirty="0">
                <a:solidFill>
                  <a:srgbClr val="272525"/>
                </a:solidFill>
                <a:latin typeface="Arial" panose="020B0604020202020204" pitchFamily="34" charset="0"/>
                <a:ea typeface="Raleway" pitchFamily="34" charset="-122"/>
                <a:cs typeface="Arial" panose="020B0604020202020204" pitchFamily="34" charset="0"/>
              </a:rPr>
              <a:t> unit inherited from global experiment settings (see next slide).</a:t>
            </a:r>
            <a:r>
              <a:rPr lang="en-US" sz="1667" b="1" kern="0" spc="-26" dirty="0">
                <a:solidFill>
                  <a:srgbClr val="272525"/>
                </a:solidFill>
                <a:latin typeface="Arial" panose="020B0604020202020204" pitchFamily="34" charset="0"/>
                <a:ea typeface="Raleway" pitchFamily="34" charset="-122"/>
                <a:cs typeface="Arial" panose="020B0604020202020204" pitchFamily="34" charset="0"/>
              </a:rPr>
              <a:t> </a:t>
            </a:r>
            <a:r>
              <a:rPr lang="en-US" sz="1667" kern="0" spc="-26" dirty="0">
                <a:solidFill>
                  <a:srgbClr val="272525"/>
                </a:solidFill>
                <a:latin typeface="Arial" panose="020B0604020202020204" pitchFamily="34" charset="0"/>
                <a:ea typeface="Raleway" pitchFamily="34" charset="-122"/>
                <a:cs typeface="Arial" panose="020B0604020202020204" pitchFamily="34" charset="0"/>
              </a:rPr>
              <a:t>By default we use "height". This means that everything will be scaled proportionally to the window size. a size of 0.5 corresponds to 50% of the window height. </a:t>
            </a:r>
            <a:endParaRPr lang="en-US" sz="1667" dirty="0">
              <a:latin typeface="Arial" panose="020B0604020202020204" pitchFamily="34" charset="0"/>
              <a:cs typeface="Arial" panose="020B0604020202020204" pitchFamily="34" charset="0"/>
            </a:endParaRPr>
          </a:p>
        </p:txBody>
      </p:sp>
      <p:pic>
        <p:nvPicPr>
          <p:cNvPr id="8" name="Image 1" descr="preencoded.png"/>
          <p:cNvPicPr>
            <a:picLocks noChangeAspect="1"/>
          </p:cNvPicPr>
          <p:nvPr/>
        </p:nvPicPr>
        <p:blipFill>
          <a:blip r:embed="rId4"/>
          <a:stretch>
            <a:fillRect/>
          </a:stretch>
        </p:blipFill>
        <p:spPr>
          <a:xfrm>
            <a:off x="6584950" y="1014055"/>
            <a:ext cx="4241800" cy="2612947"/>
          </a:xfrm>
          <a:prstGeom prst="rect">
            <a:avLst/>
          </a:prstGeom>
        </p:spPr>
      </p:pic>
      <p:sp>
        <p:nvSpPr>
          <p:cNvPr id="9" name="Shape 5"/>
          <p:cNvSpPr/>
          <p:nvPr/>
        </p:nvSpPr>
        <p:spPr>
          <a:xfrm>
            <a:off x="6299200" y="3793431"/>
            <a:ext cx="5070389" cy="2219325"/>
          </a:xfrm>
          <a:prstGeom prst="roundRect">
            <a:avLst>
              <a:gd name="adj" fmla="val 3273"/>
            </a:avLst>
          </a:prstGeom>
          <a:solidFill>
            <a:srgbClr val="FCF2B5"/>
          </a:solidFill>
          <a:ln/>
        </p:spPr>
        <p:txBody>
          <a:bodyPr/>
          <a:lstStyle/>
          <a:p>
            <a:endParaRPr lang="en-US" sz="1667">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5"/>
          <a:stretch>
            <a:fillRect/>
          </a:stretch>
        </p:blipFill>
        <p:spPr>
          <a:xfrm>
            <a:off x="6460530" y="4038005"/>
            <a:ext cx="281250" cy="161330"/>
          </a:xfrm>
          <a:prstGeom prst="rect">
            <a:avLst/>
          </a:prstGeom>
        </p:spPr>
      </p:pic>
      <p:sp>
        <p:nvSpPr>
          <p:cNvPr id="11" name="Text 6"/>
          <p:cNvSpPr/>
          <p:nvPr/>
        </p:nvSpPr>
        <p:spPr>
          <a:xfrm>
            <a:off x="6823571" y="3978969"/>
            <a:ext cx="4114304" cy="1807865"/>
          </a:xfrm>
          <a:prstGeom prst="rect">
            <a:avLst/>
          </a:prstGeom>
          <a:noFill/>
          <a:ln/>
        </p:spPr>
        <p:txBody>
          <a:bodyPr wrap="square" rtlCol="0" anchor="t"/>
          <a:lstStyle/>
          <a:p>
            <a:pPr>
              <a:lnSpc>
                <a:spcPts val="2033"/>
              </a:lnSpc>
            </a:pPr>
            <a:r>
              <a:rPr lang="en-US" sz="1667" kern="0" spc="-26" dirty="0">
                <a:solidFill>
                  <a:srgbClr val="000000"/>
                </a:solidFill>
                <a:latin typeface="Arial" panose="020B0604020202020204" pitchFamily="34" charset="0"/>
                <a:ea typeface="Raleway" pitchFamily="34" charset="-122"/>
                <a:cs typeface="Arial" panose="020B0604020202020204" pitchFamily="34" charset="0"/>
              </a:rPr>
              <a:t>If you are using any unit other than "height" or "norm" you must configure your monitor settings in the Monitor Centre. For online experiments, we recommend "height" units because this means that stimuli will scale proportionally to the participants screen.</a:t>
            </a:r>
            <a:endParaRPr lang="en-US" sz="1667"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317774" y="499368"/>
            <a:ext cx="4288731" cy="461467"/>
          </a:xfrm>
          <a:prstGeom prst="rect">
            <a:avLst/>
          </a:prstGeom>
          <a:noFill/>
          <a:ln/>
        </p:spPr>
        <p:txBody>
          <a:bodyPr wrap="none" rtlCol="0" anchor="t"/>
          <a:lstStyle/>
          <a:p>
            <a:pPr>
              <a:lnSpc>
                <a:spcPts val="3634"/>
              </a:lnSpc>
            </a:pPr>
            <a:r>
              <a:rPr lang="en-US" sz="2907" b="1" kern="0" spc="-87" dirty="0">
                <a:solidFill>
                  <a:srgbClr val="000000"/>
                </a:solidFill>
                <a:latin typeface="Arial" panose="020B0604020202020204" pitchFamily="34" charset="0"/>
                <a:ea typeface="Raleway" pitchFamily="34" charset="-122"/>
                <a:cs typeface="Arial" panose="020B0604020202020204" pitchFamily="34" charset="0"/>
              </a:rPr>
              <a:t>Your Experiment Settings </a:t>
            </a:r>
            <a:endParaRPr lang="en-US" sz="2907" dirty="0">
              <a:latin typeface="Arial" panose="020B0604020202020204" pitchFamily="34" charset="0"/>
              <a:cs typeface="Arial" panose="020B0604020202020204" pitchFamily="34" charset="0"/>
            </a:endParaRPr>
          </a:p>
        </p:txBody>
      </p:sp>
      <p:pic>
        <p:nvPicPr>
          <p:cNvPr id="5" name="Image 1" descr="preencoded.png"/>
          <p:cNvPicPr>
            <a:picLocks noChangeAspect="1"/>
          </p:cNvPicPr>
          <p:nvPr/>
        </p:nvPicPr>
        <p:blipFill>
          <a:blip r:embed="rId3"/>
          <a:stretch>
            <a:fillRect/>
          </a:stretch>
        </p:blipFill>
        <p:spPr>
          <a:xfrm>
            <a:off x="791964" y="597397"/>
            <a:ext cx="352822" cy="270173"/>
          </a:xfrm>
          <a:prstGeom prst="rect">
            <a:avLst/>
          </a:prstGeom>
        </p:spPr>
      </p:pic>
      <p:sp>
        <p:nvSpPr>
          <p:cNvPr id="6" name="Text 2"/>
          <p:cNvSpPr/>
          <p:nvPr/>
        </p:nvSpPr>
        <p:spPr>
          <a:xfrm>
            <a:off x="968376" y="1732062"/>
            <a:ext cx="4947344" cy="709018"/>
          </a:xfrm>
          <a:prstGeom prst="rect">
            <a:avLst/>
          </a:prstGeom>
          <a:noFill/>
          <a:ln/>
        </p:spPr>
        <p:txBody>
          <a:bodyPr wrap="square" rtlCol="0" anchor="t"/>
          <a:lstStyle/>
          <a:p>
            <a:pPr>
              <a:lnSpc>
                <a:spcPts val="1861"/>
              </a:lnSpc>
            </a:pPr>
            <a:r>
              <a:rPr lang="en-US" sz="1667" kern="0" spc="-23" dirty="0">
                <a:solidFill>
                  <a:srgbClr val="272525"/>
                </a:solidFill>
                <a:latin typeface="Arial" panose="020B0604020202020204" pitchFamily="34" charset="0"/>
                <a:ea typeface="Raleway" pitchFamily="34" charset="-122"/>
                <a:cs typeface="Arial" panose="020B0604020202020204" pitchFamily="34" charset="0"/>
              </a:rPr>
              <a:t>By selecting the cog icon  at the top of the Builder app, you can access the global settings of your experiment.</a:t>
            </a:r>
            <a:endParaRPr lang="en-US" sz="1667" dirty="0">
              <a:latin typeface="Arial" panose="020B0604020202020204" pitchFamily="34" charset="0"/>
              <a:cs typeface="Arial" panose="020B0604020202020204" pitchFamily="34" charset="0"/>
            </a:endParaRPr>
          </a:p>
        </p:txBody>
      </p:sp>
      <p:sp>
        <p:nvSpPr>
          <p:cNvPr id="7" name="Text 3"/>
          <p:cNvSpPr/>
          <p:nvPr/>
        </p:nvSpPr>
        <p:spPr>
          <a:xfrm>
            <a:off x="968376" y="2573933"/>
            <a:ext cx="4947344" cy="945356"/>
          </a:xfrm>
          <a:prstGeom prst="rect">
            <a:avLst/>
          </a:prstGeom>
          <a:noFill/>
          <a:ln/>
        </p:spPr>
        <p:txBody>
          <a:bodyPr wrap="square" rtlCol="0" anchor="t"/>
          <a:lstStyle/>
          <a:p>
            <a:pPr>
              <a:lnSpc>
                <a:spcPts val="1861"/>
              </a:lnSpc>
            </a:pPr>
            <a:r>
              <a:rPr lang="en-US" sz="1667" kern="0" spc="-23" dirty="0">
                <a:solidFill>
                  <a:srgbClr val="272525"/>
                </a:solidFill>
                <a:latin typeface="Arial" panose="020B0604020202020204" pitchFamily="34" charset="0"/>
                <a:ea typeface="Raleway" pitchFamily="34" charset="-122"/>
                <a:cs typeface="Arial" panose="020B0604020202020204" pitchFamily="34" charset="0"/>
              </a:rPr>
              <a:t>In the "Basic" tab you can configure your experiment name, what version of PsychoPy you are using and add/remove fields in the "Experiment Info".</a:t>
            </a:r>
            <a:endParaRPr lang="en-US" sz="1667" dirty="0">
              <a:latin typeface="Arial" panose="020B0604020202020204" pitchFamily="34" charset="0"/>
              <a:cs typeface="Arial" panose="020B0604020202020204" pitchFamily="34" charset="0"/>
            </a:endParaRPr>
          </a:p>
        </p:txBody>
      </p:sp>
      <p:sp>
        <p:nvSpPr>
          <p:cNvPr id="8" name="Text 4"/>
          <p:cNvSpPr/>
          <p:nvPr/>
        </p:nvSpPr>
        <p:spPr>
          <a:xfrm>
            <a:off x="968376" y="3652144"/>
            <a:ext cx="4947344" cy="945356"/>
          </a:xfrm>
          <a:prstGeom prst="rect">
            <a:avLst/>
          </a:prstGeom>
          <a:noFill/>
          <a:ln/>
        </p:spPr>
        <p:txBody>
          <a:bodyPr wrap="square" rtlCol="0" anchor="t"/>
          <a:lstStyle/>
          <a:p>
            <a:pPr>
              <a:lnSpc>
                <a:spcPts val="1861"/>
              </a:lnSpc>
            </a:pPr>
            <a:r>
              <a:rPr lang="en-US" sz="1667" kern="0" spc="-23" dirty="0">
                <a:solidFill>
                  <a:srgbClr val="272525"/>
                </a:solidFill>
                <a:latin typeface="Arial" panose="020B0604020202020204" pitchFamily="34" charset="0"/>
                <a:ea typeface="Raleway" pitchFamily="34" charset="-122"/>
                <a:cs typeface="Arial" panose="020B0604020202020204" pitchFamily="34" charset="0"/>
              </a:rPr>
              <a:t>In the "Screen" tab you can set up the global units used in your experiment, if you want to use full screen, and which monitor from your </a:t>
            </a:r>
            <a:r>
              <a:rPr lang="en-US" sz="1667" u="sng" kern="0" spc="-23" dirty="0">
                <a:solidFill>
                  <a:srgbClr val="15A1B7"/>
                </a:solidFill>
                <a:latin typeface="Arial" panose="020B0604020202020204" pitchFamily="34" charset="0"/>
                <a:ea typeface="Raleway" pitchFamily="34" charset="-122"/>
                <a:cs typeface="Arial" panose="020B0604020202020204" pitchFamily="34" charset="0"/>
                <a:hlinkClick r:id="rId4">
                  <a:extLst>
                    <a:ext uri="{A12FA001-AC4F-418D-AE19-62706E023703}">
                      <ahyp:hlinkClr xmlns:ahyp="http://schemas.microsoft.com/office/drawing/2018/hyperlinkcolor" val="tx"/>
                    </a:ext>
                  </a:extLst>
                </a:hlinkClick>
              </a:rPr>
              <a:t>Monitor Centre</a:t>
            </a:r>
            <a:r>
              <a:rPr lang="en-US" sz="1667" kern="0" spc="-23" dirty="0">
                <a:solidFill>
                  <a:srgbClr val="272525"/>
                </a:solidFill>
                <a:latin typeface="Arial" panose="020B0604020202020204" pitchFamily="34" charset="0"/>
                <a:ea typeface="Raleway" pitchFamily="34" charset="-122"/>
                <a:cs typeface="Arial" panose="020B0604020202020204" pitchFamily="34" charset="0"/>
              </a:rPr>
              <a:t> you want to use.</a:t>
            </a:r>
            <a:endParaRPr lang="en-US" sz="1667" dirty="0">
              <a:latin typeface="Arial" panose="020B0604020202020204" pitchFamily="34" charset="0"/>
              <a:cs typeface="Arial" panose="020B0604020202020204" pitchFamily="34" charset="0"/>
            </a:endParaRPr>
          </a:p>
        </p:txBody>
      </p:sp>
      <p:sp>
        <p:nvSpPr>
          <p:cNvPr id="9" name="Shape 5"/>
          <p:cNvSpPr/>
          <p:nvPr/>
        </p:nvSpPr>
        <p:spPr>
          <a:xfrm>
            <a:off x="968376" y="4763592"/>
            <a:ext cx="4947344" cy="1321793"/>
          </a:xfrm>
          <a:prstGeom prst="roundRect">
            <a:avLst>
              <a:gd name="adj" fmla="val 5028"/>
            </a:avLst>
          </a:prstGeom>
          <a:solidFill>
            <a:srgbClr val="B6D6FC"/>
          </a:solidFill>
          <a:ln/>
        </p:spPr>
        <p:txBody>
          <a:bodyPr/>
          <a:lstStyle/>
          <a:p>
            <a:endParaRPr lang="en-US" sz="1667">
              <a:latin typeface="Arial" panose="020B0604020202020204" pitchFamily="34" charset="0"/>
              <a:cs typeface="Arial" panose="020B0604020202020204" pitchFamily="34" charset="0"/>
            </a:endParaRPr>
          </a:p>
        </p:txBody>
      </p:sp>
      <p:sp>
        <p:nvSpPr>
          <p:cNvPr id="11" name="Text 6"/>
          <p:cNvSpPr/>
          <p:nvPr/>
        </p:nvSpPr>
        <p:spPr>
          <a:xfrm>
            <a:off x="1596231" y="4927204"/>
            <a:ext cx="4014434" cy="945356"/>
          </a:xfrm>
          <a:prstGeom prst="rect">
            <a:avLst/>
          </a:prstGeom>
          <a:noFill/>
          <a:ln/>
        </p:spPr>
        <p:txBody>
          <a:bodyPr wrap="square" rtlCol="0" anchor="t"/>
          <a:lstStyle/>
          <a:p>
            <a:pPr>
              <a:lnSpc>
                <a:spcPts val="1861"/>
              </a:lnSpc>
            </a:pPr>
            <a:r>
              <a:rPr lang="en-US" sz="1667" kern="0" spc="-23" dirty="0">
                <a:solidFill>
                  <a:srgbClr val="000000"/>
                </a:solidFill>
                <a:latin typeface="Arial" panose="020B0604020202020204" pitchFamily="34" charset="0"/>
                <a:ea typeface="Raleway" pitchFamily="34" charset="-122"/>
                <a:cs typeface="Arial" panose="020B0604020202020204" pitchFamily="34" charset="0"/>
              </a:rPr>
              <a:t>Everything in the "Experiment Info" will be presented as options in a dialogue box at the start of your experiment. So you can provide info such as participant ID.</a:t>
            </a:r>
            <a:endParaRPr lang="en-US" sz="1667" dirty="0">
              <a:latin typeface="Arial" panose="020B0604020202020204" pitchFamily="34" charset="0"/>
              <a:cs typeface="Arial" panose="020B0604020202020204" pitchFamily="34" charset="0"/>
            </a:endParaRPr>
          </a:p>
        </p:txBody>
      </p:sp>
      <p:pic>
        <p:nvPicPr>
          <p:cNvPr id="12" name="Image 3" descr="preencoded.png"/>
          <p:cNvPicPr>
            <a:picLocks noChangeAspect="1"/>
          </p:cNvPicPr>
          <p:nvPr/>
        </p:nvPicPr>
        <p:blipFill>
          <a:blip r:embed="rId5"/>
          <a:stretch>
            <a:fillRect/>
          </a:stretch>
        </p:blipFill>
        <p:spPr>
          <a:xfrm>
            <a:off x="6282432" y="1765300"/>
            <a:ext cx="4655443" cy="4135026"/>
          </a:xfrm>
          <a:prstGeom prst="rect">
            <a:avLst/>
          </a:prstGeom>
        </p:spPr>
      </p:pic>
      <p:pic>
        <p:nvPicPr>
          <p:cNvPr id="14" name="Image 1" descr="preencoded.png">
            <a:extLst>
              <a:ext uri="{FF2B5EF4-FFF2-40B4-BE49-F238E27FC236}">
                <a16:creationId xmlns:a16="http://schemas.microsoft.com/office/drawing/2014/main" id="{1D84BC7D-36A8-69F7-83CD-1F68D06C8394}"/>
              </a:ext>
            </a:extLst>
          </p:cNvPr>
          <p:cNvPicPr>
            <a:picLocks noChangeAspect="1"/>
          </p:cNvPicPr>
          <p:nvPr/>
        </p:nvPicPr>
        <p:blipFill>
          <a:blip r:embed="rId6"/>
          <a:stretch>
            <a:fillRect/>
          </a:stretch>
        </p:blipFill>
        <p:spPr>
          <a:xfrm>
            <a:off x="1067593" y="4927203"/>
            <a:ext cx="161925" cy="1295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381001" y="842665"/>
            <a:ext cx="6065143"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Gather a Keyboard Response</a:t>
            </a:r>
            <a:endParaRPr lang="en-US" sz="3645" dirty="0">
              <a:latin typeface="Arial" panose="020B0604020202020204" pitchFamily="34" charset="0"/>
              <a:cs typeface="Arial" panose="020B0604020202020204" pitchFamily="34" charset="0"/>
            </a:endParaRPr>
          </a:p>
        </p:txBody>
      </p:sp>
      <p:sp>
        <p:nvSpPr>
          <p:cNvPr id="5" name="Text 2"/>
          <p:cNvSpPr/>
          <p:nvPr/>
        </p:nvSpPr>
        <p:spPr>
          <a:xfrm>
            <a:off x="381001" y="2820046"/>
            <a:ext cx="5489178" cy="888504"/>
          </a:xfrm>
          <a:prstGeom prst="rect">
            <a:avLst/>
          </a:prstGeom>
          <a:noFill/>
          <a:ln/>
        </p:spPr>
        <p:txBody>
          <a:bodyPr wrap="squar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Keyboard responses also have a start time and duration, by default, the duration field is blank (meaning it will last indefinitely).</a:t>
            </a:r>
            <a:endParaRPr lang="en-US" sz="1667" dirty="0">
              <a:latin typeface="Arial" panose="020B0604020202020204" pitchFamily="34" charset="0"/>
              <a:cs typeface="Arial" panose="020B0604020202020204" pitchFamily="34" charset="0"/>
            </a:endParaRPr>
          </a:p>
        </p:txBody>
      </p:sp>
      <p:sp>
        <p:nvSpPr>
          <p:cNvPr id="6" name="Text 3"/>
          <p:cNvSpPr/>
          <p:nvPr/>
        </p:nvSpPr>
        <p:spPr>
          <a:xfrm>
            <a:off x="381001" y="3875137"/>
            <a:ext cx="5489178" cy="888504"/>
          </a:xfrm>
          <a:prstGeom prst="rect">
            <a:avLst/>
          </a:prstGeom>
          <a:noFill/>
          <a:ln/>
        </p:spPr>
        <p:txBody>
          <a:bodyPr wrap="square" rtlCol="0" anchor="t"/>
          <a:lstStyle/>
          <a:p>
            <a:pPr>
              <a:lnSpc>
                <a:spcPts val="2332"/>
              </a:lnSpc>
            </a:pP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Force end of Routine: </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If checked, a keyboard response will end this routine, and the experiment will move on.</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381001" y="4930230"/>
            <a:ext cx="5489178" cy="888504"/>
          </a:xfrm>
          <a:prstGeom prst="rect">
            <a:avLst/>
          </a:prstGeom>
          <a:noFill/>
          <a:ln/>
        </p:spPr>
        <p:txBody>
          <a:bodyPr wrap="square" rtlCol="0" anchor="t"/>
          <a:lstStyle/>
          <a:p>
            <a:pPr>
              <a:lnSpc>
                <a:spcPts val="2332"/>
              </a:lnSpc>
            </a:pP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Allowed keys:</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A list of key names to watch (each name must be in quotations and separated by commas). if blank, all keys will be watched.</a:t>
            </a:r>
            <a:endParaRPr lang="en-US" sz="1667" dirty="0">
              <a:latin typeface="Arial" panose="020B0604020202020204" pitchFamily="34" charset="0"/>
              <a:cs typeface="Arial" panose="020B0604020202020204" pitchFamily="34" charset="0"/>
            </a:endParaRPr>
          </a:p>
        </p:txBody>
      </p:sp>
      <p:sp>
        <p:nvSpPr>
          <p:cNvPr id="8" name="Text 5"/>
          <p:cNvSpPr/>
          <p:nvPr/>
        </p:nvSpPr>
        <p:spPr>
          <a:xfrm>
            <a:off x="374651" y="1703835"/>
            <a:ext cx="5489178" cy="592336"/>
          </a:xfrm>
          <a:prstGeom prst="rect">
            <a:avLst/>
          </a:prstGeom>
          <a:noFill/>
          <a:ln/>
        </p:spPr>
        <p:txBody>
          <a:bodyPr wrap="square" rtlCol="0" anchor="t"/>
          <a:lstStyle/>
          <a:p>
            <a:pPr>
              <a:lnSpc>
                <a:spcPts val="2332"/>
              </a:lnSpc>
            </a:pPr>
            <a:r>
              <a:rPr lang="en-US" sz="1667" b="1" kern="0" spc="-29" dirty="0">
                <a:solidFill>
                  <a:srgbClr val="F36B32"/>
                </a:solidFill>
                <a:latin typeface="Arial" panose="020B0604020202020204" pitchFamily="34" charset="0"/>
                <a:ea typeface="Raleway" pitchFamily="34" charset="-122"/>
                <a:cs typeface="Arial" panose="020B0604020202020204" pitchFamily="34" charset="0"/>
              </a:rPr>
              <a:t>Add a keyboard component to the trial routine, set the start time to 1 (start of the target) and allow “left” and “right” keys. </a:t>
            </a:r>
            <a:endParaRPr lang="en-US" sz="1667" dirty="0">
              <a:latin typeface="Arial" panose="020B0604020202020204" pitchFamily="34" charset="0"/>
              <a:cs typeface="Arial" panose="020B0604020202020204" pitchFamily="34" charset="0"/>
            </a:endParaRPr>
          </a:p>
        </p:txBody>
      </p:sp>
      <p:pic>
        <p:nvPicPr>
          <p:cNvPr id="9" name="Image 1" descr="preencoded.png"/>
          <p:cNvPicPr>
            <a:picLocks noChangeAspect="1"/>
          </p:cNvPicPr>
          <p:nvPr/>
        </p:nvPicPr>
        <p:blipFill>
          <a:blip r:embed="rId3"/>
          <a:stretch>
            <a:fillRect/>
          </a:stretch>
        </p:blipFill>
        <p:spPr>
          <a:xfrm>
            <a:off x="6328172" y="1893590"/>
            <a:ext cx="5391076" cy="37159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p:cNvSpPr/>
          <p:nvPr/>
        </p:nvSpPr>
        <p:spPr>
          <a:xfrm>
            <a:off x="1698328" y="2578200"/>
            <a:ext cx="3703241"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Check it works!</a:t>
            </a:r>
            <a:endParaRPr lang="en-US" sz="3645" dirty="0">
              <a:latin typeface="Arial" panose="020B0604020202020204" pitchFamily="34" charset="0"/>
              <a:cs typeface="Arial" panose="020B0604020202020204" pitchFamily="34" charset="0"/>
            </a:endParaRPr>
          </a:p>
        </p:txBody>
      </p:sp>
      <p:sp>
        <p:nvSpPr>
          <p:cNvPr id="7" name="Text 3"/>
          <p:cNvSpPr/>
          <p:nvPr/>
        </p:nvSpPr>
        <p:spPr>
          <a:xfrm>
            <a:off x="1698328" y="3434557"/>
            <a:ext cx="8795345" cy="592336"/>
          </a:xfrm>
          <a:prstGeom prst="rect">
            <a:avLst/>
          </a:prstGeom>
          <a:noFill/>
          <a:ln/>
        </p:spPr>
        <p:txBody>
          <a:bodyPr wrap="squar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You can run your experiment by pressing the green "run" icon. You should see your cue appear for 1 second, then your target, which should remain onscreen until a response is made. </a:t>
            </a:r>
            <a:endParaRPr lang="en-US" sz="1667" dirty="0">
              <a:latin typeface="Arial" panose="020B0604020202020204" pitchFamily="34" charset="0"/>
              <a:cs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825501" y="1037431"/>
            <a:ext cx="7039968"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Setting up your trials spreadsheet</a:t>
            </a:r>
            <a:endParaRPr lang="en-US" sz="3645" dirty="0">
              <a:latin typeface="Arial" panose="020B0604020202020204" pitchFamily="34" charset="0"/>
              <a:cs typeface="Arial" panose="020B0604020202020204" pitchFamily="34" charset="0"/>
            </a:endParaRPr>
          </a:p>
        </p:txBody>
      </p:sp>
      <p:sp>
        <p:nvSpPr>
          <p:cNvPr id="5" name="Text 2"/>
          <p:cNvSpPr/>
          <p:nvPr/>
        </p:nvSpPr>
        <p:spPr>
          <a:xfrm>
            <a:off x="825501" y="1997769"/>
            <a:ext cx="4489847" cy="1184672"/>
          </a:xfrm>
          <a:prstGeom prst="rect">
            <a:avLst/>
          </a:prstGeom>
          <a:noFill/>
          <a:ln/>
        </p:spPr>
        <p:txBody>
          <a:bodyPr wrap="squar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Most experiments consist of a </a:t>
            </a: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series of trial</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s. Before making an experiment think about what changes trial by trial and make a spreadsheet.</a:t>
            </a:r>
            <a:endParaRPr lang="en-US" sz="1667" dirty="0">
              <a:latin typeface="Arial" panose="020B0604020202020204" pitchFamily="34" charset="0"/>
              <a:cs typeface="Arial" panose="020B0604020202020204" pitchFamily="34" charset="0"/>
            </a:endParaRPr>
          </a:p>
        </p:txBody>
      </p:sp>
      <p:sp>
        <p:nvSpPr>
          <p:cNvPr id="6" name="Text 3"/>
          <p:cNvSpPr/>
          <p:nvPr/>
        </p:nvSpPr>
        <p:spPr>
          <a:xfrm>
            <a:off x="825501" y="3349030"/>
            <a:ext cx="4489847" cy="296168"/>
          </a:xfrm>
          <a:prstGeom prst="rect">
            <a:avLst/>
          </a:prstGeom>
          <a:noFill/>
          <a:ln/>
        </p:spPr>
        <p:txBody>
          <a:bodyPr wrap="none" rtlCol="0" anchor="t"/>
          <a:lstStyle/>
          <a:p>
            <a:pPr>
              <a:lnSpc>
                <a:spcPts val="2332"/>
              </a:lnSpc>
            </a:pP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What changes trial-by-trial? </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1193136" y="3853457"/>
            <a:ext cx="4122211"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Arrow orientation (90 or 270 degrees)</a:t>
            </a:r>
            <a:endParaRPr lang="en-US" sz="1667" dirty="0">
              <a:latin typeface="Arial" panose="020B0604020202020204" pitchFamily="34" charset="0"/>
              <a:cs typeface="Arial" panose="020B0604020202020204" pitchFamily="34" charset="0"/>
            </a:endParaRPr>
          </a:p>
        </p:txBody>
      </p:sp>
      <p:sp>
        <p:nvSpPr>
          <p:cNvPr id="8" name="Text 5"/>
          <p:cNvSpPr/>
          <p:nvPr/>
        </p:nvSpPr>
        <p:spPr>
          <a:xfrm>
            <a:off x="1193136" y="4260652"/>
            <a:ext cx="4122211"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Target location (x coordinate)</a:t>
            </a:r>
            <a:endParaRPr lang="en-US" sz="1667" dirty="0">
              <a:latin typeface="Arial" panose="020B0604020202020204" pitchFamily="34" charset="0"/>
              <a:cs typeface="Arial" panose="020B0604020202020204" pitchFamily="34" charset="0"/>
            </a:endParaRPr>
          </a:p>
        </p:txBody>
      </p:sp>
      <p:sp>
        <p:nvSpPr>
          <p:cNvPr id="9" name="Text 6"/>
          <p:cNvSpPr/>
          <p:nvPr/>
        </p:nvSpPr>
        <p:spPr>
          <a:xfrm>
            <a:off x="1193136" y="4667845"/>
            <a:ext cx="4122211"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Correct answer (left or right)</a:t>
            </a:r>
            <a:endParaRPr lang="en-US" sz="1667" dirty="0">
              <a:latin typeface="Arial" panose="020B0604020202020204" pitchFamily="34" charset="0"/>
              <a:cs typeface="Arial" panose="020B0604020202020204" pitchFamily="34" charset="0"/>
            </a:endParaRPr>
          </a:p>
        </p:txBody>
      </p:sp>
      <p:sp>
        <p:nvSpPr>
          <p:cNvPr id="11" name="Text 8"/>
          <p:cNvSpPr/>
          <p:nvPr/>
        </p:nvSpPr>
        <p:spPr>
          <a:xfrm>
            <a:off x="5773341" y="1997769"/>
            <a:ext cx="4726583" cy="296168"/>
          </a:xfrm>
          <a:prstGeom prst="rect">
            <a:avLst/>
          </a:prstGeom>
          <a:noFill/>
          <a:ln/>
        </p:spPr>
        <p:txBody>
          <a:bodyPr wrap="none" rtlCol="0" anchor="t"/>
          <a:lstStyle/>
          <a:p>
            <a:pPr>
              <a:lnSpc>
                <a:spcPts val="2332"/>
              </a:lnSpc>
            </a:pPr>
            <a:endParaRPr lang="en-US" sz="1458" dirty="0">
              <a:latin typeface="Arial" panose="020B0604020202020204" pitchFamily="34" charset="0"/>
              <a:cs typeface="Arial" panose="020B0604020202020204" pitchFamily="34" charset="0"/>
            </a:endParaRPr>
          </a:p>
        </p:txBody>
      </p:sp>
      <p:pic>
        <p:nvPicPr>
          <p:cNvPr id="12" name="Image 1" descr="preencoded.png"/>
          <p:cNvPicPr>
            <a:picLocks noChangeAspect="1"/>
          </p:cNvPicPr>
          <p:nvPr/>
        </p:nvPicPr>
        <p:blipFill>
          <a:blip r:embed="rId3"/>
          <a:stretch>
            <a:fillRect/>
          </a:stretch>
        </p:blipFill>
        <p:spPr>
          <a:xfrm>
            <a:off x="5773341" y="2266569"/>
            <a:ext cx="5402659" cy="1882958"/>
          </a:xfrm>
          <a:prstGeom prst="rect">
            <a:avLst/>
          </a:prstGeom>
        </p:spPr>
      </p:pic>
      <p:sp>
        <p:nvSpPr>
          <p:cNvPr id="13" name="Text 9"/>
          <p:cNvSpPr/>
          <p:nvPr/>
        </p:nvSpPr>
        <p:spPr>
          <a:xfrm>
            <a:off x="5773341" y="4357787"/>
            <a:ext cx="4726583" cy="296168"/>
          </a:xfrm>
          <a:prstGeom prst="rect">
            <a:avLst/>
          </a:prstGeom>
          <a:noFill/>
          <a:ln/>
        </p:spPr>
        <p:txBody>
          <a:bodyPr wrap="none" rtlCol="0" anchor="t"/>
          <a:lstStyle/>
          <a:p>
            <a:pPr>
              <a:lnSpc>
                <a:spcPts val="2332"/>
              </a:lnSpc>
            </a:pP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Column headers:</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Parameters that change trial-by-trial.</a:t>
            </a:r>
            <a:endParaRPr lang="en-US" sz="1667" dirty="0">
              <a:latin typeface="Arial" panose="020B0604020202020204" pitchFamily="34" charset="0"/>
              <a:cs typeface="Arial" panose="020B0604020202020204" pitchFamily="34" charset="0"/>
            </a:endParaRPr>
          </a:p>
        </p:txBody>
      </p:sp>
      <p:sp>
        <p:nvSpPr>
          <p:cNvPr id="14" name="Text 10"/>
          <p:cNvSpPr/>
          <p:nvPr/>
        </p:nvSpPr>
        <p:spPr>
          <a:xfrm>
            <a:off x="5773341" y="4820544"/>
            <a:ext cx="4726583" cy="296168"/>
          </a:xfrm>
          <a:prstGeom prst="rect">
            <a:avLst/>
          </a:prstGeom>
          <a:noFill/>
          <a:ln/>
        </p:spPr>
        <p:txBody>
          <a:bodyPr wrap="none" rtlCol="0" anchor="t"/>
          <a:lstStyle/>
          <a:p>
            <a:pPr>
              <a:lnSpc>
                <a:spcPts val="2332"/>
              </a:lnSpc>
            </a:pP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Row values:</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The value of each parameter on each trial. </a:t>
            </a:r>
            <a:endParaRPr lang="en-US" sz="1667" dirty="0">
              <a:latin typeface="Arial" panose="020B0604020202020204" pitchFamily="34" charset="0"/>
              <a:cs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487164" y="218976"/>
            <a:ext cx="5766892" cy="405011"/>
          </a:xfrm>
          <a:prstGeom prst="rect">
            <a:avLst/>
          </a:prstGeom>
          <a:noFill/>
          <a:ln/>
        </p:spPr>
        <p:txBody>
          <a:bodyPr wrap="none" rtlCol="0" anchor="t"/>
          <a:lstStyle/>
          <a:p>
            <a:pPr>
              <a:lnSpc>
                <a:spcPts val="3189"/>
              </a:lnSpc>
            </a:pPr>
            <a:r>
              <a:rPr lang="en-US" sz="3333" b="1" kern="0" spc="-77" dirty="0">
                <a:solidFill>
                  <a:srgbClr val="000000"/>
                </a:solidFill>
                <a:latin typeface="Arial" panose="020B0604020202020204" pitchFamily="34" charset="0"/>
                <a:ea typeface="Raleway" pitchFamily="34" charset="-122"/>
                <a:cs typeface="Arial" panose="020B0604020202020204" pitchFamily="34" charset="0"/>
              </a:rPr>
              <a:t>Repeating a routine e.g. a series of trials</a:t>
            </a:r>
            <a:endParaRPr lang="en-US" sz="3333" dirty="0">
              <a:latin typeface="Arial" panose="020B0604020202020204" pitchFamily="34" charset="0"/>
              <a:cs typeface="Arial" panose="020B0604020202020204" pitchFamily="34" charset="0"/>
            </a:endParaRPr>
          </a:p>
        </p:txBody>
      </p:sp>
      <p:sp>
        <p:nvSpPr>
          <p:cNvPr id="6" name="Text 3"/>
          <p:cNvSpPr/>
          <p:nvPr/>
        </p:nvSpPr>
        <p:spPr>
          <a:xfrm>
            <a:off x="492126" y="1538982"/>
            <a:ext cx="5445820" cy="621804"/>
          </a:xfrm>
          <a:prstGeom prst="rect">
            <a:avLst/>
          </a:prstGeom>
          <a:noFill/>
          <a:ln/>
        </p:spPr>
        <p:txBody>
          <a:bodyPr wrap="square" rtlCol="0" anchor="t"/>
          <a:lstStyle/>
          <a:p>
            <a:pPr>
              <a:lnSpc>
                <a:spcPts val="1633"/>
              </a:lnSpc>
            </a:pPr>
            <a:r>
              <a:rPr lang="en-US" sz="1667" b="1" kern="0" spc="-20" dirty="0">
                <a:solidFill>
                  <a:srgbClr val="F36B32"/>
                </a:solidFill>
                <a:latin typeface="Arial" panose="020B0604020202020204" pitchFamily="34" charset="0"/>
                <a:ea typeface="Raleway" pitchFamily="34" charset="-122"/>
                <a:cs typeface="Arial" panose="020B0604020202020204" pitchFamily="34" charset="0"/>
              </a:rPr>
              <a:t>Select "Insert Loop" and select either side of the routine(s) you want to repeat (for us this is the trial routine)</a:t>
            </a:r>
          </a:p>
          <a:p>
            <a:pPr>
              <a:lnSpc>
                <a:spcPts val="1633"/>
              </a:lnSpc>
            </a:pPr>
            <a:endParaRPr lang="en-US" sz="1667" b="1" kern="0" spc="-20" dirty="0">
              <a:solidFill>
                <a:srgbClr val="F36B32"/>
              </a:solidFill>
              <a:latin typeface="Arial" panose="020B0604020202020204" pitchFamily="34" charset="0"/>
              <a:cs typeface="Arial" panose="020B0604020202020204" pitchFamily="34" charset="0"/>
            </a:endParaRPr>
          </a:p>
          <a:p>
            <a:pPr>
              <a:lnSpc>
                <a:spcPts val="1633"/>
              </a:lnSpc>
            </a:pPr>
            <a:r>
              <a:rPr lang="en-US" sz="1667" b="1" kern="0" spc="-20" dirty="0">
                <a:solidFill>
                  <a:srgbClr val="F36B32"/>
                </a:solidFill>
                <a:latin typeface="Arial" panose="020B0604020202020204" pitchFamily="34" charset="0"/>
                <a:cs typeface="Arial" panose="020B0604020202020204" pitchFamily="34" charset="0"/>
              </a:rPr>
              <a:t>In the conditions field select the spreadsheet we created. </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492126" y="3238314"/>
            <a:ext cx="5445820" cy="414536"/>
          </a:xfrm>
          <a:prstGeom prst="rect">
            <a:avLst/>
          </a:prstGeom>
          <a:noFill/>
          <a:ln/>
        </p:spPr>
        <p:txBody>
          <a:bodyPr wrap="square" rtlCol="0" anchor="t"/>
          <a:lstStyle/>
          <a:p>
            <a:pPr>
              <a:lnSpc>
                <a:spcPts val="1633"/>
              </a:lnSpc>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Conditions</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A spreadsheet detailing what changes trial-by-trial (see previous slide)</a:t>
            </a:r>
            <a:endParaRPr lang="en-US" sz="1667" dirty="0">
              <a:latin typeface="Arial" panose="020B0604020202020204" pitchFamily="34" charset="0"/>
              <a:cs typeface="Arial" panose="020B0604020202020204" pitchFamily="34" charset="0"/>
            </a:endParaRPr>
          </a:p>
        </p:txBody>
      </p:sp>
      <p:sp>
        <p:nvSpPr>
          <p:cNvPr id="8" name="Text 5"/>
          <p:cNvSpPr/>
          <p:nvPr/>
        </p:nvSpPr>
        <p:spPr>
          <a:xfrm>
            <a:off x="492126" y="3769431"/>
            <a:ext cx="5445820" cy="621804"/>
          </a:xfrm>
          <a:prstGeom prst="rect">
            <a:avLst/>
          </a:prstGeom>
          <a:noFill/>
          <a:ln/>
        </p:spPr>
        <p:txBody>
          <a:bodyPr wrap="square" rtlCol="0" anchor="t"/>
          <a:lstStyle/>
          <a:p>
            <a:pPr>
              <a:lnSpc>
                <a:spcPts val="1633"/>
              </a:lnSpc>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nReps:</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the number of times the spreadsheet rows are repeated (if no spreadsheet this is just the number of times the loop repeats)</a:t>
            </a:r>
            <a:endParaRPr lang="en-US" sz="1667" dirty="0">
              <a:latin typeface="Arial" panose="020B0604020202020204" pitchFamily="34" charset="0"/>
              <a:cs typeface="Arial" panose="020B0604020202020204" pitchFamily="34" charset="0"/>
            </a:endParaRPr>
          </a:p>
        </p:txBody>
      </p:sp>
      <p:sp>
        <p:nvSpPr>
          <p:cNvPr id="9" name="Text 6"/>
          <p:cNvSpPr/>
          <p:nvPr/>
        </p:nvSpPr>
        <p:spPr>
          <a:xfrm>
            <a:off x="492126" y="4507817"/>
            <a:ext cx="5445820" cy="414536"/>
          </a:xfrm>
          <a:prstGeom prst="rect">
            <a:avLst/>
          </a:prstGeom>
          <a:noFill/>
          <a:ln/>
        </p:spPr>
        <p:txBody>
          <a:bodyPr wrap="square" rtlCol="0" anchor="t"/>
          <a:lstStyle/>
          <a:p>
            <a:pPr>
              <a:lnSpc>
                <a:spcPts val="1633"/>
              </a:lnSpc>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Selected Rows:</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Row indices from the spreadsheet to present</a:t>
            </a:r>
            <a:endParaRPr lang="en-US" sz="1667" dirty="0">
              <a:latin typeface="Arial" panose="020B0604020202020204" pitchFamily="34" charset="0"/>
              <a:cs typeface="Arial" panose="020B0604020202020204" pitchFamily="34" charset="0"/>
            </a:endParaRPr>
          </a:p>
        </p:txBody>
      </p:sp>
      <p:pic>
        <p:nvPicPr>
          <p:cNvPr id="14" name="Image 2" descr="preencoded.png"/>
          <p:cNvPicPr>
            <a:picLocks noChangeAspect="1"/>
          </p:cNvPicPr>
          <p:nvPr/>
        </p:nvPicPr>
        <p:blipFill>
          <a:blip r:embed="rId3"/>
          <a:stretch>
            <a:fillRect/>
          </a:stretch>
        </p:blipFill>
        <p:spPr>
          <a:xfrm>
            <a:off x="7075588" y="2771787"/>
            <a:ext cx="4512686" cy="3623885"/>
          </a:xfrm>
          <a:prstGeom prst="rect">
            <a:avLst/>
          </a:prstGeom>
        </p:spPr>
      </p:pic>
      <p:pic>
        <p:nvPicPr>
          <p:cNvPr id="3" name="Picture 2">
            <a:extLst>
              <a:ext uri="{FF2B5EF4-FFF2-40B4-BE49-F238E27FC236}">
                <a16:creationId xmlns:a16="http://schemas.microsoft.com/office/drawing/2014/main" id="{EB855263-0E7E-2678-3654-D14B56A26D12}"/>
              </a:ext>
            </a:extLst>
          </p:cNvPr>
          <p:cNvPicPr>
            <a:picLocks noChangeAspect="1"/>
          </p:cNvPicPr>
          <p:nvPr/>
        </p:nvPicPr>
        <p:blipFill>
          <a:blip r:embed="rId4"/>
          <a:stretch>
            <a:fillRect/>
          </a:stretch>
        </p:blipFill>
        <p:spPr>
          <a:xfrm>
            <a:off x="8072437" y="1332251"/>
            <a:ext cx="2821782" cy="116191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BE813-72E9-E60F-B29B-9210A5A7DAE9}"/>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20EA03DC-7A27-E94C-9FC5-63A91D271A62}"/>
              </a:ext>
            </a:extLst>
          </p:cNvPr>
          <p:cNvSpPr/>
          <p:nvPr/>
        </p:nvSpPr>
        <p:spPr>
          <a:xfrm>
            <a:off x="487164" y="218976"/>
            <a:ext cx="5766892" cy="405011"/>
          </a:xfrm>
          <a:prstGeom prst="rect">
            <a:avLst/>
          </a:prstGeom>
          <a:noFill/>
          <a:ln/>
        </p:spPr>
        <p:txBody>
          <a:bodyPr wrap="none" rtlCol="0" anchor="t"/>
          <a:lstStyle/>
          <a:p>
            <a:pPr>
              <a:lnSpc>
                <a:spcPts val="3189"/>
              </a:lnSpc>
            </a:pPr>
            <a:r>
              <a:rPr lang="en-US" sz="3333" b="1" kern="0" spc="-77" dirty="0">
                <a:solidFill>
                  <a:srgbClr val="000000"/>
                </a:solidFill>
                <a:latin typeface="Arial" panose="020B0604020202020204" pitchFamily="34" charset="0"/>
                <a:ea typeface="Raleway" pitchFamily="34" charset="-122"/>
                <a:cs typeface="Arial" panose="020B0604020202020204" pitchFamily="34" charset="0"/>
              </a:rPr>
              <a:t>Repeating a routine e.g. a series of trials</a:t>
            </a:r>
            <a:endParaRPr lang="en-US" sz="3333" dirty="0">
              <a:latin typeface="Arial" panose="020B0604020202020204" pitchFamily="34" charset="0"/>
              <a:cs typeface="Arial" panose="020B0604020202020204" pitchFamily="34" charset="0"/>
            </a:endParaRPr>
          </a:p>
        </p:txBody>
      </p:sp>
      <p:sp>
        <p:nvSpPr>
          <p:cNvPr id="11" name="Shape 8">
            <a:extLst>
              <a:ext uri="{FF2B5EF4-FFF2-40B4-BE49-F238E27FC236}">
                <a16:creationId xmlns:a16="http://schemas.microsoft.com/office/drawing/2014/main" id="{D071434E-029E-3939-142E-28324E2FF3FF}"/>
              </a:ext>
            </a:extLst>
          </p:cNvPr>
          <p:cNvSpPr/>
          <p:nvPr/>
        </p:nvSpPr>
        <p:spPr>
          <a:xfrm>
            <a:off x="487164" y="5207328"/>
            <a:ext cx="5445820" cy="1366639"/>
          </a:xfrm>
          <a:prstGeom prst="roundRect">
            <a:avLst>
              <a:gd name="adj" fmla="val 4268"/>
            </a:avLst>
          </a:prstGeom>
          <a:solidFill>
            <a:srgbClr val="B6D6FC"/>
          </a:solidFill>
          <a:ln/>
        </p:spPr>
        <p:txBody>
          <a:bodyPr/>
          <a:lstStyle/>
          <a:p>
            <a:endParaRPr lang="en-US" sz="1500">
              <a:latin typeface="Arial" panose="020B0604020202020204" pitchFamily="34" charset="0"/>
              <a:cs typeface="Arial" panose="020B0604020202020204" pitchFamily="34" charset="0"/>
            </a:endParaRPr>
          </a:p>
        </p:txBody>
      </p:sp>
      <p:pic>
        <p:nvPicPr>
          <p:cNvPr id="12" name="Image 1" descr="preencoded.png">
            <a:extLst>
              <a:ext uri="{FF2B5EF4-FFF2-40B4-BE49-F238E27FC236}">
                <a16:creationId xmlns:a16="http://schemas.microsoft.com/office/drawing/2014/main" id="{C50ABFAA-8333-D661-2934-9C686B18C46C}"/>
              </a:ext>
            </a:extLst>
          </p:cNvPr>
          <p:cNvPicPr>
            <a:picLocks noChangeAspect="1"/>
          </p:cNvPicPr>
          <p:nvPr/>
        </p:nvPicPr>
        <p:blipFill>
          <a:blip r:embed="rId3"/>
          <a:stretch>
            <a:fillRect/>
          </a:stretch>
        </p:blipFill>
        <p:spPr>
          <a:xfrm>
            <a:off x="697507" y="5401896"/>
            <a:ext cx="161925" cy="129580"/>
          </a:xfrm>
          <a:prstGeom prst="rect">
            <a:avLst/>
          </a:prstGeom>
        </p:spPr>
      </p:pic>
      <p:sp>
        <p:nvSpPr>
          <p:cNvPr id="13" name="Text 9">
            <a:extLst>
              <a:ext uri="{FF2B5EF4-FFF2-40B4-BE49-F238E27FC236}">
                <a16:creationId xmlns:a16="http://schemas.microsoft.com/office/drawing/2014/main" id="{3D95FD6A-A4FE-E83C-002F-A595039D9136}"/>
              </a:ext>
            </a:extLst>
          </p:cNvPr>
          <p:cNvSpPr/>
          <p:nvPr/>
        </p:nvSpPr>
        <p:spPr>
          <a:xfrm>
            <a:off x="1069775" y="5356255"/>
            <a:ext cx="4733629" cy="1036340"/>
          </a:xfrm>
          <a:prstGeom prst="rect">
            <a:avLst/>
          </a:prstGeom>
          <a:noFill/>
          <a:ln/>
        </p:spPr>
        <p:txBody>
          <a:bodyPr wrap="square" rtlCol="0" anchor="t"/>
          <a:lstStyle/>
          <a:p>
            <a:pPr>
              <a:lnSpc>
                <a:spcPts val="1633"/>
              </a:lnSpc>
            </a:pPr>
            <a:r>
              <a:rPr lang="en-US" sz="1667" kern="0" spc="-20" dirty="0">
                <a:solidFill>
                  <a:srgbClr val="000000"/>
                </a:solidFill>
                <a:latin typeface="Arial" panose="020B0604020202020204" pitchFamily="34" charset="0"/>
                <a:ea typeface="Raleway" pitchFamily="34" charset="-122"/>
                <a:cs typeface="Arial" panose="020B0604020202020204" pitchFamily="34" charset="0"/>
              </a:rPr>
              <a:t>If you set </a:t>
            </a:r>
            <a:r>
              <a:rPr lang="en-US" sz="1667" b="1" kern="0" spc="-20" dirty="0">
                <a:solidFill>
                  <a:srgbClr val="000000"/>
                </a:solidFill>
                <a:latin typeface="Arial" panose="020B0604020202020204" pitchFamily="34" charset="0"/>
                <a:ea typeface="Raleway" pitchFamily="34" charset="-122"/>
                <a:cs typeface="Arial" panose="020B0604020202020204" pitchFamily="34" charset="0"/>
              </a:rPr>
              <a:t>nReps to 0</a:t>
            </a:r>
            <a:r>
              <a:rPr lang="en-US" sz="1667" kern="0" spc="-20" dirty="0">
                <a:solidFill>
                  <a:srgbClr val="000000"/>
                </a:solidFill>
                <a:latin typeface="Arial" panose="020B0604020202020204" pitchFamily="34" charset="0"/>
                <a:ea typeface="Raleway" pitchFamily="34" charset="-122"/>
                <a:cs typeface="Arial" panose="020B0604020202020204" pitchFamily="34" charset="0"/>
              </a:rPr>
              <a:t> then everything inside that loop will be skipped. This is useful for debugging and branched designs (e.g. if you only want to show part of your experiment)</a:t>
            </a:r>
            <a:endParaRPr lang="en-US" sz="1667" dirty="0">
              <a:latin typeface="Arial" panose="020B0604020202020204" pitchFamily="34" charset="0"/>
              <a:cs typeface="Arial" panose="020B0604020202020204" pitchFamily="34" charset="0"/>
            </a:endParaRPr>
          </a:p>
        </p:txBody>
      </p:sp>
      <p:pic>
        <p:nvPicPr>
          <p:cNvPr id="14" name="Image 2" descr="preencoded.png">
            <a:extLst>
              <a:ext uri="{FF2B5EF4-FFF2-40B4-BE49-F238E27FC236}">
                <a16:creationId xmlns:a16="http://schemas.microsoft.com/office/drawing/2014/main" id="{BD2DFAA5-5E09-1803-2D78-06AE76EB3266}"/>
              </a:ext>
            </a:extLst>
          </p:cNvPr>
          <p:cNvPicPr>
            <a:picLocks noChangeAspect="1"/>
          </p:cNvPicPr>
          <p:nvPr/>
        </p:nvPicPr>
        <p:blipFill>
          <a:blip r:embed="rId4"/>
          <a:stretch>
            <a:fillRect/>
          </a:stretch>
        </p:blipFill>
        <p:spPr>
          <a:xfrm>
            <a:off x="778469" y="1082797"/>
            <a:ext cx="4633913" cy="3721237"/>
          </a:xfrm>
          <a:prstGeom prst="rect">
            <a:avLst/>
          </a:prstGeom>
        </p:spPr>
      </p:pic>
      <p:sp>
        <p:nvSpPr>
          <p:cNvPr id="15" name="Text 10">
            <a:extLst>
              <a:ext uri="{FF2B5EF4-FFF2-40B4-BE49-F238E27FC236}">
                <a16:creationId xmlns:a16="http://schemas.microsoft.com/office/drawing/2014/main" id="{82F3F6F5-DFBF-4311-CC62-BFDE16855B58}"/>
              </a:ext>
            </a:extLst>
          </p:cNvPr>
          <p:cNvSpPr/>
          <p:nvPr/>
        </p:nvSpPr>
        <p:spPr>
          <a:xfrm>
            <a:off x="6337401" y="2260799"/>
            <a:ext cx="5405514" cy="207268"/>
          </a:xfrm>
          <a:prstGeom prst="rect">
            <a:avLst/>
          </a:prstGeom>
          <a:noFill/>
          <a:ln/>
        </p:spPr>
        <p:txBody>
          <a:bodyPr wrap="none" rtlCol="0" anchor="t"/>
          <a:lstStyle/>
          <a:p>
            <a:pPr>
              <a:lnSpc>
                <a:spcPts val="1633"/>
              </a:lnSpc>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loopType:</a:t>
            </a:r>
            <a:endParaRPr lang="en-US" sz="1667" dirty="0">
              <a:latin typeface="Arial" panose="020B0604020202020204" pitchFamily="34" charset="0"/>
              <a:cs typeface="Arial" panose="020B0604020202020204" pitchFamily="34" charset="0"/>
            </a:endParaRPr>
          </a:p>
        </p:txBody>
      </p:sp>
      <p:sp>
        <p:nvSpPr>
          <p:cNvPr id="16" name="Text 11">
            <a:extLst>
              <a:ext uri="{FF2B5EF4-FFF2-40B4-BE49-F238E27FC236}">
                <a16:creationId xmlns:a16="http://schemas.microsoft.com/office/drawing/2014/main" id="{6CDC5531-E561-DFC9-39A8-749F4F4AD496}"/>
              </a:ext>
            </a:extLst>
          </p:cNvPr>
          <p:cNvSpPr/>
          <p:nvPr/>
        </p:nvSpPr>
        <p:spPr>
          <a:xfrm>
            <a:off x="6544668" y="2613819"/>
            <a:ext cx="5021858" cy="466328"/>
          </a:xfrm>
          <a:prstGeom prst="rect">
            <a:avLst/>
          </a:prstGeom>
          <a:noFill/>
          <a:ln/>
        </p:spPr>
        <p:txBody>
          <a:bodyPr wrap="square" rtlCol="0" anchor="t"/>
          <a:lstStyle/>
          <a:p>
            <a:pPr marL="285739" indent="-285739">
              <a:lnSpc>
                <a:spcPts val="1837"/>
              </a:lnSpc>
              <a:buSzPct val="100000"/>
              <a:buChar char="•"/>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random </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randomise rows of spreadsheet - within repetition. </a:t>
            </a:r>
            <a:endParaRPr lang="en-US" sz="1667" dirty="0">
              <a:latin typeface="Arial" panose="020B0604020202020204" pitchFamily="34" charset="0"/>
              <a:cs typeface="Arial" panose="020B0604020202020204" pitchFamily="34" charset="0"/>
            </a:endParaRPr>
          </a:p>
        </p:txBody>
      </p:sp>
      <p:sp>
        <p:nvSpPr>
          <p:cNvPr id="17" name="Text 12">
            <a:extLst>
              <a:ext uri="{FF2B5EF4-FFF2-40B4-BE49-F238E27FC236}">
                <a16:creationId xmlns:a16="http://schemas.microsoft.com/office/drawing/2014/main" id="{67456393-CB6F-CCFF-A5B1-9F595351D71F}"/>
              </a:ext>
            </a:extLst>
          </p:cNvPr>
          <p:cNvSpPr/>
          <p:nvPr/>
        </p:nvSpPr>
        <p:spPr>
          <a:xfrm>
            <a:off x="6544668" y="3131939"/>
            <a:ext cx="5021858" cy="466328"/>
          </a:xfrm>
          <a:prstGeom prst="rect">
            <a:avLst/>
          </a:prstGeom>
          <a:noFill/>
          <a:ln/>
        </p:spPr>
        <p:txBody>
          <a:bodyPr wrap="square" rtlCol="0" anchor="t"/>
          <a:lstStyle/>
          <a:p>
            <a:pPr marL="285739" indent="-285739">
              <a:lnSpc>
                <a:spcPts val="1837"/>
              </a:lnSpc>
              <a:buSzPct val="100000"/>
              <a:buChar char="•"/>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full random </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randomise across repetitions of the spreadsheet. </a:t>
            </a:r>
            <a:endParaRPr lang="en-US" sz="1667" dirty="0">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358C8042-021B-1BCC-49F4-FDDC0B40D4D4}"/>
              </a:ext>
            </a:extLst>
          </p:cNvPr>
          <p:cNvSpPr/>
          <p:nvPr/>
        </p:nvSpPr>
        <p:spPr>
          <a:xfrm>
            <a:off x="6544668" y="3650059"/>
            <a:ext cx="5021858" cy="699493"/>
          </a:xfrm>
          <a:prstGeom prst="rect">
            <a:avLst/>
          </a:prstGeom>
          <a:noFill/>
          <a:ln/>
        </p:spPr>
        <p:txBody>
          <a:bodyPr wrap="square" rtlCol="0" anchor="t"/>
          <a:lstStyle/>
          <a:p>
            <a:pPr marL="285739" indent="-285739">
              <a:lnSpc>
                <a:spcPts val="1837"/>
              </a:lnSpc>
              <a:buSzPct val="100000"/>
              <a:buChar char="•"/>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staircase/interleaved staircase</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 specialised adaptive procedures used typically in psychophysics. </a:t>
            </a:r>
            <a:endParaRPr lang="en-US" sz="1667" dirty="0">
              <a:latin typeface="Arial" panose="020B0604020202020204" pitchFamily="34" charset="0"/>
              <a:cs typeface="Arial" panose="020B0604020202020204" pitchFamily="34" charset="0"/>
            </a:endParaRPr>
          </a:p>
        </p:txBody>
      </p:sp>
      <p:sp>
        <p:nvSpPr>
          <p:cNvPr id="19" name="Text 14">
            <a:extLst>
              <a:ext uri="{FF2B5EF4-FFF2-40B4-BE49-F238E27FC236}">
                <a16:creationId xmlns:a16="http://schemas.microsoft.com/office/drawing/2014/main" id="{03793620-9B9B-F82D-485D-0DDB47813011}"/>
              </a:ext>
            </a:extLst>
          </p:cNvPr>
          <p:cNvSpPr/>
          <p:nvPr/>
        </p:nvSpPr>
        <p:spPr>
          <a:xfrm>
            <a:off x="6337401" y="4466134"/>
            <a:ext cx="5405514" cy="414536"/>
          </a:xfrm>
          <a:prstGeom prst="rect">
            <a:avLst/>
          </a:prstGeom>
          <a:noFill/>
          <a:ln/>
        </p:spPr>
        <p:txBody>
          <a:bodyPr wrap="square" rtlCol="0" anchor="t"/>
          <a:lstStyle/>
          <a:p>
            <a:pPr>
              <a:lnSpc>
                <a:spcPts val="1633"/>
              </a:lnSpc>
            </a:pP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Is Trials:</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if yes, add new row to data file for every repeat of this loop. </a:t>
            </a:r>
            <a:endParaRPr lang="en-US" sz="1667"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77735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439366" y="358527"/>
            <a:ext cx="4519216" cy="429419"/>
          </a:xfrm>
          <a:prstGeom prst="rect">
            <a:avLst/>
          </a:prstGeom>
          <a:noFill/>
          <a:ln/>
        </p:spPr>
        <p:txBody>
          <a:bodyPr wrap="none" rtlCol="0" anchor="t"/>
          <a:lstStyle/>
          <a:p>
            <a:pPr>
              <a:lnSpc>
                <a:spcPts val="3382"/>
              </a:lnSpc>
            </a:pPr>
            <a:r>
              <a:rPr lang="en-US" sz="3333" b="1" kern="0" spc="-81" dirty="0">
                <a:solidFill>
                  <a:srgbClr val="000000"/>
                </a:solidFill>
                <a:latin typeface="Arial" panose="020B0604020202020204" pitchFamily="34" charset="0"/>
                <a:ea typeface="Raleway" pitchFamily="34" charset="-122"/>
                <a:cs typeface="Arial" panose="020B0604020202020204" pitchFamily="34" charset="0"/>
              </a:rPr>
              <a:t>Updating stimuli trial-by-trial</a:t>
            </a:r>
            <a:endParaRPr lang="en-US" sz="3333" dirty="0">
              <a:latin typeface="Arial" panose="020B0604020202020204" pitchFamily="34" charset="0"/>
              <a:cs typeface="Arial" panose="020B0604020202020204" pitchFamily="34" charset="0"/>
            </a:endParaRPr>
          </a:p>
        </p:txBody>
      </p:sp>
      <p:sp>
        <p:nvSpPr>
          <p:cNvPr id="5" name="Text 2"/>
          <p:cNvSpPr/>
          <p:nvPr/>
        </p:nvSpPr>
        <p:spPr>
          <a:xfrm>
            <a:off x="492125" y="1137047"/>
            <a:ext cx="5436097" cy="439738"/>
          </a:xfrm>
          <a:prstGeom prst="rect">
            <a:avLst/>
          </a:prstGeom>
          <a:noFill/>
          <a:ln/>
        </p:spPr>
        <p:txBody>
          <a:bodyPr wrap="square" rtlCol="0" anchor="t"/>
          <a:lstStyle/>
          <a:p>
            <a:pPr>
              <a:lnSpc>
                <a:spcPts val="1732"/>
              </a:lnSpc>
            </a:pPr>
            <a:r>
              <a:rPr lang="en-US" sz="1667" kern="0" spc="-22" dirty="0">
                <a:solidFill>
                  <a:srgbClr val="272525"/>
                </a:solidFill>
                <a:latin typeface="Arial" panose="020B0604020202020204" pitchFamily="34" charset="0"/>
                <a:ea typeface="Raleway" pitchFamily="34" charset="-122"/>
                <a:cs typeface="Arial" panose="020B0604020202020204" pitchFamily="34" charset="0"/>
              </a:rPr>
              <a:t>We can now update our stimuli using the variables in our spreadsheet. </a:t>
            </a:r>
            <a:endParaRPr lang="en-US" sz="1667" dirty="0">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3"/>
          <a:srcRect r="8772"/>
          <a:stretch>
            <a:fillRect/>
          </a:stretch>
        </p:blipFill>
        <p:spPr>
          <a:xfrm>
            <a:off x="492126" y="3112846"/>
            <a:ext cx="5436097" cy="2076785"/>
          </a:xfrm>
          <a:prstGeom prst="rect">
            <a:avLst/>
          </a:prstGeom>
        </p:spPr>
      </p:pic>
      <p:sp>
        <p:nvSpPr>
          <p:cNvPr id="7" name="Text 3"/>
          <p:cNvSpPr/>
          <p:nvPr/>
        </p:nvSpPr>
        <p:spPr>
          <a:xfrm>
            <a:off x="492125" y="1925885"/>
            <a:ext cx="5436097" cy="439738"/>
          </a:xfrm>
          <a:prstGeom prst="rect">
            <a:avLst/>
          </a:prstGeom>
          <a:noFill/>
          <a:ln/>
        </p:spPr>
        <p:txBody>
          <a:bodyPr wrap="square" rtlCol="0" anchor="t"/>
          <a:lstStyle/>
          <a:p>
            <a:pPr>
              <a:lnSpc>
                <a:spcPts val="1732"/>
              </a:lnSpc>
            </a:pPr>
            <a:r>
              <a:rPr lang="en-US" sz="1667" kern="0" spc="-22" dirty="0">
                <a:solidFill>
                  <a:srgbClr val="272525"/>
                </a:solidFill>
                <a:latin typeface="Arial" panose="020B0604020202020204" pitchFamily="34" charset="0"/>
                <a:ea typeface="Raleway" pitchFamily="34" charset="-122"/>
                <a:cs typeface="Arial" panose="020B0604020202020204" pitchFamily="34" charset="0"/>
              </a:rPr>
              <a:t>In the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target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stimulus, we can update the x coordinate using </a:t>
            </a:r>
            <a:r>
              <a:rPr lang="en-US" sz="1667" b="1" kern="0" spc="-22" dirty="0" err="1">
                <a:solidFill>
                  <a:srgbClr val="272525"/>
                </a:solidFill>
                <a:latin typeface="Arial" panose="020B0604020202020204" pitchFamily="34" charset="0"/>
                <a:ea typeface="Raleway" pitchFamily="34" charset="-122"/>
                <a:cs typeface="Arial" panose="020B0604020202020204" pitchFamily="34" charset="0"/>
              </a:rPr>
              <a:t>target_x_location</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a:t>
            </a:r>
            <a:endParaRPr lang="en-US" sz="1667"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E999DB0-3157-3D1A-931E-D05D2C85C33F}"/>
              </a:ext>
            </a:extLst>
          </p:cNvPr>
          <p:cNvPicPr>
            <a:picLocks noChangeAspect="1"/>
          </p:cNvPicPr>
          <p:nvPr/>
        </p:nvPicPr>
        <p:blipFill>
          <a:blip r:embed="rId4"/>
          <a:stretch>
            <a:fillRect/>
          </a:stretch>
        </p:blipFill>
        <p:spPr>
          <a:xfrm>
            <a:off x="6151150" y="1576784"/>
            <a:ext cx="6040850" cy="2641865"/>
          </a:xfrm>
          <a:prstGeom prst="rect">
            <a:avLst/>
          </a:prstGeom>
        </p:spPr>
      </p:pic>
      <p:cxnSp>
        <p:nvCxnSpPr>
          <p:cNvPr id="18" name="Straight Arrow Connector 17">
            <a:extLst>
              <a:ext uri="{FF2B5EF4-FFF2-40B4-BE49-F238E27FC236}">
                <a16:creationId xmlns:a16="http://schemas.microsoft.com/office/drawing/2014/main" id="{36E73E0F-C460-5045-50E2-5411BDD681F4}"/>
              </a:ext>
            </a:extLst>
          </p:cNvPr>
          <p:cNvCxnSpPr/>
          <p:nvPr/>
        </p:nvCxnSpPr>
        <p:spPr>
          <a:xfrm flipV="1">
            <a:off x="3369469" y="2595563"/>
            <a:ext cx="3738563" cy="8334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FCA5ED2-3E56-B992-1B8D-2FA8CC9F89B9}"/>
              </a:ext>
            </a:extLst>
          </p:cNvPr>
          <p:cNvCxnSpPr>
            <a:cxnSpLocks/>
          </p:cNvCxnSpPr>
          <p:nvPr/>
        </p:nvCxnSpPr>
        <p:spPr>
          <a:xfrm flipV="1">
            <a:off x="10251282" y="2696127"/>
            <a:ext cx="1183581" cy="18996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 3">
            <a:extLst>
              <a:ext uri="{FF2B5EF4-FFF2-40B4-BE49-F238E27FC236}">
                <a16:creationId xmlns:a16="http://schemas.microsoft.com/office/drawing/2014/main" id="{90C79122-77F8-E34B-895E-0557F47B6DF0}"/>
              </a:ext>
            </a:extLst>
          </p:cNvPr>
          <p:cNvSpPr/>
          <p:nvPr/>
        </p:nvSpPr>
        <p:spPr>
          <a:xfrm>
            <a:off x="7993956" y="4749894"/>
            <a:ext cx="3440907" cy="439738"/>
          </a:xfrm>
          <a:prstGeom prst="rect">
            <a:avLst/>
          </a:prstGeom>
          <a:noFill/>
          <a:ln/>
        </p:spPr>
        <p:txBody>
          <a:bodyPr wrap="square" rtlCol="0" anchor="t"/>
          <a:lstStyle/>
          <a:p>
            <a:pPr>
              <a:lnSpc>
                <a:spcPts val="1732"/>
              </a:lnSpc>
            </a:pPr>
            <a:r>
              <a:rPr lang="en-US" sz="1667" kern="0" spc="-22" dirty="0">
                <a:solidFill>
                  <a:srgbClr val="272525"/>
                </a:solidFill>
                <a:latin typeface="Arial" panose="020B0604020202020204" pitchFamily="34" charset="0"/>
                <a:ea typeface="Raleway" pitchFamily="34" charset="-122"/>
                <a:cs typeface="Arial" panose="020B0604020202020204" pitchFamily="34" charset="0"/>
              </a:rPr>
              <a:t>Set the field to ”set every repeat”</a:t>
            </a:r>
            <a:endParaRPr lang="en-US" sz="1667" dirty="0">
              <a:latin typeface="Arial" panose="020B0604020202020204" pitchFamily="34" charset="0"/>
              <a:cs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62963-41B0-A8A5-B3F0-A23C42188EFA}"/>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3CDB5C43-3783-9BE9-0F69-A2AC9C9C1BE4}"/>
              </a:ext>
            </a:extLst>
          </p:cNvPr>
          <p:cNvSpPr/>
          <p:nvPr/>
        </p:nvSpPr>
        <p:spPr>
          <a:xfrm>
            <a:off x="439366" y="358527"/>
            <a:ext cx="4519216" cy="429419"/>
          </a:xfrm>
          <a:prstGeom prst="rect">
            <a:avLst/>
          </a:prstGeom>
          <a:noFill/>
          <a:ln/>
        </p:spPr>
        <p:txBody>
          <a:bodyPr wrap="none" rtlCol="0" anchor="t"/>
          <a:lstStyle/>
          <a:p>
            <a:pPr>
              <a:lnSpc>
                <a:spcPts val="3382"/>
              </a:lnSpc>
            </a:pPr>
            <a:r>
              <a:rPr lang="en-US" sz="3333" b="1" kern="0" spc="-81" dirty="0">
                <a:solidFill>
                  <a:srgbClr val="000000"/>
                </a:solidFill>
                <a:latin typeface="Arial" panose="020B0604020202020204" pitchFamily="34" charset="0"/>
                <a:ea typeface="Raleway" pitchFamily="34" charset="-122"/>
                <a:cs typeface="Arial" panose="020B0604020202020204" pitchFamily="34" charset="0"/>
              </a:rPr>
              <a:t>Updating stimuli trial-by-trial</a:t>
            </a:r>
            <a:endParaRPr lang="en-US" sz="3333" dirty="0">
              <a:latin typeface="Arial" panose="020B0604020202020204" pitchFamily="34" charset="0"/>
              <a:cs typeface="Arial" panose="020B0604020202020204" pitchFamily="34" charset="0"/>
            </a:endParaRPr>
          </a:p>
        </p:txBody>
      </p:sp>
      <p:sp>
        <p:nvSpPr>
          <p:cNvPr id="5" name="Text 2">
            <a:extLst>
              <a:ext uri="{FF2B5EF4-FFF2-40B4-BE49-F238E27FC236}">
                <a16:creationId xmlns:a16="http://schemas.microsoft.com/office/drawing/2014/main" id="{68B85FDC-E821-7484-408C-91543D0F9705}"/>
              </a:ext>
            </a:extLst>
          </p:cNvPr>
          <p:cNvSpPr/>
          <p:nvPr/>
        </p:nvSpPr>
        <p:spPr>
          <a:xfrm>
            <a:off x="492125" y="1137047"/>
            <a:ext cx="5436097" cy="439738"/>
          </a:xfrm>
          <a:prstGeom prst="rect">
            <a:avLst/>
          </a:prstGeom>
          <a:noFill/>
          <a:ln/>
        </p:spPr>
        <p:txBody>
          <a:bodyPr wrap="square" rtlCol="0" anchor="t"/>
          <a:lstStyle/>
          <a:p>
            <a:pPr>
              <a:lnSpc>
                <a:spcPts val="1732"/>
              </a:lnSpc>
            </a:pPr>
            <a:r>
              <a:rPr lang="en-US" sz="1667" kern="0" spc="-22" dirty="0">
                <a:solidFill>
                  <a:srgbClr val="272525"/>
                </a:solidFill>
                <a:latin typeface="Arial" panose="020B0604020202020204" pitchFamily="34" charset="0"/>
                <a:ea typeface="Raleway" pitchFamily="34" charset="-122"/>
                <a:cs typeface="Arial" panose="020B0604020202020204" pitchFamily="34" charset="0"/>
              </a:rPr>
              <a:t>We can now update our stimuli using the variables in our spreadsheet. </a:t>
            </a:r>
            <a:endParaRPr lang="en-US" sz="1667" dirty="0">
              <a:latin typeface="Arial" panose="020B0604020202020204" pitchFamily="34" charset="0"/>
              <a:cs typeface="Arial" panose="020B0604020202020204" pitchFamily="34" charset="0"/>
            </a:endParaRPr>
          </a:p>
        </p:txBody>
      </p:sp>
      <p:pic>
        <p:nvPicPr>
          <p:cNvPr id="6" name="Image 1" descr="preencoded.png">
            <a:extLst>
              <a:ext uri="{FF2B5EF4-FFF2-40B4-BE49-F238E27FC236}">
                <a16:creationId xmlns:a16="http://schemas.microsoft.com/office/drawing/2014/main" id="{C42668D0-66D6-F5B5-BC52-CADBE1C128BE}"/>
              </a:ext>
            </a:extLst>
          </p:cNvPr>
          <p:cNvPicPr>
            <a:picLocks noChangeAspect="1"/>
          </p:cNvPicPr>
          <p:nvPr/>
        </p:nvPicPr>
        <p:blipFill>
          <a:blip r:embed="rId3"/>
          <a:stretch>
            <a:fillRect/>
          </a:stretch>
        </p:blipFill>
        <p:spPr>
          <a:xfrm>
            <a:off x="1147172" y="2839273"/>
            <a:ext cx="4697288" cy="1637105"/>
          </a:xfrm>
          <a:prstGeom prst="rect">
            <a:avLst/>
          </a:prstGeom>
        </p:spPr>
      </p:pic>
      <p:sp>
        <p:nvSpPr>
          <p:cNvPr id="8" name="Text 4">
            <a:extLst>
              <a:ext uri="{FF2B5EF4-FFF2-40B4-BE49-F238E27FC236}">
                <a16:creationId xmlns:a16="http://schemas.microsoft.com/office/drawing/2014/main" id="{7A4C554E-38D2-131B-EC20-A422A9D2EC5F}"/>
              </a:ext>
            </a:extLst>
          </p:cNvPr>
          <p:cNvSpPr/>
          <p:nvPr/>
        </p:nvSpPr>
        <p:spPr>
          <a:xfrm>
            <a:off x="492125" y="1969845"/>
            <a:ext cx="5436097" cy="439738"/>
          </a:xfrm>
          <a:prstGeom prst="rect">
            <a:avLst/>
          </a:prstGeom>
          <a:noFill/>
          <a:ln/>
        </p:spPr>
        <p:txBody>
          <a:bodyPr wrap="square" rtlCol="0" anchor="t"/>
          <a:lstStyle/>
          <a:p>
            <a:pPr>
              <a:lnSpc>
                <a:spcPts val="1732"/>
              </a:lnSpc>
            </a:pPr>
            <a:r>
              <a:rPr lang="en-US" sz="1667" kern="0" spc="-22" dirty="0">
                <a:solidFill>
                  <a:srgbClr val="272525"/>
                </a:solidFill>
                <a:latin typeface="Arial" panose="020B0604020202020204" pitchFamily="34" charset="0"/>
                <a:ea typeface="Raleway" pitchFamily="34" charset="-122"/>
                <a:cs typeface="Arial" panose="020B0604020202020204" pitchFamily="34" charset="0"/>
              </a:rPr>
              <a:t>In the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cue </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stimulus we update the orientation using </a:t>
            </a:r>
            <a:r>
              <a:rPr lang="en-US" sz="1667" b="1" kern="0" spc="-22" dirty="0">
                <a:solidFill>
                  <a:srgbClr val="272525"/>
                </a:solidFill>
                <a:latin typeface="Arial" panose="020B0604020202020204" pitchFamily="34" charset="0"/>
                <a:ea typeface="Raleway" pitchFamily="34" charset="-122"/>
                <a:cs typeface="Arial" panose="020B0604020202020204" pitchFamily="34" charset="0"/>
              </a:rPr>
              <a:t>arrow_orientation</a:t>
            </a:r>
            <a:r>
              <a:rPr lang="en-US" sz="1667" kern="0" spc="-22" dirty="0">
                <a:solidFill>
                  <a:srgbClr val="272525"/>
                </a:solidFill>
                <a:latin typeface="Arial" panose="020B0604020202020204" pitchFamily="34" charset="0"/>
                <a:ea typeface="Raleway" pitchFamily="34" charset="-122"/>
                <a:cs typeface="Arial" panose="020B0604020202020204" pitchFamily="34" charset="0"/>
              </a:rPr>
              <a:t>.</a:t>
            </a:r>
            <a:endParaRPr lang="en-US" sz="1667" dirty="0">
              <a:latin typeface="Arial" panose="020B0604020202020204" pitchFamily="34" charset="0"/>
              <a:cs typeface="Arial" panose="020B0604020202020204" pitchFamily="34" charset="0"/>
            </a:endParaRPr>
          </a:p>
        </p:txBody>
      </p:sp>
      <p:sp>
        <p:nvSpPr>
          <p:cNvPr id="10" name="Shape 6">
            <a:extLst>
              <a:ext uri="{FF2B5EF4-FFF2-40B4-BE49-F238E27FC236}">
                <a16:creationId xmlns:a16="http://schemas.microsoft.com/office/drawing/2014/main" id="{C9DE1EA7-3A6A-1106-F19F-232B76402518}"/>
              </a:ext>
            </a:extLst>
          </p:cNvPr>
          <p:cNvSpPr/>
          <p:nvPr/>
        </p:nvSpPr>
        <p:spPr>
          <a:xfrm>
            <a:off x="920750" y="4906069"/>
            <a:ext cx="5007472" cy="1229718"/>
          </a:xfrm>
          <a:prstGeom prst="roundRect">
            <a:avLst>
              <a:gd name="adj" fmla="val 5030"/>
            </a:avLst>
          </a:prstGeom>
          <a:solidFill>
            <a:srgbClr val="B6D6FC"/>
          </a:solidFill>
          <a:ln/>
        </p:spPr>
        <p:txBody>
          <a:bodyPr/>
          <a:lstStyle/>
          <a:p>
            <a:endParaRPr lang="en-US" sz="1500">
              <a:latin typeface="Arial" panose="020B0604020202020204" pitchFamily="34" charset="0"/>
              <a:cs typeface="Arial" panose="020B0604020202020204" pitchFamily="34" charset="0"/>
            </a:endParaRPr>
          </a:p>
        </p:txBody>
      </p:sp>
      <p:pic>
        <p:nvPicPr>
          <p:cNvPr id="11" name="Image 2" descr="preencoded.png">
            <a:extLst>
              <a:ext uri="{FF2B5EF4-FFF2-40B4-BE49-F238E27FC236}">
                <a16:creationId xmlns:a16="http://schemas.microsoft.com/office/drawing/2014/main" id="{30306981-B99A-1B53-44A9-7B81CBDEE76B}"/>
              </a:ext>
            </a:extLst>
          </p:cNvPr>
          <p:cNvPicPr>
            <a:picLocks noChangeAspect="1"/>
          </p:cNvPicPr>
          <p:nvPr/>
        </p:nvPicPr>
        <p:blipFill>
          <a:blip r:embed="rId4"/>
          <a:stretch>
            <a:fillRect/>
          </a:stretch>
        </p:blipFill>
        <p:spPr>
          <a:xfrm>
            <a:off x="1061299" y="5054947"/>
            <a:ext cx="171748" cy="137418"/>
          </a:xfrm>
          <a:prstGeom prst="rect">
            <a:avLst/>
          </a:prstGeom>
        </p:spPr>
      </p:pic>
      <p:sp>
        <p:nvSpPr>
          <p:cNvPr id="12" name="Text 7">
            <a:extLst>
              <a:ext uri="{FF2B5EF4-FFF2-40B4-BE49-F238E27FC236}">
                <a16:creationId xmlns:a16="http://schemas.microsoft.com/office/drawing/2014/main" id="{C00D91A2-62DC-1E54-47E9-8EE955ACE9CA}"/>
              </a:ext>
            </a:extLst>
          </p:cNvPr>
          <p:cNvSpPr/>
          <p:nvPr/>
        </p:nvSpPr>
        <p:spPr>
          <a:xfrm>
            <a:off x="1373594" y="5054947"/>
            <a:ext cx="4410852" cy="879475"/>
          </a:xfrm>
          <a:prstGeom prst="rect">
            <a:avLst/>
          </a:prstGeom>
          <a:noFill/>
          <a:ln/>
        </p:spPr>
        <p:txBody>
          <a:bodyPr wrap="square" rtlCol="0" anchor="t"/>
          <a:lstStyle/>
          <a:p>
            <a:pPr>
              <a:lnSpc>
                <a:spcPts val="1732"/>
              </a:lnSpc>
            </a:pPr>
            <a:r>
              <a:rPr lang="en-US" sz="1667" kern="0" spc="-22" dirty="0">
                <a:solidFill>
                  <a:srgbClr val="000000"/>
                </a:solidFill>
                <a:latin typeface="Arial" panose="020B0604020202020204" pitchFamily="34" charset="0"/>
                <a:ea typeface="Raleway" pitchFamily="34" charset="-122"/>
                <a:cs typeface="Arial" panose="020B0604020202020204" pitchFamily="34" charset="0"/>
              </a:rPr>
              <a:t>If you are using a variable to update a component property start the field with a '$' sign only if that field does not already have a '$' in it.s field.</a:t>
            </a:r>
            <a:endParaRPr lang="en-US" sz="1667" dirty="0">
              <a:latin typeface="Arial" panose="020B0604020202020204" pitchFamily="34" charset="0"/>
              <a:cs typeface="Arial" panose="020B0604020202020204" pitchFamily="34" charset="0"/>
            </a:endParaRPr>
          </a:p>
        </p:txBody>
      </p:sp>
      <p:pic>
        <p:nvPicPr>
          <p:cNvPr id="14" name="Image 4" descr="preencoded.png">
            <a:extLst>
              <a:ext uri="{FF2B5EF4-FFF2-40B4-BE49-F238E27FC236}">
                <a16:creationId xmlns:a16="http://schemas.microsoft.com/office/drawing/2014/main" id="{EBC940E4-5073-61E9-77D4-841218D1C3E2}"/>
              </a:ext>
            </a:extLst>
          </p:cNvPr>
          <p:cNvPicPr>
            <a:picLocks noChangeAspect="1"/>
          </p:cNvPicPr>
          <p:nvPr/>
        </p:nvPicPr>
        <p:blipFill>
          <a:blip r:embed="rId5"/>
          <a:stretch>
            <a:fillRect/>
          </a:stretch>
        </p:blipFill>
        <p:spPr>
          <a:xfrm>
            <a:off x="6388993" y="1411822"/>
            <a:ext cx="4548475" cy="2798983"/>
          </a:xfrm>
          <a:prstGeom prst="rect">
            <a:avLst/>
          </a:prstGeom>
        </p:spPr>
      </p:pic>
      <p:cxnSp>
        <p:nvCxnSpPr>
          <p:cNvPr id="2" name="Straight Arrow Connector 1">
            <a:extLst>
              <a:ext uri="{FF2B5EF4-FFF2-40B4-BE49-F238E27FC236}">
                <a16:creationId xmlns:a16="http://schemas.microsoft.com/office/drawing/2014/main" id="{6998174E-2F1F-8959-31C7-0385F475B46C}"/>
              </a:ext>
            </a:extLst>
          </p:cNvPr>
          <p:cNvCxnSpPr>
            <a:cxnSpLocks/>
          </p:cNvCxnSpPr>
          <p:nvPr/>
        </p:nvCxnSpPr>
        <p:spPr>
          <a:xfrm flipV="1">
            <a:off x="2566670" y="3083719"/>
            <a:ext cx="3957956" cy="2007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3121003-A702-B72A-AD13-946EE44F976D}"/>
              </a:ext>
            </a:extLst>
          </p:cNvPr>
          <p:cNvCxnSpPr>
            <a:cxnSpLocks/>
          </p:cNvCxnSpPr>
          <p:nvPr/>
        </p:nvCxnSpPr>
        <p:spPr>
          <a:xfrm flipV="1">
            <a:off x="9033540" y="3260961"/>
            <a:ext cx="1183581" cy="18996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 3">
            <a:extLst>
              <a:ext uri="{FF2B5EF4-FFF2-40B4-BE49-F238E27FC236}">
                <a16:creationId xmlns:a16="http://schemas.microsoft.com/office/drawing/2014/main" id="{DB64AF30-E325-A7D4-00B7-A3B04F154A26}"/>
              </a:ext>
            </a:extLst>
          </p:cNvPr>
          <p:cNvSpPr/>
          <p:nvPr/>
        </p:nvSpPr>
        <p:spPr>
          <a:xfrm>
            <a:off x="6776214" y="5314728"/>
            <a:ext cx="3440907" cy="439738"/>
          </a:xfrm>
          <a:prstGeom prst="rect">
            <a:avLst/>
          </a:prstGeom>
          <a:noFill/>
          <a:ln/>
        </p:spPr>
        <p:txBody>
          <a:bodyPr wrap="square" rtlCol="0" anchor="t"/>
          <a:lstStyle/>
          <a:p>
            <a:pPr>
              <a:lnSpc>
                <a:spcPts val="1732"/>
              </a:lnSpc>
            </a:pPr>
            <a:r>
              <a:rPr lang="en-US" sz="1667" kern="0" spc="-22" dirty="0">
                <a:solidFill>
                  <a:srgbClr val="272525"/>
                </a:solidFill>
                <a:latin typeface="Arial" panose="020B0604020202020204" pitchFamily="34" charset="0"/>
                <a:ea typeface="Raleway" pitchFamily="34" charset="-122"/>
                <a:cs typeface="Arial" panose="020B0604020202020204" pitchFamily="34" charset="0"/>
              </a:rPr>
              <a:t>Set the field to ”set every repeat”</a:t>
            </a:r>
            <a:endParaRPr lang="en-US" sz="1667"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30917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p:cNvSpPr/>
          <p:nvPr/>
        </p:nvSpPr>
        <p:spPr>
          <a:xfrm>
            <a:off x="1698328" y="2578200"/>
            <a:ext cx="3703241"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Check it works!</a:t>
            </a:r>
            <a:endParaRPr lang="en-US" sz="3645" dirty="0">
              <a:latin typeface="Arial" panose="020B0604020202020204" pitchFamily="34" charset="0"/>
              <a:cs typeface="Arial" panose="020B0604020202020204" pitchFamily="34" charset="0"/>
            </a:endParaRPr>
          </a:p>
        </p:txBody>
      </p:sp>
      <p:sp>
        <p:nvSpPr>
          <p:cNvPr id="7" name="Text 3"/>
          <p:cNvSpPr/>
          <p:nvPr/>
        </p:nvSpPr>
        <p:spPr>
          <a:xfrm>
            <a:off x="1698328" y="3434557"/>
            <a:ext cx="8795345" cy="592336"/>
          </a:xfrm>
          <a:prstGeom prst="rect">
            <a:avLst/>
          </a:prstGeom>
          <a:noFill/>
          <a:ln/>
        </p:spPr>
        <p:txBody>
          <a:bodyPr wrap="squar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You can run your experiment by pressing the green "run" icon. You should now see the location of your target and the orientation of your cue change trial-by-trial.</a:t>
            </a:r>
            <a:endParaRPr lang="en-US" sz="1667" dirty="0">
              <a:latin typeface="Arial" panose="020B0604020202020204" pitchFamily="34" charset="0"/>
              <a:cs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p:cNvSpPr/>
          <p:nvPr/>
        </p:nvSpPr>
        <p:spPr>
          <a:xfrm>
            <a:off x="1698328" y="2096989"/>
            <a:ext cx="3703241"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Exercise</a:t>
            </a:r>
            <a:endParaRPr lang="en-US" sz="3645" dirty="0">
              <a:latin typeface="Arial" panose="020B0604020202020204" pitchFamily="34" charset="0"/>
              <a:cs typeface="Arial" panose="020B0604020202020204" pitchFamily="34" charset="0"/>
            </a:endParaRPr>
          </a:p>
        </p:txBody>
      </p:sp>
      <p:sp>
        <p:nvSpPr>
          <p:cNvPr id="7" name="Text 3"/>
          <p:cNvSpPr/>
          <p:nvPr/>
        </p:nvSpPr>
        <p:spPr>
          <a:xfrm>
            <a:off x="1994495" y="2953345"/>
            <a:ext cx="8499178"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Add a new routine for your instructions</a:t>
            </a:r>
            <a:endParaRPr lang="en-US" sz="1667" dirty="0">
              <a:latin typeface="Arial" panose="020B0604020202020204" pitchFamily="34" charset="0"/>
              <a:cs typeface="Arial" panose="020B0604020202020204" pitchFamily="34" charset="0"/>
            </a:endParaRPr>
          </a:p>
        </p:txBody>
      </p:sp>
      <p:sp>
        <p:nvSpPr>
          <p:cNvPr id="8" name="Text 4"/>
          <p:cNvSpPr/>
          <p:nvPr/>
        </p:nvSpPr>
        <p:spPr>
          <a:xfrm>
            <a:off x="1994495" y="3360539"/>
            <a:ext cx="8499178"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Present some text telling the participant what to do, allow them to press space to start the experiment.</a:t>
            </a:r>
            <a:endParaRPr lang="en-US" sz="1667" dirty="0">
              <a:latin typeface="Arial" panose="020B0604020202020204" pitchFamily="34" charset="0"/>
              <a:cs typeface="Arial" panose="020B0604020202020204" pitchFamily="34" charset="0"/>
            </a:endParaRPr>
          </a:p>
        </p:txBody>
      </p:sp>
      <p:sp>
        <p:nvSpPr>
          <p:cNvPr id="9" name="Text 5"/>
          <p:cNvSpPr/>
          <p:nvPr/>
        </p:nvSpPr>
        <p:spPr>
          <a:xfrm>
            <a:off x="1994495" y="3767732"/>
            <a:ext cx="8499178"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Add a routine to say "Thanks" at the end of the experiment.</a:t>
            </a:r>
            <a:endParaRPr lang="en-US" sz="1667" dirty="0">
              <a:latin typeface="Arial" panose="020B0604020202020204" pitchFamily="34" charset="0"/>
              <a:cs typeface="Arial" panose="020B0604020202020204" pitchFamily="34" charset="0"/>
            </a:endParaRPr>
          </a:p>
        </p:txBody>
      </p:sp>
      <p:sp>
        <p:nvSpPr>
          <p:cNvPr id="10" name="Text 6"/>
          <p:cNvSpPr/>
          <p:nvPr/>
        </p:nvSpPr>
        <p:spPr>
          <a:xfrm>
            <a:off x="1994495" y="4174927"/>
            <a:ext cx="8499178" cy="333177"/>
          </a:xfrm>
          <a:prstGeom prst="rect">
            <a:avLst/>
          </a:prstGeom>
          <a:noFill/>
          <a:ln/>
        </p:spPr>
        <p:txBody>
          <a:bodyPr wrap="none" rtlCol="0" anchor="t"/>
          <a:lstStyle/>
          <a:p>
            <a:pPr marL="285739" indent="-285739">
              <a:lnSpc>
                <a:spcPts val="2624"/>
              </a:lnSpc>
              <a:buSzPct val="100000"/>
              <a:buChar char="•"/>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Add another field to your experiment settings to gather more information (e.g. handedness, age) </a:t>
            </a:r>
            <a:endParaRPr lang="en-US" sz="1667" dirty="0">
              <a:latin typeface="Arial" panose="020B0604020202020204" pitchFamily="34" charset="0"/>
              <a:cs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698328" y="1458318"/>
            <a:ext cx="3703241"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Presenting Text</a:t>
            </a:r>
            <a:endParaRPr lang="en-US" sz="3645" dirty="0">
              <a:latin typeface="Arial" panose="020B0604020202020204" pitchFamily="34" charset="0"/>
              <a:cs typeface="Arial" panose="020B0604020202020204" pitchFamily="34" charset="0"/>
            </a:endParaRPr>
          </a:p>
        </p:txBody>
      </p:sp>
      <p:sp>
        <p:nvSpPr>
          <p:cNvPr id="5" name="Text 2"/>
          <p:cNvSpPr/>
          <p:nvPr/>
        </p:nvSpPr>
        <p:spPr>
          <a:xfrm>
            <a:off x="1698329" y="2481262"/>
            <a:ext cx="4742728" cy="1184672"/>
          </a:xfrm>
          <a:prstGeom prst="rect">
            <a:avLst/>
          </a:prstGeom>
          <a:noFill/>
          <a:ln/>
        </p:spPr>
        <p:txBody>
          <a:bodyPr wrap="squar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Two components can be used for adding text. </a:t>
            </a: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Text</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and </a:t>
            </a: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TextBox</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TextBox has the added benefit that you can use similar formatting to what you would with a text box e.g. anchor alignment.</a:t>
            </a:r>
            <a:endParaRPr lang="en-US" sz="1667" dirty="0">
              <a:latin typeface="Arial" panose="020B0604020202020204" pitchFamily="34" charset="0"/>
              <a:cs typeface="Arial" panose="020B0604020202020204" pitchFamily="34" charset="0"/>
            </a:endParaRPr>
          </a:p>
        </p:txBody>
      </p:sp>
      <p:sp>
        <p:nvSpPr>
          <p:cNvPr id="6" name="Shape 3"/>
          <p:cNvSpPr/>
          <p:nvPr/>
        </p:nvSpPr>
        <p:spPr>
          <a:xfrm>
            <a:off x="1698329" y="3874195"/>
            <a:ext cx="4449918" cy="1064319"/>
          </a:xfrm>
          <a:prstGeom prst="roundRect">
            <a:avLst>
              <a:gd name="adj" fmla="val 7829"/>
            </a:avLst>
          </a:prstGeom>
          <a:solidFill>
            <a:srgbClr val="B6D6FC"/>
          </a:solidFill>
          <a:ln/>
        </p:spPr>
        <p:txBody>
          <a:bodyPr/>
          <a:lstStyle/>
          <a:p>
            <a:endParaRPr lang="en-US" sz="1667">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3"/>
          <a:stretch>
            <a:fillRect/>
          </a:stretch>
        </p:blipFill>
        <p:spPr>
          <a:xfrm>
            <a:off x="1883470" y="4153099"/>
            <a:ext cx="231026" cy="185143"/>
          </a:xfrm>
          <a:prstGeom prst="rect">
            <a:avLst/>
          </a:prstGeom>
        </p:spPr>
      </p:pic>
      <p:sp>
        <p:nvSpPr>
          <p:cNvPr id="8" name="Text 4"/>
          <p:cNvSpPr/>
          <p:nvPr/>
        </p:nvSpPr>
        <p:spPr>
          <a:xfrm>
            <a:off x="2299990" y="4087020"/>
            <a:ext cx="3848257" cy="592336"/>
          </a:xfrm>
          <a:prstGeom prst="rect">
            <a:avLst/>
          </a:prstGeom>
          <a:noFill/>
          <a:ln/>
        </p:spPr>
        <p:txBody>
          <a:bodyPr wrap="square" rtlCol="0" anchor="t"/>
          <a:lstStyle/>
          <a:p>
            <a:pPr>
              <a:lnSpc>
                <a:spcPts val="2332"/>
              </a:lnSpc>
            </a:pPr>
            <a:r>
              <a:rPr lang="en-US" sz="1667" kern="0" spc="-29" dirty="0">
                <a:solidFill>
                  <a:srgbClr val="000000"/>
                </a:solidFill>
                <a:latin typeface="Arial" panose="020B0604020202020204" pitchFamily="34" charset="0"/>
                <a:ea typeface="Raleway" pitchFamily="34" charset="-122"/>
                <a:cs typeface="Arial" panose="020B0604020202020204" pitchFamily="34" charset="0"/>
              </a:rPr>
              <a:t>You can also use the TextBox component to gather typed responses</a:t>
            </a:r>
            <a:endParaRPr lang="en-US" sz="1667" dirty="0">
              <a:latin typeface="Arial" panose="020B0604020202020204" pitchFamily="34" charset="0"/>
              <a:cs typeface="Arial" panose="020B0604020202020204" pitchFamily="34" charset="0"/>
            </a:endParaRPr>
          </a:p>
        </p:txBody>
      </p:sp>
      <p:sp>
        <p:nvSpPr>
          <p:cNvPr id="12" name="Text 8"/>
          <p:cNvSpPr/>
          <p:nvPr/>
        </p:nvSpPr>
        <p:spPr>
          <a:xfrm>
            <a:off x="6328172" y="2731194"/>
            <a:ext cx="4171851" cy="296168"/>
          </a:xfrm>
          <a:prstGeom prst="rect">
            <a:avLst/>
          </a:prstGeom>
          <a:noFill/>
          <a:ln/>
        </p:spPr>
        <p:txBody>
          <a:bodyPr wrap="none" rtlCol="0" anchor="t"/>
          <a:lstStyle/>
          <a:p>
            <a:pPr>
              <a:lnSpc>
                <a:spcPts val="2332"/>
              </a:lnSpc>
            </a:pPr>
            <a:endParaRPr lang="en-US" sz="1458" dirty="0"/>
          </a:p>
        </p:txBody>
      </p:sp>
      <p:pic>
        <p:nvPicPr>
          <p:cNvPr id="15" name="Picture 14">
            <a:extLst>
              <a:ext uri="{FF2B5EF4-FFF2-40B4-BE49-F238E27FC236}">
                <a16:creationId xmlns:a16="http://schemas.microsoft.com/office/drawing/2014/main" id="{3795CB89-6BB8-F237-6757-8DD1CEB7AC9A}"/>
              </a:ext>
            </a:extLst>
          </p:cNvPr>
          <p:cNvPicPr>
            <a:picLocks noChangeAspect="1"/>
          </p:cNvPicPr>
          <p:nvPr/>
        </p:nvPicPr>
        <p:blipFill>
          <a:blip r:embed="rId4"/>
          <a:stretch>
            <a:fillRect/>
          </a:stretch>
        </p:blipFill>
        <p:spPr>
          <a:xfrm>
            <a:off x="7375285" y="1509513"/>
            <a:ext cx="3968750" cy="3429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618227" y="680604"/>
            <a:ext cx="7860010" cy="517228"/>
          </a:xfrm>
          <a:prstGeom prst="rect">
            <a:avLst/>
          </a:prstGeom>
          <a:noFill/>
          <a:ln/>
        </p:spPr>
        <p:txBody>
          <a:bodyPr wrap="none" rtlCol="0" anchor="t"/>
          <a:lstStyle/>
          <a:p>
            <a:pPr>
              <a:lnSpc>
                <a:spcPts val="4073"/>
              </a:lnSpc>
            </a:pPr>
            <a:r>
              <a:rPr lang="en-US" sz="3259" b="1" kern="0" spc="-97" dirty="0">
                <a:solidFill>
                  <a:srgbClr val="000000"/>
                </a:solidFill>
                <a:latin typeface="Arial" panose="020B0604020202020204" pitchFamily="34" charset="0"/>
                <a:ea typeface="Raleway" pitchFamily="34" charset="-122"/>
                <a:cs typeface="Arial" panose="020B0604020202020204" pitchFamily="34" charset="0"/>
              </a:rPr>
              <a:t>Storing accuracy from keypress responses</a:t>
            </a:r>
            <a:endParaRPr lang="en-US" sz="3259" dirty="0">
              <a:latin typeface="Arial" panose="020B0604020202020204" pitchFamily="34" charset="0"/>
              <a:cs typeface="Arial" panose="020B0604020202020204" pitchFamily="34" charset="0"/>
            </a:endParaRPr>
          </a:p>
        </p:txBody>
      </p:sp>
      <p:sp>
        <p:nvSpPr>
          <p:cNvPr id="5" name="Text 2"/>
          <p:cNvSpPr/>
          <p:nvPr/>
        </p:nvSpPr>
        <p:spPr>
          <a:xfrm>
            <a:off x="618227" y="1587797"/>
            <a:ext cx="5275763" cy="794147"/>
          </a:xfrm>
          <a:prstGeom prst="rect">
            <a:avLst/>
          </a:prstGeom>
          <a:noFill/>
          <a:ln/>
        </p:spPr>
        <p:txBody>
          <a:bodyPr wrap="square" rtlCol="0" anchor="t"/>
          <a:lstStyle/>
          <a:p>
            <a:pPr>
              <a:lnSpc>
                <a:spcPts val="2086"/>
              </a:lnSpc>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To store whether a participant was correct or incorrect, you can use the column from your trials spreadsheet. </a:t>
            </a:r>
            <a:endParaRPr lang="en-US" sz="1667" dirty="0">
              <a:latin typeface="Arial" panose="020B0604020202020204" pitchFamily="34" charset="0"/>
              <a:cs typeface="Arial" panose="020B0604020202020204" pitchFamily="34" charset="0"/>
            </a:endParaRPr>
          </a:p>
        </p:txBody>
      </p:sp>
      <p:sp>
        <p:nvSpPr>
          <p:cNvPr id="6" name="Text 3"/>
          <p:cNvSpPr/>
          <p:nvPr/>
        </p:nvSpPr>
        <p:spPr>
          <a:xfrm>
            <a:off x="992812" y="2568179"/>
            <a:ext cx="4901180" cy="595709"/>
          </a:xfrm>
          <a:prstGeom prst="rect">
            <a:avLst/>
          </a:prstGeom>
          <a:noFill/>
          <a:ln/>
        </p:spPr>
        <p:txBody>
          <a:bodyPr wrap="square" rtlCol="0" anchor="t"/>
          <a:lstStyle/>
          <a:p>
            <a:pPr marL="285739" indent="-285739">
              <a:lnSpc>
                <a:spcPts val="2347"/>
              </a:lnSpc>
              <a:buSzPct val="100000"/>
              <a:buFont typeface="+mj-lt"/>
              <a:buAutoNum type="arabicPeriod"/>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In your keyboard component select the "Data" tab.</a:t>
            </a:r>
            <a:endParaRPr lang="en-US" sz="1667" dirty="0">
              <a:latin typeface="Arial" panose="020B0604020202020204" pitchFamily="34" charset="0"/>
              <a:cs typeface="Arial" panose="020B0604020202020204" pitchFamily="34" charset="0"/>
            </a:endParaRPr>
          </a:p>
        </p:txBody>
      </p:sp>
      <p:sp>
        <p:nvSpPr>
          <p:cNvPr id="7" name="Text 4"/>
          <p:cNvSpPr/>
          <p:nvPr/>
        </p:nvSpPr>
        <p:spPr>
          <a:xfrm>
            <a:off x="992812" y="3230067"/>
            <a:ext cx="4901180" cy="297855"/>
          </a:xfrm>
          <a:prstGeom prst="rect">
            <a:avLst/>
          </a:prstGeom>
          <a:noFill/>
          <a:ln/>
        </p:spPr>
        <p:txBody>
          <a:bodyPr wrap="none" rtlCol="0" anchor="t"/>
          <a:lstStyle/>
          <a:p>
            <a:pPr marL="285739" indent="-285739">
              <a:lnSpc>
                <a:spcPts val="2347"/>
              </a:lnSpc>
              <a:buSzPct val="100000"/>
              <a:buFont typeface="+mj-lt"/>
              <a:buAutoNum type="arabicPeriod" startAt="2"/>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Check "store correct"</a:t>
            </a:r>
            <a:endParaRPr lang="en-US" sz="1667" dirty="0">
              <a:latin typeface="Arial" panose="020B0604020202020204" pitchFamily="34" charset="0"/>
              <a:cs typeface="Arial" panose="020B0604020202020204" pitchFamily="34" charset="0"/>
            </a:endParaRPr>
          </a:p>
        </p:txBody>
      </p:sp>
      <p:sp>
        <p:nvSpPr>
          <p:cNvPr id="8" name="Text 5"/>
          <p:cNvSpPr/>
          <p:nvPr/>
        </p:nvSpPr>
        <p:spPr>
          <a:xfrm>
            <a:off x="992812" y="3594101"/>
            <a:ext cx="4901180" cy="595709"/>
          </a:xfrm>
          <a:prstGeom prst="rect">
            <a:avLst/>
          </a:prstGeom>
          <a:noFill/>
          <a:ln/>
        </p:spPr>
        <p:txBody>
          <a:bodyPr wrap="square" rtlCol="0" anchor="t"/>
          <a:lstStyle/>
          <a:p>
            <a:pPr marL="285739" indent="-285739">
              <a:lnSpc>
                <a:spcPts val="2347"/>
              </a:lnSpc>
              <a:buSzPct val="100000"/>
              <a:buFont typeface="+mj-lt"/>
              <a:buAutoNum type="arabicPeriod" startAt="3"/>
            </a:pPr>
            <a:r>
              <a:rPr lang="en-US" sz="1667" kern="0" spc="-26" dirty="0">
                <a:solidFill>
                  <a:srgbClr val="272525"/>
                </a:solidFill>
                <a:latin typeface="Arial" panose="020B0604020202020204" pitchFamily="34" charset="0"/>
                <a:ea typeface="Raleway" pitchFamily="34" charset="-122"/>
                <a:cs typeface="Arial" panose="020B0604020202020204" pitchFamily="34" charset="0"/>
              </a:rPr>
              <a:t>in the correct answer field feed in the column from your spreadsheet.</a:t>
            </a:r>
            <a:endParaRPr lang="en-US" sz="1667" dirty="0">
              <a:latin typeface="Arial" panose="020B0604020202020204" pitchFamily="34" charset="0"/>
              <a:cs typeface="Arial" panose="020B0604020202020204" pitchFamily="34" charset="0"/>
            </a:endParaRPr>
          </a:p>
        </p:txBody>
      </p:sp>
      <p:pic>
        <p:nvPicPr>
          <p:cNvPr id="9" name="Image 1" descr="preencoded.png"/>
          <p:cNvPicPr>
            <a:picLocks noChangeAspect="1"/>
          </p:cNvPicPr>
          <p:nvPr/>
        </p:nvPicPr>
        <p:blipFill>
          <a:blip r:embed="rId3"/>
          <a:stretch>
            <a:fillRect/>
          </a:stretch>
        </p:blipFill>
        <p:spPr>
          <a:xfrm>
            <a:off x="6304161" y="1384066"/>
            <a:ext cx="4421348" cy="1540903"/>
          </a:xfrm>
          <a:prstGeom prst="rect">
            <a:avLst/>
          </a:prstGeom>
        </p:spPr>
      </p:pic>
      <p:pic>
        <p:nvPicPr>
          <p:cNvPr id="10" name="Image 2" descr="preencoded.png"/>
          <p:cNvPicPr>
            <a:picLocks noChangeAspect="1"/>
          </p:cNvPicPr>
          <p:nvPr/>
        </p:nvPicPr>
        <p:blipFill>
          <a:blip r:embed="rId4"/>
          <a:stretch>
            <a:fillRect/>
          </a:stretch>
        </p:blipFill>
        <p:spPr>
          <a:xfrm>
            <a:off x="6304161" y="3111202"/>
            <a:ext cx="4667564" cy="3229213"/>
          </a:xfrm>
          <a:prstGeom prst="rect">
            <a:avLst/>
          </a:prstGeom>
        </p:spPr>
      </p:pic>
      <p:cxnSp>
        <p:nvCxnSpPr>
          <p:cNvPr id="2" name="Straight Arrow Connector 1">
            <a:extLst>
              <a:ext uri="{FF2B5EF4-FFF2-40B4-BE49-F238E27FC236}">
                <a16:creationId xmlns:a16="http://schemas.microsoft.com/office/drawing/2014/main" id="{0BC107BA-65E3-CBF4-FFDD-2B7EFDBBCB9D}"/>
              </a:ext>
            </a:extLst>
          </p:cNvPr>
          <p:cNvCxnSpPr>
            <a:cxnSpLocks/>
          </p:cNvCxnSpPr>
          <p:nvPr/>
        </p:nvCxnSpPr>
        <p:spPr>
          <a:xfrm flipH="1">
            <a:off x="8262938" y="1916907"/>
            <a:ext cx="1238250" cy="22729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2A39ECB-F30E-1BA1-1B57-ED150A9A0BB0}"/>
              </a:ext>
            </a:extLst>
          </p:cNvPr>
          <p:cNvCxnSpPr>
            <a:cxnSpLocks/>
          </p:cNvCxnSpPr>
          <p:nvPr/>
        </p:nvCxnSpPr>
        <p:spPr>
          <a:xfrm flipV="1">
            <a:off x="5214938" y="4061420"/>
            <a:ext cx="2428873" cy="10463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p:cNvSpPr/>
          <p:nvPr/>
        </p:nvSpPr>
        <p:spPr>
          <a:xfrm>
            <a:off x="632604" y="1661864"/>
            <a:ext cx="5898853" cy="578644"/>
          </a:xfrm>
          <a:prstGeom prst="rect">
            <a:avLst/>
          </a:prstGeom>
          <a:noFill/>
          <a:ln/>
        </p:spPr>
        <p:txBody>
          <a:bodyPr wrap="none" rtlCol="0" anchor="t"/>
          <a:lstStyle/>
          <a:p>
            <a:pPr>
              <a:lnSpc>
                <a:spcPts val="4556"/>
              </a:lnSpc>
            </a:pPr>
            <a:r>
              <a:rPr lang="en-US" sz="3645" b="1" kern="0" spc="-109" dirty="0">
                <a:solidFill>
                  <a:srgbClr val="000000"/>
                </a:solidFill>
                <a:latin typeface="Arial" panose="020B0604020202020204" pitchFamily="34" charset="0"/>
                <a:ea typeface="Raleway" pitchFamily="34" charset="-122"/>
                <a:cs typeface="Arial" panose="020B0604020202020204" pitchFamily="34" charset="0"/>
              </a:rPr>
              <a:t>Extending Builder with code</a:t>
            </a:r>
            <a:endParaRPr lang="en-US" sz="3645" dirty="0">
              <a:latin typeface="Arial" panose="020B0604020202020204" pitchFamily="34" charset="0"/>
              <a:cs typeface="Arial" panose="020B0604020202020204" pitchFamily="34" charset="0"/>
            </a:endParaRPr>
          </a:p>
        </p:txBody>
      </p:sp>
      <p:sp>
        <p:nvSpPr>
          <p:cNvPr id="7" name="Text 3"/>
          <p:cNvSpPr/>
          <p:nvPr/>
        </p:nvSpPr>
        <p:spPr>
          <a:xfrm>
            <a:off x="632604" y="2633960"/>
            <a:ext cx="9861068" cy="592336"/>
          </a:xfrm>
          <a:prstGeom prst="rect">
            <a:avLst/>
          </a:prstGeom>
          <a:noFill/>
          <a:ln/>
        </p:spPr>
        <p:txBody>
          <a:bodyPr wrap="squar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Sometimes you might want to add flexibility to your experiment in ways that might not be accommodated through the GUI interface. This is one of the reasons people may prefer to use code. </a:t>
            </a:r>
            <a:endParaRPr lang="en-US" sz="1667" dirty="0">
              <a:latin typeface="Arial" panose="020B0604020202020204" pitchFamily="34" charset="0"/>
              <a:cs typeface="Arial" panose="020B0604020202020204" pitchFamily="34" charset="0"/>
            </a:endParaRPr>
          </a:p>
        </p:txBody>
      </p:sp>
      <p:sp>
        <p:nvSpPr>
          <p:cNvPr id="8" name="Text 4"/>
          <p:cNvSpPr/>
          <p:nvPr/>
        </p:nvSpPr>
        <p:spPr>
          <a:xfrm>
            <a:off x="632604" y="3434557"/>
            <a:ext cx="9861068" cy="296168"/>
          </a:xfrm>
          <a:prstGeom prst="rect">
            <a:avLst/>
          </a:prstGeom>
          <a:noFill/>
          <a:ln/>
        </p:spPr>
        <p:txBody>
          <a:bodyPr wrap="none" rtlCol="0" anchor="t"/>
          <a:lstStyle/>
          <a:p>
            <a:pPr>
              <a:lnSpc>
                <a:spcPts val="2332"/>
              </a:lnSpc>
            </a:pPr>
            <a:r>
              <a:rPr lang="en-US" sz="1667" kern="0" spc="-29" dirty="0">
                <a:solidFill>
                  <a:srgbClr val="272525"/>
                </a:solidFill>
                <a:latin typeface="Arial" panose="020B0604020202020204" pitchFamily="34" charset="0"/>
                <a:ea typeface="Raleway" pitchFamily="34" charset="-122"/>
                <a:cs typeface="Arial" panose="020B0604020202020204" pitchFamily="34" charset="0"/>
              </a:rPr>
              <a:t>In PsychoPy, you can use code components to add flexibility where code is needed.</a:t>
            </a:r>
            <a:endParaRPr lang="en-US" sz="1667" dirty="0">
              <a:latin typeface="Arial" panose="020B0604020202020204" pitchFamily="34" charset="0"/>
              <a:cs typeface="Arial" panose="020B0604020202020204" pitchFamily="34" charset="0"/>
            </a:endParaRPr>
          </a:p>
        </p:txBody>
      </p:sp>
      <p:sp>
        <p:nvSpPr>
          <p:cNvPr id="9" name="Text 5"/>
          <p:cNvSpPr/>
          <p:nvPr/>
        </p:nvSpPr>
        <p:spPr>
          <a:xfrm>
            <a:off x="632604" y="3938985"/>
            <a:ext cx="9861068" cy="888504"/>
          </a:xfrm>
          <a:prstGeom prst="rect">
            <a:avLst/>
          </a:prstGeom>
          <a:noFill/>
          <a:ln/>
        </p:spPr>
        <p:txBody>
          <a:bodyPr wrap="square" rtlCol="0" anchor="t"/>
          <a:lstStyle/>
          <a:p>
            <a:pPr>
              <a:lnSpc>
                <a:spcPts val="2332"/>
              </a:lnSpc>
            </a:pPr>
            <a:r>
              <a:rPr lang="en-US" sz="1667" b="1" kern="0" spc="-29" dirty="0">
                <a:solidFill>
                  <a:srgbClr val="272525"/>
                </a:solidFill>
                <a:latin typeface="Arial" panose="020B0604020202020204" pitchFamily="34" charset="0"/>
                <a:ea typeface="Raleway" pitchFamily="34" charset="-122"/>
                <a:cs typeface="Arial" panose="020B0604020202020204" pitchFamily="34" charset="0"/>
              </a:rPr>
              <a:t>Example:</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I want to give my participant trial-by-trial feedback (e.g. "</a:t>
            </a:r>
            <a:r>
              <a:rPr lang="en-US" sz="1667" b="1" kern="0" spc="-29" dirty="0">
                <a:solidFill>
                  <a:srgbClr val="1F7135"/>
                </a:solidFill>
                <a:latin typeface="Arial" panose="020B0604020202020204" pitchFamily="34" charset="0"/>
                <a:ea typeface="Raleway" pitchFamily="34" charset="-122"/>
                <a:cs typeface="Arial" panose="020B0604020202020204" pitchFamily="34" charset="0"/>
              </a:rPr>
              <a:t>Correct!</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if response was correct and "</a:t>
            </a:r>
            <a:r>
              <a:rPr lang="en-US" sz="1667" b="1" kern="0" spc="-29" dirty="0">
                <a:solidFill>
                  <a:srgbClr val="F44444"/>
                </a:solidFill>
                <a:latin typeface="Arial" panose="020B0604020202020204" pitchFamily="34" charset="0"/>
                <a:ea typeface="Raleway" pitchFamily="34" charset="-122"/>
                <a:cs typeface="Arial" panose="020B0604020202020204" pitchFamily="34" charset="0"/>
              </a:rPr>
              <a:t>Incorrect</a:t>
            </a:r>
            <a:r>
              <a:rPr lang="en-US" sz="1667" kern="0" spc="-29" dirty="0">
                <a:solidFill>
                  <a:srgbClr val="272525"/>
                </a:solidFill>
                <a:latin typeface="Arial" panose="020B0604020202020204" pitchFamily="34" charset="0"/>
                <a:ea typeface="Raleway" pitchFamily="34" charset="-122"/>
                <a:cs typeface="Arial" panose="020B0604020202020204" pitchFamily="34" charset="0"/>
              </a:rPr>
              <a:t>" if response was incorrect). In this example we do not know what the text we present will be until a response is made, so we need some conditional IF/ELSE statement to set up our text. </a:t>
            </a:r>
            <a:endParaRPr lang="en-US" sz="1667" dirty="0">
              <a:latin typeface="Arial" panose="020B0604020202020204" pitchFamily="34" charset="0"/>
              <a:cs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773973" y="1009244"/>
            <a:ext cx="4324846" cy="405011"/>
          </a:xfrm>
          <a:prstGeom prst="rect">
            <a:avLst/>
          </a:prstGeom>
          <a:noFill/>
          <a:ln/>
        </p:spPr>
        <p:txBody>
          <a:bodyPr wrap="none" rtlCol="0" anchor="t"/>
          <a:lstStyle/>
          <a:p>
            <a:pPr>
              <a:lnSpc>
                <a:spcPts val="3189"/>
              </a:lnSpc>
            </a:pPr>
            <a:r>
              <a:rPr lang="en-US" sz="3333" b="1" kern="0" spc="-77" dirty="0">
                <a:solidFill>
                  <a:srgbClr val="000000"/>
                </a:solidFill>
                <a:latin typeface="Arial" panose="020B0604020202020204" pitchFamily="34" charset="0"/>
                <a:ea typeface="Raleway" pitchFamily="34" charset="-122"/>
                <a:cs typeface="Arial" panose="020B0604020202020204" pitchFamily="34" charset="0"/>
              </a:rPr>
              <a:t>Adding trial-by-trial feedback</a:t>
            </a:r>
            <a:endParaRPr lang="en-US" sz="3333" dirty="0">
              <a:latin typeface="Arial" panose="020B0604020202020204" pitchFamily="34" charset="0"/>
              <a:cs typeface="Arial" panose="020B0604020202020204" pitchFamily="34" charset="0"/>
            </a:endParaRPr>
          </a:p>
        </p:txBody>
      </p:sp>
      <p:sp>
        <p:nvSpPr>
          <p:cNvPr id="5" name="Text 2"/>
          <p:cNvSpPr/>
          <p:nvPr/>
        </p:nvSpPr>
        <p:spPr>
          <a:xfrm>
            <a:off x="773973" y="2418264"/>
            <a:ext cx="5566443" cy="414536"/>
          </a:xfrm>
          <a:prstGeom prst="rect">
            <a:avLst/>
          </a:prstGeom>
          <a:noFill/>
          <a:ln/>
        </p:spPr>
        <p:txBody>
          <a:bodyPr wrap="square" rtlCol="0" anchor="t"/>
          <a:lstStyle/>
          <a:p>
            <a:r>
              <a:rPr lang="en-US" sz="1667" kern="0" spc="-20" dirty="0">
                <a:solidFill>
                  <a:srgbClr val="272525"/>
                </a:solidFill>
                <a:latin typeface="Arial" panose="020B0604020202020204" pitchFamily="34" charset="0"/>
                <a:ea typeface="Raleway" pitchFamily="34" charset="-122"/>
                <a:cs typeface="Arial" panose="020B0604020202020204" pitchFamily="34" charset="0"/>
              </a:rPr>
              <a:t>Start by adding a new routine to your experiment called "feedback". It should appear after the "trial" routine, but it should occur on every trial, so it therefore needs to be within the loop. </a:t>
            </a:r>
            <a:endParaRPr lang="en-US" sz="1667" dirty="0">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3"/>
          <a:stretch>
            <a:fillRect/>
          </a:stretch>
        </p:blipFill>
        <p:spPr>
          <a:xfrm>
            <a:off x="6985122" y="2418264"/>
            <a:ext cx="3984802" cy="1288723"/>
          </a:xfrm>
          <a:prstGeom prst="rect">
            <a:avLst/>
          </a:prstGeom>
        </p:spPr>
      </p:pic>
      <p:sp>
        <p:nvSpPr>
          <p:cNvPr id="14" name="Text 8"/>
          <p:cNvSpPr/>
          <p:nvPr/>
        </p:nvSpPr>
        <p:spPr>
          <a:xfrm>
            <a:off x="3017640" y="7871818"/>
            <a:ext cx="2920306" cy="207268"/>
          </a:xfrm>
          <a:prstGeom prst="rect">
            <a:avLst/>
          </a:prstGeom>
          <a:noFill/>
          <a:ln/>
        </p:spPr>
        <p:txBody>
          <a:bodyPr wrap="none" rtlCol="0" anchor="t"/>
          <a:lstStyle/>
          <a:p>
            <a:pPr>
              <a:lnSpc>
                <a:spcPts val="1633"/>
              </a:lnSpc>
            </a:pPr>
            <a:endParaRPr lang="en-US" sz="102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16F9-CAB6-E897-5615-468D531B1CB5}"/>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E1DDDF63-A4DC-0DBC-8705-DE96A383149A}"/>
              </a:ext>
            </a:extLst>
          </p:cNvPr>
          <p:cNvSpPr/>
          <p:nvPr/>
        </p:nvSpPr>
        <p:spPr>
          <a:xfrm>
            <a:off x="773973" y="419305"/>
            <a:ext cx="4324846" cy="405011"/>
          </a:xfrm>
          <a:prstGeom prst="rect">
            <a:avLst/>
          </a:prstGeom>
          <a:noFill/>
          <a:ln/>
        </p:spPr>
        <p:txBody>
          <a:bodyPr wrap="none" rtlCol="0" anchor="t"/>
          <a:lstStyle/>
          <a:p>
            <a:pPr>
              <a:lnSpc>
                <a:spcPts val="3189"/>
              </a:lnSpc>
            </a:pPr>
            <a:r>
              <a:rPr lang="en-US" sz="3333" b="1" kern="0" spc="-77" dirty="0">
                <a:solidFill>
                  <a:srgbClr val="000000"/>
                </a:solidFill>
                <a:latin typeface="Arial" panose="020B0604020202020204" pitchFamily="34" charset="0"/>
                <a:ea typeface="Raleway" pitchFamily="34" charset="-122"/>
                <a:cs typeface="Arial" panose="020B0604020202020204" pitchFamily="34" charset="0"/>
              </a:rPr>
              <a:t>Adding trial-by-trial feedback</a:t>
            </a:r>
            <a:endParaRPr lang="en-US" sz="3333" dirty="0">
              <a:latin typeface="Arial" panose="020B0604020202020204" pitchFamily="34" charset="0"/>
              <a:cs typeface="Arial" panose="020B0604020202020204" pitchFamily="34" charset="0"/>
            </a:endParaRPr>
          </a:p>
        </p:txBody>
      </p:sp>
      <p:sp>
        <p:nvSpPr>
          <p:cNvPr id="7" name="Text 3">
            <a:extLst>
              <a:ext uri="{FF2B5EF4-FFF2-40B4-BE49-F238E27FC236}">
                <a16:creationId xmlns:a16="http://schemas.microsoft.com/office/drawing/2014/main" id="{2F9C01A3-245F-FD50-8537-AFC4263D3D8C}"/>
              </a:ext>
            </a:extLst>
          </p:cNvPr>
          <p:cNvSpPr/>
          <p:nvPr/>
        </p:nvSpPr>
        <p:spPr>
          <a:xfrm>
            <a:off x="773973" y="1140230"/>
            <a:ext cx="6817273" cy="414536"/>
          </a:xfrm>
          <a:prstGeom prst="rect">
            <a:avLst/>
          </a:prstGeom>
          <a:noFill/>
          <a:ln/>
        </p:spPr>
        <p:txBody>
          <a:bodyPr wrap="square" rtlCol="0" anchor="t"/>
          <a:lstStyle/>
          <a:p>
            <a:r>
              <a:rPr lang="en-US" sz="1667" kern="0" spc="-20" dirty="0">
                <a:solidFill>
                  <a:srgbClr val="272525"/>
                </a:solidFill>
                <a:latin typeface="Arial" panose="020B0604020202020204" pitchFamily="34" charset="0"/>
                <a:ea typeface="Raleway" pitchFamily="34" charset="-122"/>
                <a:cs typeface="Arial" panose="020B0604020202020204" pitchFamily="34" charset="0"/>
              </a:rPr>
              <a:t>We then add two components to our "feedback" routine. A code component (in the "custom" section of Components) and a TexBox.</a:t>
            </a:r>
            <a:endParaRPr lang="en-US" sz="1667" dirty="0">
              <a:latin typeface="Arial" panose="020B0604020202020204" pitchFamily="34" charset="0"/>
              <a:cs typeface="Arial" panose="020B0604020202020204" pitchFamily="34" charset="0"/>
            </a:endParaRPr>
          </a:p>
        </p:txBody>
      </p:sp>
      <p:pic>
        <p:nvPicPr>
          <p:cNvPr id="8" name="Image 2" descr="preencoded.png">
            <a:extLst>
              <a:ext uri="{FF2B5EF4-FFF2-40B4-BE49-F238E27FC236}">
                <a16:creationId xmlns:a16="http://schemas.microsoft.com/office/drawing/2014/main" id="{44C87003-5617-BD86-A71B-9E35B4BFD8B6}"/>
              </a:ext>
            </a:extLst>
          </p:cNvPr>
          <p:cNvPicPr>
            <a:picLocks noChangeAspect="1"/>
          </p:cNvPicPr>
          <p:nvPr/>
        </p:nvPicPr>
        <p:blipFill>
          <a:blip r:embed="rId3"/>
          <a:stretch>
            <a:fillRect/>
          </a:stretch>
        </p:blipFill>
        <p:spPr>
          <a:xfrm>
            <a:off x="773973" y="2057119"/>
            <a:ext cx="4324846" cy="2302528"/>
          </a:xfrm>
          <a:prstGeom prst="rect">
            <a:avLst/>
          </a:prstGeom>
        </p:spPr>
      </p:pic>
      <p:sp>
        <p:nvSpPr>
          <p:cNvPr id="9" name="Text 4">
            <a:extLst>
              <a:ext uri="{FF2B5EF4-FFF2-40B4-BE49-F238E27FC236}">
                <a16:creationId xmlns:a16="http://schemas.microsoft.com/office/drawing/2014/main" id="{DDBDA141-C3E4-D3E2-D52A-72F88D294298}"/>
              </a:ext>
            </a:extLst>
          </p:cNvPr>
          <p:cNvSpPr/>
          <p:nvPr/>
        </p:nvSpPr>
        <p:spPr>
          <a:xfrm>
            <a:off x="903369" y="4626430"/>
            <a:ext cx="1562993" cy="243086"/>
          </a:xfrm>
          <a:prstGeom prst="rect">
            <a:avLst/>
          </a:prstGeom>
          <a:noFill/>
          <a:ln/>
        </p:spPr>
        <p:txBody>
          <a:bodyPr wrap="none" rtlCol="0" anchor="t"/>
          <a:lstStyle/>
          <a:p>
            <a:pPr>
              <a:lnSpc>
                <a:spcPts val="1913"/>
              </a:lnSpc>
            </a:pPr>
            <a:r>
              <a:rPr lang="en-US" sz="2500" b="1" kern="0" spc="-46" dirty="0">
                <a:solidFill>
                  <a:srgbClr val="000000"/>
                </a:solidFill>
                <a:latin typeface="Arial" panose="020B0604020202020204" pitchFamily="34" charset="0"/>
                <a:ea typeface="Raleway" pitchFamily="34" charset="-122"/>
                <a:cs typeface="Arial" panose="020B0604020202020204" pitchFamily="34" charset="0"/>
              </a:rPr>
              <a:t>Code component</a:t>
            </a:r>
            <a:endParaRPr lang="en-US" sz="2500" dirty="0">
              <a:latin typeface="Arial" panose="020B0604020202020204" pitchFamily="34" charset="0"/>
              <a:cs typeface="Arial" panose="020B0604020202020204" pitchFamily="34" charset="0"/>
            </a:endParaRPr>
          </a:p>
        </p:txBody>
      </p:sp>
      <p:sp>
        <p:nvSpPr>
          <p:cNvPr id="10" name="Text 5">
            <a:extLst>
              <a:ext uri="{FF2B5EF4-FFF2-40B4-BE49-F238E27FC236}">
                <a16:creationId xmlns:a16="http://schemas.microsoft.com/office/drawing/2014/main" id="{64BAA99A-8941-D432-7065-B182CACD5E1E}"/>
              </a:ext>
            </a:extLst>
          </p:cNvPr>
          <p:cNvSpPr/>
          <p:nvPr/>
        </p:nvSpPr>
        <p:spPr>
          <a:xfrm>
            <a:off x="903369" y="4999095"/>
            <a:ext cx="4804443" cy="1074440"/>
          </a:xfrm>
          <a:prstGeom prst="rect">
            <a:avLst/>
          </a:prstGeom>
          <a:noFill/>
          <a:ln/>
        </p:spPr>
        <p:txBody>
          <a:bodyPr wrap="square" rtlCol="0" anchor="t"/>
          <a:lstStyle/>
          <a:p>
            <a:r>
              <a:rPr lang="en-US" sz="1667" kern="0" spc="-20" dirty="0">
                <a:solidFill>
                  <a:srgbClr val="272525"/>
                </a:solidFill>
                <a:latin typeface="Arial" panose="020B0604020202020204" pitchFamily="34" charset="0"/>
                <a:ea typeface="Raleway" pitchFamily="34" charset="-122"/>
                <a:cs typeface="Arial" panose="020B0604020202020204" pitchFamily="34" charset="0"/>
              </a:rPr>
              <a:t>The code component checks if the answer was correct by inspecting your </a:t>
            </a:r>
            <a:r>
              <a:rPr lang="en-US" sz="1667" kern="0" spc="-20" dirty="0">
                <a:solidFill>
                  <a:srgbClr val="272525"/>
                </a:solidFill>
                <a:highlight>
                  <a:srgbClr val="E8FAFC"/>
                </a:highlight>
                <a:latin typeface="Arial" panose="020B0604020202020204" pitchFamily="34" charset="0"/>
                <a:ea typeface="Consolas" pitchFamily="34" charset="-122"/>
                <a:cs typeface="Arial" panose="020B0604020202020204" pitchFamily="34" charset="0"/>
              </a:rPr>
              <a:t>key_resp</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component, which now has the property </a:t>
            </a:r>
            <a:r>
              <a:rPr lang="en-US" sz="1667" kern="0" spc="-20" dirty="0">
                <a:solidFill>
                  <a:srgbClr val="272525"/>
                </a:solidFill>
                <a:highlight>
                  <a:srgbClr val="E8FAFC"/>
                </a:highlight>
                <a:latin typeface="Arial" panose="020B0604020202020204" pitchFamily="34" charset="0"/>
                <a:ea typeface="Consolas" pitchFamily="34" charset="-122"/>
                <a:cs typeface="Arial" panose="020B0604020202020204" pitchFamily="34" charset="0"/>
              </a:rPr>
              <a:t>corr</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This will be 1 if correct and 0 if incorrect. So we use this to make a variable </a:t>
            </a:r>
            <a:r>
              <a:rPr lang="en-US" sz="1667" kern="0" spc="-20" dirty="0">
                <a:solidFill>
                  <a:srgbClr val="272525"/>
                </a:solidFill>
                <a:highlight>
                  <a:srgbClr val="E8FAFC"/>
                </a:highlight>
                <a:latin typeface="Arial" panose="020B0604020202020204" pitchFamily="34" charset="0"/>
                <a:ea typeface="Consolas" pitchFamily="34" charset="-122"/>
                <a:cs typeface="Arial" panose="020B0604020202020204" pitchFamily="34" charset="0"/>
              </a:rPr>
              <a:t>fb</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a:t>
            </a:r>
            <a:endParaRPr lang="en-US" sz="1667" dirty="0">
              <a:latin typeface="Arial" panose="020B0604020202020204" pitchFamily="34" charset="0"/>
              <a:cs typeface="Arial" panose="020B0604020202020204" pitchFamily="34" charset="0"/>
            </a:endParaRPr>
          </a:p>
        </p:txBody>
      </p:sp>
      <p:sp>
        <p:nvSpPr>
          <p:cNvPr id="11" name="Shape 6">
            <a:extLst>
              <a:ext uri="{FF2B5EF4-FFF2-40B4-BE49-F238E27FC236}">
                <a16:creationId xmlns:a16="http://schemas.microsoft.com/office/drawing/2014/main" id="{13D55DB1-9B60-8A6E-9EB8-560F389BF68B}"/>
              </a:ext>
            </a:extLst>
          </p:cNvPr>
          <p:cNvSpPr/>
          <p:nvPr/>
        </p:nvSpPr>
        <p:spPr>
          <a:xfrm>
            <a:off x="8688477" y="158560"/>
            <a:ext cx="3341389" cy="1661724"/>
          </a:xfrm>
          <a:prstGeom prst="roundRect">
            <a:avLst>
              <a:gd name="adj" fmla="val 5031"/>
            </a:avLst>
          </a:prstGeom>
          <a:solidFill>
            <a:srgbClr val="FCF2B5"/>
          </a:solidFill>
          <a:ln/>
        </p:spPr>
        <p:txBody>
          <a:bodyPr/>
          <a:lstStyle/>
          <a:p>
            <a:endParaRPr lang="en-US" sz="1500">
              <a:latin typeface="Arial" panose="020B0604020202020204" pitchFamily="34" charset="0"/>
              <a:cs typeface="Arial" panose="020B0604020202020204" pitchFamily="34" charset="0"/>
            </a:endParaRPr>
          </a:p>
        </p:txBody>
      </p:sp>
      <p:pic>
        <p:nvPicPr>
          <p:cNvPr id="12" name="Image 3" descr="preencoded.png">
            <a:extLst>
              <a:ext uri="{FF2B5EF4-FFF2-40B4-BE49-F238E27FC236}">
                <a16:creationId xmlns:a16="http://schemas.microsoft.com/office/drawing/2014/main" id="{66C5D640-27B3-B698-2894-C9FB2A5C0662}"/>
              </a:ext>
            </a:extLst>
          </p:cNvPr>
          <p:cNvPicPr>
            <a:picLocks noChangeAspect="1"/>
          </p:cNvPicPr>
          <p:nvPr/>
        </p:nvPicPr>
        <p:blipFill>
          <a:blip r:embed="rId4"/>
          <a:stretch>
            <a:fillRect/>
          </a:stretch>
        </p:blipFill>
        <p:spPr>
          <a:xfrm>
            <a:off x="8818056" y="353127"/>
            <a:ext cx="161925" cy="129580"/>
          </a:xfrm>
          <a:prstGeom prst="rect">
            <a:avLst/>
          </a:prstGeom>
        </p:spPr>
      </p:pic>
      <p:sp>
        <p:nvSpPr>
          <p:cNvPr id="13" name="Text 7">
            <a:extLst>
              <a:ext uri="{FF2B5EF4-FFF2-40B4-BE49-F238E27FC236}">
                <a16:creationId xmlns:a16="http://schemas.microsoft.com/office/drawing/2014/main" id="{E4F0C545-645B-A5F8-6768-9201FE37B83E}"/>
              </a:ext>
            </a:extLst>
          </p:cNvPr>
          <p:cNvSpPr/>
          <p:nvPr/>
        </p:nvSpPr>
        <p:spPr>
          <a:xfrm>
            <a:off x="9109561" y="307486"/>
            <a:ext cx="2920305" cy="829072"/>
          </a:xfrm>
          <a:prstGeom prst="rect">
            <a:avLst/>
          </a:prstGeom>
          <a:noFill/>
          <a:ln/>
        </p:spPr>
        <p:txBody>
          <a:bodyPr wrap="square" rtlCol="0" anchor="t"/>
          <a:lstStyle/>
          <a:p>
            <a:pPr>
              <a:lnSpc>
                <a:spcPts val="1633"/>
              </a:lnSpc>
            </a:pPr>
            <a:r>
              <a:rPr lang="en-US" sz="1667" kern="0" spc="-20" dirty="0">
                <a:solidFill>
                  <a:srgbClr val="000000"/>
                </a:solidFill>
                <a:latin typeface="Arial" panose="020B0604020202020204" pitchFamily="34" charset="0"/>
                <a:ea typeface="Raleway" pitchFamily="34" charset="-122"/>
                <a:cs typeface="Arial" panose="020B0604020202020204" pitchFamily="34" charset="0"/>
              </a:rPr>
              <a:t>The tab you add your code to is important. Here we don't know if you are correct until the beginning of your feedback routine. So we add the code there.</a:t>
            </a:r>
            <a:endParaRPr lang="en-US" sz="1667" dirty="0">
              <a:latin typeface="Arial" panose="020B0604020202020204" pitchFamily="34" charset="0"/>
              <a:cs typeface="Arial" panose="020B0604020202020204" pitchFamily="34" charset="0"/>
            </a:endParaRPr>
          </a:p>
        </p:txBody>
      </p:sp>
      <p:sp>
        <p:nvSpPr>
          <p:cNvPr id="14" name="Text 8">
            <a:extLst>
              <a:ext uri="{FF2B5EF4-FFF2-40B4-BE49-F238E27FC236}">
                <a16:creationId xmlns:a16="http://schemas.microsoft.com/office/drawing/2014/main" id="{065BB347-CBA2-B8BE-7018-DAF6717AEB9F}"/>
              </a:ext>
            </a:extLst>
          </p:cNvPr>
          <p:cNvSpPr/>
          <p:nvPr/>
        </p:nvSpPr>
        <p:spPr>
          <a:xfrm>
            <a:off x="3017640" y="7871818"/>
            <a:ext cx="2920306" cy="207268"/>
          </a:xfrm>
          <a:prstGeom prst="rect">
            <a:avLst/>
          </a:prstGeom>
          <a:noFill/>
          <a:ln/>
        </p:spPr>
        <p:txBody>
          <a:bodyPr wrap="none" rtlCol="0" anchor="t"/>
          <a:lstStyle/>
          <a:p>
            <a:pPr>
              <a:lnSpc>
                <a:spcPts val="1633"/>
              </a:lnSpc>
            </a:pPr>
            <a:endParaRPr lang="en-US" sz="1021" dirty="0"/>
          </a:p>
        </p:txBody>
      </p:sp>
      <p:pic>
        <p:nvPicPr>
          <p:cNvPr id="15" name="Image 4" descr="preencoded.png">
            <a:extLst>
              <a:ext uri="{FF2B5EF4-FFF2-40B4-BE49-F238E27FC236}">
                <a16:creationId xmlns:a16="http://schemas.microsoft.com/office/drawing/2014/main" id="{52AC4C31-D101-3F33-4357-BED6F0D89304}"/>
              </a:ext>
            </a:extLst>
          </p:cNvPr>
          <p:cNvPicPr>
            <a:picLocks noChangeAspect="1"/>
          </p:cNvPicPr>
          <p:nvPr/>
        </p:nvPicPr>
        <p:blipFill>
          <a:blip r:embed="rId5"/>
          <a:stretch>
            <a:fillRect/>
          </a:stretch>
        </p:blipFill>
        <p:spPr>
          <a:xfrm>
            <a:off x="6239570" y="2067015"/>
            <a:ext cx="3460055" cy="2889550"/>
          </a:xfrm>
          <a:prstGeom prst="rect">
            <a:avLst/>
          </a:prstGeom>
        </p:spPr>
      </p:pic>
      <p:sp>
        <p:nvSpPr>
          <p:cNvPr id="16" name="Text 9">
            <a:extLst>
              <a:ext uri="{FF2B5EF4-FFF2-40B4-BE49-F238E27FC236}">
                <a16:creationId xmlns:a16="http://schemas.microsoft.com/office/drawing/2014/main" id="{576BFEF6-14A2-96CC-0240-E88970A23D99}"/>
              </a:ext>
            </a:extLst>
          </p:cNvPr>
          <p:cNvSpPr/>
          <p:nvPr/>
        </p:nvSpPr>
        <p:spPr>
          <a:xfrm>
            <a:off x="6239570" y="5098842"/>
            <a:ext cx="1819077" cy="243086"/>
          </a:xfrm>
          <a:prstGeom prst="rect">
            <a:avLst/>
          </a:prstGeom>
          <a:noFill/>
          <a:ln/>
        </p:spPr>
        <p:txBody>
          <a:bodyPr wrap="none" rtlCol="0" anchor="t"/>
          <a:lstStyle/>
          <a:p>
            <a:pPr>
              <a:lnSpc>
                <a:spcPts val="1913"/>
              </a:lnSpc>
            </a:pPr>
            <a:r>
              <a:rPr lang="en-US" sz="2500" b="1" kern="0" spc="-46" dirty="0">
                <a:solidFill>
                  <a:srgbClr val="000000"/>
                </a:solidFill>
                <a:latin typeface="Arial" panose="020B0604020202020204" pitchFamily="34" charset="0"/>
                <a:ea typeface="Raleway" pitchFamily="34" charset="-122"/>
                <a:cs typeface="Arial" panose="020B0604020202020204" pitchFamily="34" charset="0"/>
              </a:rPr>
              <a:t>Text box component</a:t>
            </a:r>
            <a:endParaRPr lang="en-US" sz="2500" dirty="0">
              <a:latin typeface="Arial" panose="020B0604020202020204" pitchFamily="34" charset="0"/>
              <a:cs typeface="Arial" panose="020B0604020202020204" pitchFamily="34" charset="0"/>
            </a:endParaRPr>
          </a:p>
        </p:txBody>
      </p:sp>
      <p:sp>
        <p:nvSpPr>
          <p:cNvPr id="17" name="Text 10">
            <a:extLst>
              <a:ext uri="{FF2B5EF4-FFF2-40B4-BE49-F238E27FC236}">
                <a16:creationId xmlns:a16="http://schemas.microsoft.com/office/drawing/2014/main" id="{179F93F8-DF3A-9FF9-283D-6AF887D476DA}"/>
              </a:ext>
            </a:extLst>
          </p:cNvPr>
          <p:cNvSpPr/>
          <p:nvPr/>
        </p:nvSpPr>
        <p:spPr>
          <a:xfrm>
            <a:off x="6239570" y="5471508"/>
            <a:ext cx="4804443" cy="427236"/>
          </a:xfrm>
          <a:prstGeom prst="rect">
            <a:avLst/>
          </a:prstGeom>
          <a:noFill/>
          <a:ln/>
        </p:spPr>
        <p:txBody>
          <a:bodyPr wrap="square" rtlCol="0" anchor="t"/>
          <a:lstStyle/>
          <a:p>
            <a:r>
              <a:rPr lang="en-US" sz="1667" kern="0" spc="-20" dirty="0">
                <a:solidFill>
                  <a:srgbClr val="272525"/>
                </a:solidFill>
                <a:latin typeface="Arial" panose="020B0604020202020204" pitchFamily="34" charset="0"/>
                <a:ea typeface="Raleway" pitchFamily="34" charset="-122"/>
                <a:cs typeface="Arial" panose="020B0604020202020204" pitchFamily="34" charset="0"/>
              </a:rPr>
              <a:t>We use the variable </a:t>
            </a:r>
            <a:r>
              <a:rPr lang="en-US" sz="1667" kern="0" spc="-20" dirty="0">
                <a:solidFill>
                  <a:srgbClr val="272525"/>
                </a:solidFill>
                <a:highlight>
                  <a:srgbClr val="E8FAFC"/>
                </a:highlight>
                <a:latin typeface="Arial" panose="020B0604020202020204" pitchFamily="34" charset="0"/>
                <a:ea typeface="Consolas" pitchFamily="34" charset="-122"/>
                <a:cs typeface="Arial" panose="020B0604020202020204" pitchFamily="34" charset="0"/>
              </a:rPr>
              <a:t>fb</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 as the text in our TextBox component, make sure to </a:t>
            </a:r>
            <a:r>
              <a:rPr lang="en-US" sz="1667" b="1" kern="0" spc="-20" dirty="0">
                <a:solidFill>
                  <a:srgbClr val="272525"/>
                </a:solidFill>
                <a:latin typeface="Arial" panose="020B0604020202020204" pitchFamily="34" charset="0"/>
                <a:ea typeface="Raleway" pitchFamily="34" charset="-122"/>
                <a:cs typeface="Arial" panose="020B0604020202020204" pitchFamily="34" charset="0"/>
              </a:rPr>
              <a:t>set every repeat</a:t>
            </a:r>
            <a:r>
              <a:rPr lang="en-US" sz="1667" kern="0" spc="-20" dirty="0">
                <a:solidFill>
                  <a:srgbClr val="272525"/>
                </a:solidFill>
                <a:latin typeface="Arial" panose="020B0604020202020204" pitchFamily="34" charset="0"/>
                <a:ea typeface="Raleway" pitchFamily="34" charset="-122"/>
                <a:cs typeface="Arial" panose="020B0604020202020204" pitchFamily="34" charset="0"/>
              </a:rPr>
              <a:t>.</a:t>
            </a:r>
            <a:endParaRPr lang="en-US" sz="1667" dirty="0">
              <a:latin typeface="Arial" panose="020B0604020202020204" pitchFamily="34" charset="0"/>
              <a:cs typeface="Arial" panose="020B0604020202020204" pitchFamily="34" charset="0"/>
            </a:endParaRPr>
          </a:p>
        </p:txBody>
      </p:sp>
      <p:cxnSp>
        <p:nvCxnSpPr>
          <p:cNvPr id="3" name="Straight Arrow Connector 2">
            <a:extLst>
              <a:ext uri="{FF2B5EF4-FFF2-40B4-BE49-F238E27FC236}">
                <a16:creationId xmlns:a16="http://schemas.microsoft.com/office/drawing/2014/main" id="{FD4B9A6D-3B4E-1125-2A92-44C15CC1F833}"/>
              </a:ext>
            </a:extLst>
          </p:cNvPr>
          <p:cNvCxnSpPr>
            <a:stCxn id="11" idx="1"/>
          </p:cNvCxnSpPr>
          <p:nvPr/>
        </p:nvCxnSpPr>
        <p:spPr>
          <a:xfrm flipH="1">
            <a:off x="5098819" y="989422"/>
            <a:ext cx="3589658" cy="107759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101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1F701-31FD-F322-25FF-5F15E64F7C05}"/>
              </a:ext>
            </a:extLst>
          </p:cNvPr>
          <p:cNvSpPr>
            <a:spLocks noGrp="1"/>
          </p:cNvSpPr>
          <p:nvPr>
            <p:ph type="title"/>
          </p:nvPr>
        </p:nvSpPr>
        <p:spPr/>
        <p:txBody>
          <a:bodyPr/>
          <a:lstStyle/>
          <a:p>
            <a:r>
              <a:rPr lang="en-US" dirty="0">
                <a:ea typeface="Calibri Light"/>
                <a:cs typeface="Calibri Light"/>
              </a:rPr>
              <a:t>Go/no-go </a:t>
            </a:r>
            <a:r>
              <a:rPr lang="en-US">
                <a:ea typeface="Calibri Light"/>
                <a:cs typeface="Calibri Light"/>
              </a:rPr>
              <a:t>task</a:t>
            </a:r>
            <a:endParaRPr lang="en-US"/>
          </a:p>
        </p:txBody>
      </p:sp>
      <p:sp>
        <p:nvSpPr>
          <p:cNvPr id="3" name="Content Placeholder 2">
            <a:extLst>
              <a:ext uri="{FF2B5EF4-FFF2-40B4-BE49-F238E27FC236}">
                <a16:creationId xmlns:a16="http://schemas.microsoft.com/office/drawing/2014/main" id="{7A9BAF43-0E69-95F2-051F-1AE811F4DFCC}"/>
              </a:ext>
            </a:extLst>
          </p:cNvPr>
          <p:cNvSpPr>
            <a:spLocks noGrp="1"/>
          </p:cNvSpPr>
          <p:nvPr>
            <p:ph type="body" idx="1"/>
          </p:nvPr>
        </p:nvSpPr>
        <p:spPr/>
        <p:txBody>
          <a:bodyPr vert="horz" lIns="91440" tIns="45720" rIns="91440" bIns="45720" rtlCol="0" anchor="t">
            <a:normAutofit fontScale="92500" lnSpcReduction="20000"/>
          </a:bodyPr>
          <a:lstStyle/>
          <a:p>
            <a:r>
              <a:rPr lang="en-US" dirty="0">
                <a:ea typeface="Calibri"/>
                <a:cs typeface="Calibri"/>
              </a:rPr>
              <a:t>Mouse click</a:t>
            </a:r>
          </a:p>
          <a:p>
            <a:r>
              <a:rPr lang="en-US" dirty="0">
                <a:ea typeface="Calibri"/>
                <a:cs typeface="Calibri"/>
              </a:rPr>
              <a:t>Trial feedback</a:t>
            </a:r>
          </a:p>
          <a:p>
            <a:r>
              <a:rPr lang="en-US" dirty="0">
                <a:ea typeface="Calibri"/>
                <a:cs typeface="Calibri"/>
              </a:rPr>
              <a:t>Block feedback</a:t>
            </a:r>
          </a:p>
          <a:p>
            <a:r>
              <a:rPr lang="en-US" dirty="0">
                <a:ea typeface="Calibri"/>
                <a:cs typeface="Calibri"/>
              </a:rPr>
              <a:t>Skipping routine</a:t>
            </a:r>
          </a:p>
        </p:txBody>
      </p:sp>
    </p:spTree>
    <p:extLst>
      <p:ext uri="{BB962C8B-B14F-4D97-AF65-F5344CB8AC3E}">
        <p14:creationId xmlns:p14="http://schemas.microsoft.com/office/powerpoint/2010/main" val="38996553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E502C-54D9-4AF6-CFAC-980BA2AD6717}"/>
              </a:ext>
            </a:extLst>
          </p:cNvPr>
          <p:cNvSpPr>
            <a:spLocks noGrp="1"/>
          </p:cNvSpPr>
          <p:nvPr>
            <p:ph type="title"/>
          </p:nvPr>
        </p:nvSpPr>
        <p:spPr/>
        <p:txBody>
          <a:bodyPr/>
          <a:lstStyle/>
          <a:p>
            <a:r>
              <a:rPr lang="en-US">
                <a:ea typeface="Calibri Light"/>
                <a:cs typeface="Calibri Light"/>
              </a:rPr>
              <a:t>Questionnaire</a:t>
            </a:r>
            <a:endParaRPr lang="en-US"/>
          </a:p>
        </p:txBody>
      </p:sp>
    </p:spTree>
    <p:extLst>
      <p:ext uri="{BB962C8B-B14F-4D97-AF65-F5344CB8AC3E}">
        <p14:creationId xmlns:p14="http://schemas.microsoft.com/office/powerpoint/2010/main" val="23242963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D05CE-1982-4FF0-8937-4B25A5E849D9}"/>
              </a:ext>
            </a:extLst>
          </p:cNvPr>
          <p:cNvSpPr>
            <a:spLocks noGrp="1"/>
          </p:cNvSpPr>
          <p:nvPr>
            <p:ph type="title"/>
          </p:nvPr>
        </p:nvSpPr>
        <p:spPr/>
        <p:txBody>
          <a:bodyPr/>
          <a:lstStyle/>
          <a:p>
            <a:r>
              <a:rPr lang="en-US" dirty="0"/>
              <a:t>Challenge #4</a:t>
            </a:r>
            <a:endParaRPr lang="en-HK" dirty="0"/>
          </a:p>
        </p:txBody>
      </p:sp>
      <p:sp>
        <p:nvSpPr>
          <p:cNvPr id="5" name="Content Placeholder 4">
            <a:extLst>
              <a:ext uri="{FF2B5EF4-FFF2-40B4-BE49-F238E27FC236}">
                <a16:creationId xmlns:a16="http://schemas.microsoft.com/office/drawing/2014/main" id="{A85A165A-FD08-4F26-8AC0-A4161EF8F447}"/>
              </a:ext>
            </a:extLst>
          </p:cNvPr>
          <p:cNvSpPr>
            <a:spLocks noGrp="1"/>
          </p:cNvSpPr>
          <p:nvPr>
            <p:ph idx="1"/>
          </p:nvPr>
        </p:nvSpPr>
        <p:spPr/>
        <p:txBody>
          <a:bodyPr/>
          <a:lstStyle/>
          <a:p>
            <a:r>
              <a:rPr lang="en-US" dirty="0"/>
              <a:t>Create your own task!</a:t>
            </a:r>
          </a:p>
          <a:p>
            <a:r>
              <a:rPr lang="en-US" dirty="0"/>
              <a:t>Come up with a proper research question </a:t>
            </a:r>
            <a:r>
              <a:rPr lang="en-US"/>
              <a:t>/ hypothesis </a:t>
            </a:r>
            <a:r>
              <a:rPr lang="en-US" dirty="0"/>
              <a:t>that you can answer using a task, e.g.,</a:t>
            </a:r>
          </a:p>
          <a:p>
            <a:pPr lvl="1"/>
            <a:r>
              <a:rPr lang="en-US" dirty="0"/>
              <a:t>RT for stimulus A &gt; stimulus B &gt; Stimulus C, etc.</a:t>
            </a:r>
          </a:p>
          <a:p>
            <a:pPr lvl="1"/>
            <a:r>
              <a:rPr lang="en-US" dirty="0"/>
              <a:t>Accuracy in condition X &lt; condition Y, etc.</a:t>
            </a:r>
          </a:p>
          <a:p>
            <a:pPr lvl="1"/>
            <a:r>
              <a:rPr lang="en-US" dirty="0"/>
              <a:t>Variable V is related to variable W, etc.</a:t>
            </a:r>
          </a:p>
          <a:p>
            <a:pPr lvl="1"/>
            <a:endParaRPr lang="en-HK" dirty="0"/>
          </a:p>
        </p:txBody>
      </p:sp>
    </p:spTree>
    <p:extLst>
      <p:ext uri="{BB962C8B-B14F-4D97-AF65-F5344CB8AC3E}">
        <p14:creationId xmlns:p14="http://schemas.microsoft.com/office/powerpoint/2010/main" val="25299377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Resources</a:t>
            </a:r>
          </a:p>
        </p:txBody>
      </p:sp>
    </p:spTree>
    <p:extLst>
      <p:ext uri="{BB962C8B-B14F-4D97-AF65-F5344CB8AC3E}">
        <p14:creationId xmlns:p14="http://schemas.microsoft.com/office/powerpoint/2010/main" val="159316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27292" t="7902" r="417" b="18642"/>
          <a:stretch/>
        </p:blipFill>
        <p:spPr>
          <a:xfrm>
            <a:off x="368300" y="114300"/>
            <a:ext cx="11420907" cy="6527800"/>
          </a:xfrm>
          <a:prstGeom prst="rect">
            <a:avLst/>
          </a:prstGeom>
        </p:spPr>
      </p:pic>
    </p:spTree>
    <p:extLst>
      <p:ext uri="{BB962C8B-B14F-4D97-AF65-F5344CB8AC3E}">
        <p14:creationId xmlns:p14="http://schemas.microsoft.com/office/powerpoint/2010/main" val="42015779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uilding Experiments in PsychoPy: Peirce, Jonathan, Hirst, Rebecca,  MacAskill, Michael: 9781529741650: Amazon.com: Boo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9175" y="1033632"/>
            <a:ext cx="3590925" cy="485916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585823" y="1136134"/>
            <a:ext cx="3229154" cy="646331"/>
          </a:xfrm>
          <a:prstGeom prst="rect">
            <a:avLst/>
          </a:prstGeom>
        </p:spPr>
        <p:txBody>
          <a:bodyPr wrap="none">
            <a:spAutoFit/>
          </a:bodyPr>
          <a:lstStyle/>
          <a:p>
            <a:r>
              <a:rPr lang="en-US" dirty="0">
                <a:hlinkClick r:id="rId3"/>
              </a:rPr>
              <a:t>https://psychopy.org/index.html</a:t>
            </a:r>
            <a:endParaRPr lang="en-US" dirty="0"/>
          </a:p>
          <a:p>
            <a:endParaRPr lang="en-US" dirty="0"/>
          </a:p>
        </p:txBody>
      </p:sp>
      <p:sp>
        <p:nvSpPr>
          <p:cNvPr id="6" name="Rectangle 5"/>
          <p:cNvSpPr/>
          <p:nvPr/>
        </p:nvSpPr>
        <p:spPr>
          <a:xfrm>
            <a:off x="1585823" y="1782465"/>
            <a:ext cx="4183966" cy="646331"/>
          </a:xfrm>
          <a:prstGeom prst="rect">
            <a:avLst/>
          </a:prstGeom>
        </p:spPr>
        <p:txBody>
          <a:bodyPr wrap="none">
            <a:spAutoFit/>
          </a:bodyPr>
          <a:lstStyle/>
          <a:p>
            <a:r>
              <a:rPr lang="en-US" dirty="0">
                <a:hlinkClick r:id="rId4"/>
              </a:rPr>
              <a:t>https://psychopy.org/PsychoPyManual.pdf</a:t>
            </a:r>
            <a:endParaRPr lang="en-US" dirty="0"/>
          </a:p>
          <a:p>
            <a:endParaRPr lang="en-US" dirty="0"/>
          </a:p>
        </p:txBody>
      </p:sp>
    </p:spTree>
    <p:extLst>
      <p:ext uri="{BB962C8B-B14F-4D97-AF65-F5344CB8AC3E}">
        <p14:creationId xmlns:p14="http://schemas.microsoft.com/office/powerpoint/2010/main" val="4047487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E08DC688942441AB62F686E302654D" ma:contentTypeVersion="30" ma:contentTypeDescription="Create a new document." ma:contentTypeScope="" ma:versionID="ee31b0a4dc6799e11d59978ddf72ddbc">
  <xsd:schema xmlns:xsd="http://www.w3.org/2001/XMLSchema" xmlns:xs="http://www.w3.org/2001/XMLSchema" xmlns:p="http://schemas.microsoft.com/office/2006/metadata/properties" xmlns:ns3="88ae3597-aab4-488f-a595-7fd2d188b6a4" targetNamespace="http://schemas.microsoft.com/office/2006/metadata/properties" ma:root="true" ma:fieldsID="c06bff0275ad8bf5d2db54d1c3d32d93" ns3:_="">
    <xsd:import namespace="88ae3597-aab4-488f-a595-7fd2d188b6a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3: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e3597-aab4-488f-a595-7fd2d188b6a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NotebookType" ma:index="17" nillable="true" ma:displayName="Notebook Type" ma:internalName="NotebookType">
      <xsd:simpleType>
        <xsd:restriction base="dms:Text"/>
      </xsd:simpleType>
    </xsd:element>
    <xsd:element name="FolderType" ma:index="18" nillable="true" ma:displayName="Folder Type" ma:internalName="FolderType">
      <xsd:simpleType>
        <xsd:restriction base="dms:Text"/>
      </xsd:simpleType>
    </xsd:element>
    <xsd:element name="CultureName" ma:index="19" nillable="true" ma:displayName="Culture Name" ma:internalName="CultureName">
      <xsd:simpleType>
        <xsd:restriction base="dms:Text"/>
      </xsd:simpleType>
    </xsd:element>
    <xsd:element name="AppVersion" ma:index="20" nillable="true" ma:displayName="App Version" ma:internalName="AppVersion">
      <xsd:simpleType>
        <xsd:restriction base="dms:Text"/>
      </xsd:simpleType>
    </xsd:element>
    <xsd:element name="TeamsChannelId" ma:index="21" nillable="true" ma:displayName="Teams Channel Id" ma:internalName="TeamsChannelId">
      <xsd:simpleType>
        <xsd:restriction base="dms:Text"/>
      </xsd:simpleType>
    </xsd:element>
    <xsd:element name="Owner" ma:index="22"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3" nillable="true" ma:displayName="Math Settings" ma:internalName="Math_Settings">
      <xsd:simpleType>
        <xsd:restriction base="dms:Text"/>
      </xsd:simpleType>
    </xsd:element>
    <xsd:element name="DefaultSectionNames" ma:index="24" nillable="true" ma:displayName="Default Section Names" ma:internalName="DefaultSectionNames">
      <xsd:simpleType>
        <xsd:restriction base="dms:Note">
          <xsd:maxLength value="255"/>
        </xsd:restriction>
      </xsd:simpleType>
    </xsd:element>
    <xsd:element name="Templates" ma:index="25" nillable="true" ma:displayName="Templates" ma:internalName="Templates">
      <xsd:simpleType>
        <xsd:restriction base="dms:Note">
          <xsd:maxLength value="255"/>
        </xsd:restriction>
      </xsd:simpleType>
    </xsd:element>
    <xsd:element name="Teachers" ma:index="26"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7"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8"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9" nillable="true" ma:displayName="Distribution Groups" ma:internalName="Distribution_Groups">
      <xsd:simpleType>
        <xsd:restriction base="dms:Note">
          <xsd:maxLength value="255"/>
        </xsd:restriction>
      </xsd:simpleType>
    </xsd:element>
    <xsd:element name="LMS_Mappings" ma:index="30" nillable="true" ma:displayName="LMS Mappings" ma:internalName="LMS_Mappings">
      <xsd:simpleType>
        <xsd:restriction base="dms:Note">
          <xsd:maxLength value="255"/>
        </xsd:restriction>
      </xsd:simpleType>
    </xsd:element>
    <xsd:element name="Invited_Teachers" ma:index="31" nillable="true" ma:displayName="Invited Teachers" ma:internalName="Invited_Teachers">
      <xsd:simpleType>
        <xsd:restriction base="dms:Note">
          <xsd:maxLength value="255"/>
        </xsd:restriction>
      </xsd:simpleType>
    </xsd:element>
    <xsd:element name="Invited_Students" ma:index="32" nillable="true" ma:displayName="Invited Students" ma:internalName="Invited_Students">
      <xsd:simpleType>
        <xsd:restriction base="dms:Note">
          <xsd:maxLength value="255"/>
        </xsd:restriction>
      </xsd:simpleType>
    </xsd:element>
    <xsd:element name="Self_Registration_Enabled" ma:index="33" nillable="true" ma:displayName="Self Registration Enabled" ma:internalName="Self_Registration_Enabled">
      <xsd:simpleType>
        <xsd:restriction base="dms:Boolean"/>
      </xsd:simpleType>
    </xsd:element>
    <xsd:element name="Has_Teacher_Only_SectionGroup" ma:index="34" nillable="true" ma:displayName="Has Teacher Only SectionGroup" ma:internalName="Has_Teacher_Only_SectionGroup">
      <xsd:simpleType>
        <xsd:restriction base="dms:Boolean"/>
      </xsd:simpleType>
    </xsd:element>
    <xsd:element name="Is_Collaboration_Space_Locked" ma:index="35" nillable="true" ma:displayName="Is Collaboration Space Locked" ma:internalName="Is_Collaboration_Space_Locked">
      <xsd:simpleType>
        <xsd:restriction base="dms:Boolean"/>
      </xsd:simpleType>
    </xsd:element>
    <xsd:element name="IsNotebookLocked" ma:index="36" nillable="true" ma:displayName="Is Notebook Locked" ma:internalName="IsNotebookLocked">
      <xsd:simpleType>
        <xsd:restriction base="dms:Boolean"/>
      </xsd:simpleType>
    </xsd:element>
    <xsd:element name="Teams_Channel_Section_Location" ma:index="37"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s_Collaboration_Space_Locked xmlns="88ae3597-aab4-488f-a595-7fd2d188b6a4" xsi:nil="true"/>
    <Invited_Students xmlns="88ae3597-aab4-488f-a595-7fd2d188b6a4" xsi:nil="true"/>
    <Owner xmlns="88ae3597-aab4-488f-a595-7fd2d188b6a4">
      <UserInfo>
        <DisplayName/>
        <AccountId xsi:nil="true"/>
        <AccountType/>
      </UserInfo>
    </Owner>
    <LMS_Mappings xmlns="88ae3597-aab4-488f-a595-7fd2d188b6a4" xsi:nil="true"/>
    <Teachers xmlns="88ae3597-aab4-488f-a595-7fd2d188b6a4">
      <UserInfo>
        <DisplayName/>
        <AccountId xsi:nil="true"/>
        <AccountType/>
      </UserInfo>
    </Teachers>
    <Student_Groups xmlns="88ae3597-aab4-488f-a595-7fd2d188b6a4">
      <UserInfo>
        <DisplayName/>
        <AccountId xsi:nil="true"/>
        <AccountType/>
      </UserInfo>
    </Student_Groups>
    <Distribution_Groups xmlns="88ae3597-aab4-488f-a595-7fd2d188b6a4" xsi:nil="true"/>
    <Templates xmlns="88ae3597-aab4-488f-a595-7fd2d188b6a4" xsi:nil="true"/>
    <Teams_Channel_Section_Location xmlns="88ae3597-aab4-488f-a595-7fd2d188b6a4" xsi:nil="true"/>
    <CultureName xmlns="88ae3597-aab4-488f-a595-7fd2d188b6a4" xsi:nil="true"/>
    <_activity xmlns="88ae3597-aab4-488f-a595-7fd2d188b6a4" xsi:nil="true"/>
    <AppVersion xmlns="88ae3597-aab4-488f-a595-7fd2d188b6a4" xsi:nil="true"/>
    <FolderType xmlns="88ae3597-aab4-488f-a595-7fd2d188b6a4" xsi:nil="true"/>
    <Students xmlns="88ae3597-aab4-488f-a595-7fd2d188b6a4">
      <UserInfo>
        <DisplayName/>
        <AccountId xsi:nil="true"/>
        <AccountType/>
      </UserInfo>
    </Students>
    <Self_Registration_Enabled xmlns="88ae3597-aab4-488f-a595-7fd2d188b6a4" xsi:nil="true"/>
    <Has_Teacher_Only_SectionGroup xmlns="88ae3597-aab4-488f-a595-7fd2d188b6a4" xsi:nil="true"/>
    <DefaultSectionNames xmlns="88ae3597-aab4-488f-a595-7fd2d188b6a4" xsi:nil="true"/>
    <TeamsChannelId xmlns="88ae3597-aab4-488f-a595-7fd2d188b6a4" xsi:nil="true"/>
    <Invited_Teachers xmlns="88ae3597-aab4-488f-a595-7fd2d188b6a4" xsi:nil="true"/>
    <IsNotebookLocked xmlns="88ae3597-aab4-488f-a595-7fd2d188b6a4" xsi:nil="true"/>
    <NotebookType xmlns="88ae3597-aab4-488f-a595-7fd2d188b6a4" xsi:nil="true"/>
    <Math_Settings xmlns="88ae3597-aab4-488f-a595-7fd2d188b6a4" xsi:nil="true"/>
  </documentManagement>
</p:properties>
</file>

<file path=customXml/itemProps1.xml><?xml version="1.0" encoding="utf-8"?>
<ds:datastoreItem xmlns:ds="http://schemas.openxmlformats.org/officeDocument/2006/customXml" ds:itemID="{D4D2398E-953E-4099-ACCA-F8E46EE7910C}">
  <ds:schemaRefs>
    <ds:schemaRef ds:uri="http://schemas.microsoft.com/office/2006/metadata/contentType"/>
    <ds:schemaRef ds:uri="http://schemas.microsoft.com/office/2006/metadata/properties/metaAttributes"/>
    <ds:schemaRef ds:uri="http://www.w3.org/2000/xmlns/"/>
    <ds:schemaRef ds:uri="http://www.w3.org/2001/XMLSchema"/>
    <ds:schemaRef ds:uri="88ae3597-aab4-488f-a595-7fd2d188b6a4"/>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4D1ABF-07B9-4740-BC86-A2957725BC49}">
  <ds:schemaRefs>
    <ds:schemaRef ds:uri="http://schemas.microsoft.com/sharepoint/v3/contenttype/forms"/>
  </ds:schemaRefs>
</ds:datastoreItem>
</file>

<file path=customXml/itemProps3.xml><?xml version="1.0" encoding="utf-8"?>
<ds:datastoreItem xmlns:ds="http://schemas.openxmlformats.org/officeDocument/2006/customXml" ds:itemID="{ADB2FF20-3220-447A-AE26-52F7A527BCB5}">
  <ds:schemaRefs>
    <ds:schemaRef ds:uri="http://schemas.microsoft.com/office/2006/metadata/properties"/>
    <ds:schemaRef ds:uri="http://schemas.microsoft.com/office/2006/documentManagement/types"/>
    <ds:schemaRef ds:uri="http://purl.org/dc/terms/"/>
    <ds:schemaRef ds:uri="http://purl.org/dc/elements/1.1/"/>
    <ds:schemaRef ds:uri="http://schemas.openxmlformats.org/package/2006/metadata/core-properties"/>
    <ds:schemaRef ds:uri="http://schemas.microsoft.com/office/infopath/2007/PartnerControls"/>
    <ds:schemaRef ds:uri="88ae3597-aab4-488f-a595-7fd2d188b6a4"/>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378</TotalTime>
  <Words>2300</Words>
  <Application>Microsoft Office PowerPoint</Application>
  <PresentationFormat>Widescreen</PresentationFormat>
  <Paragraphs>229</Paragraphs>
  <Slides>70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Calibri Light</vt:lpstr>
      <vt:lpstr>Office Theme</vt:lpstr>
      <vt:lpstr>Building Behavioral Tasks with</vt:lpstr>
      <vt:lpstr>Why computer tasks?</vt:lpstr>
      <vt:lpstr>Why PsychoPy?</vt:lpstr>
      <vt:lpstr>PowerPoint Presentation</vt:lpstr>
      <vt:lpstr>PowerPoint Presentation</vt:lpstr>
      <vt:lpstr>Let’s build a task!</vt:lpstr>
      <vt:lpstr>PowerPoint Presentation</vt:lpstr>
      <vt:lpstr>SRT – part one</vt:lpstr>
      <vt:lpstr>PowerPoint Presentation</vt:lpstr>
      <vt:lpstr>PowerPoint Presentation</vt:lpstr>
      <vt:lpstr>PowerPoint Presentation</vt:lpstr>
      <vt:lpstr>PowerPoint Presentation</vt:lpstr>
      <vt:lpstr>SRT – part two</vt:lpstr>
      <vt:lpstr>PowerPoint Presentation</vt:lpstr>
      <vt:lpstr>PowerPoint Presentation</vt:lpstr>
      <vt:lpstr>PowerPoint Presentation</vt:lpstr>
      <vt:lpstr>PowerPoint Presentation</vt:lpstr>
      <vt:lpstr>PowerPoint Presentation</vt:lpstr>
      <vt:lpstr>SRT – part three</vt:lpstr>
      <vt:lpstr>PowerPoint Presentation</vt:lpstr>
      <vt:lpstr>PowerPoint Presentation</vt:lpstr>
      <vt:lpstr>PowerPoint Presentation</vt:lpstr>
      <vt:lpstr>PowerPoint Presentation</vt:lpstr>
      <vt:lpstr>PowerPoint Presentation</vt:lpstr>
      <vt:lpstr>Challenge #1</vt:lpstr>
      <vt:lpstr>CRT</vt:lpstr>
      <vt:lpstr>PowerPoint Presentation</vt:lpstr>
      <vt:lpstr>PowerPoint Presentation</vt:lpstr>
      <vt:lpstr>PowerPoint Presentation</vt:lpstr>
      <vt:lpstr>Simon task</vt:lpstr>
      <vt:lpstr>PowerPoint Presentation</vt:lpstr>
      <vt:lpstr>PowerPoint Presentation</vt:lpstr>
      <vt:lpstr>PowerPoint Presentation</vt:lpstr>
      <vt:lpstr>Challenge #2</vt:lpstr>
      <vt:lpstr>Data</vt:lpstr>
      <vt:lpstr>PowerPoint Presentation</vt:lpstr>
      <vt:lpstr>PowerPoint Presentation</vt:lpstr>
      <vt:lpstr>PowerPoint Presentation</vt:lpstr>
      <vt:lpstr>Feedback</vt:lpstr>
      <vt:lpstr>PowerPoint Presentation</vt:lpstr>
      <vt:lpstr>PowerPoint Presentation</vt:lpstr>
      <vt:lpstr>PowerPoint Presentation</vt:lpstr>
      <vt:lpstr>PowerPoint Presentation</vt:lpstr>
      <vt:lpstr>Challenge #3</vt:lpstr>
      <vt:lpstr>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Go/no-go task</vt:lpstr>
      <vt:lpstr>Questionnaire</vt:lpstr>
      <vt:lpstr>Challenge #4</vt:lpstr>
      <vt:lpstr>Resources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PsychoPy Experiment Building Workshop</dc:title>
  <dc:creator>yhko</dc:creator>
  <cp:lastModifiedBy>yhko</cp:lastModifiedBy>
  <cp:revision>24</cp:revision>
  <dcterms:created xsi:type="dcterms:W3CDTF">2026-05-13T04:20:28Z</dcterms:created>
  <dcterms:modified xsi:type="dcterms:W3CDTF">2026-06-25T08:29:30Z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0x010100B0E08DC688942441AB62F686E302654D</vt:lpwstr>
  </property>
</Properties>
</file>